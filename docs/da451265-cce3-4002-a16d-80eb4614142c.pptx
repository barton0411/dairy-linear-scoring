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2"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7560564" cy="10692385"/>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8" Type="http://schemas.openxmlformats.org/officeDocument/2006/relationships/slide" Target="slides/slide7.xml"/><Relationship Id="rId7" Type="http://schemas.openxmlformats.org/officeDocument/2006/relationships/slide" Target="slides/slide6.xml"/><Relationship Id="rId6" Type="http://schemas.openxmlformats.org/officeDocument/2006/relationships/slide" Target="slides/slide5.xml"/><Relationship Id="rId5" Type="http://schemas.openxmlformats.org/officeDocument/2006/relationships/slide" Target="slides/slide4.xml"/><Relationship Id="rId4" Type="http://schemas.openxmlformats.org/officeDocument/2006/relationships/slide" Target="slides/slide3.xml"/><Relationship Id="rId3" Type="http://schemas.openxmlformats.org/officeDocument/2006/relationships/slide" Target="slides/slide2.xml"/><Relationship Id="rId21" Type="http://schemas.openxmlformats.org/officeDocument/2006/relationships/viewProps" Target="viewProps.xml"/><Relationship Id="rId20" Type="http://schemas.openxmlformats.org/officeDocument/2006/relationships/tableStyles" Target="tableStyles.xml"/><Relationship Id="rId2" Type="http://schemas.openxmlformats.org/officeDocument/2006/relationships/slide" Target="slides/slide1.xml"/><Relationship Id="rId19" Type="http://schemas.openxmlformats.org/officeDocument/2006/relationships/presProps" Target="presProps.xml"/><Relationship Id="rId18" Type="http://schemas.openxmlformats.org/officeDocument/2006/relationships/slide" Target="slides/slide17.xml"/><Relationship Id="rId17" Type="http://schemas.openxmlformats.org/officeDocument/2006/relationships/slide" Target="slides/slide16.xml"/><Relationship Id="rId16" Type="http://schemas.openxmlformats.org/officeDocument/2006/relationships/slide" Target="slides/slide15.xml"/><Relationship Id="rId15" Type="http://schemas.openxmlformats.org/officeDocument/2006/relationships/slide" Target="slides/slide14.xml"/><Relationship Id="rId14" Type="http://schemas.openxmlformats.org/officeDocument/2006/relationships/slide" Target="slides/slide13.xml"/><Relationship Id="rId13" Type="http://schemas.openxmlformats.org/officeDocument/2006/relationships/slide" Target="slides/slide12.xml"/><Relationship Id="rId12" Type="http://schemas.openxmlformats.org/officeDocument/2006/relationships/slide" Target="slides/slide11.xml"/><Relationship Id="rId11" Type="http://schemas.openxmlformats.org/officeDocument/2006/relationships/slide" Target="slides/slide10.xml"/><Relationship Id="rId10" Type="http://schemas.openxmlformats.org/officeDocument/2006/relationships/slide" Target="slides/slide9.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9" Type="http://schemas.openxmlformats.org/officeDocument/2006/relationships/slide" Target="slide13.xml"/><Relationship Id="rId8" Type="http://schemas.openxmlformats.org/officeDocument/2006/relationships/slide" Target="slide12.xml"/><Relationship Id="rId7" Type="http://schemas.openxmlformats.org/officeDocument/2006/relationships/slide" Target="slide11.xml"/><Relationship Id="rId6" Type="http://schemas.openxmlformats.org/officeDocument/2006/relationships/slide" Target="slide10.xml"/><Relationship Id="rId5" Type="http://schemas.openxmlformats.org/officeDocument/2006/relationships/slide" Target="slide9.xml"/><Relationship Id="rId4" Type="http://schemas.openxmlformats.org/officeDocument/2006/relationships/slide" Target="slide8.xml"/><Relationship Id="rId3" Type="http://schemas.openxmlformats.org/officeDocument/2006/relationships/slide" Target="slide7.xml"/><Relationship Id="rId2" Type="http://schemas.openxmlformats.org/officeDocument/2006/relationships/slide" Target="slide5.xml"/><Relationship Id="rId12" Type="http://schemas.openxmlformats.org/officeDocument/2006/relationships/slide" Target="slide16.xml"/><Relationship Id="rId11" Type="http://schemas.openxmlformats.org/officeDocument/2006/relationships/slide" Target="slide15.xml"/><Relationship Id="rId10" Type="http://schemas.openxmlformats.org/officeDocument/2006/relationships/slide" Target="slide14.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4" Type="http://schemas.openxmlformats.org/officeDocument/2006/relationships/image" Target="../media/image17.jpeg"/><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999489" y="2457450"/>
            <a:ext cx="5858510" cy="19050"/>
            <a:chOff x="0" y="0"/>
            <a:chExt cx="5858510" cy="19050"/>
          </a:xfrm>
        </p:grpSpPr>
        <p:sp>
          <p:nvSpPr>
            <p:cNvPr id="2" name="path 2"/>
            <p:cNvSpPr/>
            <p:nvPr/>
          </p:nvSpPr>
          <p:spPr>
            <a:xfrm>
              <a:off x="0" y="4762"/>
              <a:ext cx="5857875" cy="9525"/>
            </a:xfrm>
            <a:custGeom>
              <a:avLst/>
              <a:gdLst/>
              <a:ahLst/>
              <a:cxnLst/>
              <a:rect l="0" t="0" r="0" b="0"/>
              <a:pathLst>
                <a:path w="9225" h="15">
                  <a:moveTo>
                    <a:pt x="0" y="7"/>
                  </a:moveTo>
                  <a:lnTo>
                    <a:pt x="9225" y="7"/>
                  </a:lnTo>
                </a:path>
              </a:pathLst>
            </a:custGeom>
            <a:noFill/>
            <a:ln w="9525" cap="flat">
              <a:solidFill>
                <a:srgbClr val="000000"/>
              </a:solidFill>
              <a:prstDash val="solid"/>
              <a:round/>
            </a:ln>
          </p:spPr>
          <p:txBody>
            <a:bodyPr rtlCol="0"/>
            <a:lstStyle/>
            <a:p>
              <a:pPr algn="ctr"/>
              <a:endParaRPr lang="zh-CN" altLang="en-US"/>
            </a:p>
          </p:txBody>
        </p:sp>
        <p:sp>
          <p:nvSpPr>
            <p:cNvPr id="4" name="path 4"/>
            <p:cNvSpPr/>
            <p:nvPr/>
          </p:nvSpPr>
          <p:spPr>
            <a:xfrm>
              <a:off x="635" y="0"/>
              <a:ext cx="5857875" cy="19050"/>
            </a:xfrm>
            <a:custGeom>
              <a:avLst/>
              <a:gdLst/>
              <a:ahLst/>
              <a:cxnLst/>
              <a:rect l="0" t="0" r="0" b="0"/>
              <a:pathLst>
                <a:path w="9225" h="30">
                  <a:moveTo>
                    <a:pt x="0" y="15"/>
                  </a:moveTo>
                  <a:lnTo>
                    <a:pt x="9225" y="15"/>
                  </a:lnTo>
                </a:path>
              </a:pathLst>
            </a:custGeom>
            <a:noFill/>
            <a:ln w="19050" cap="flat">
              <a:solidFill>
                <a:srgbClr val="000000"/>
              </a:solidFill>
              <a:prstDash val="solid"/>
              <a:round/>
            </a:ln>
          </p:spPr>
          <p:txBody>
            <a:bodyPr rtlCol="0"/>
            <a:lstStyle/>
            <a:p>
              <a:pPr algn="ctr"/>
              <a:endParaRPr lang="zh-CN" altLang="en-US"/>
            </a:p>
          </p:txBody>
        </p:sp>
      </p:grpSp>
      <p:sp>
        <p:nvSpPr>
          <p:cNvPr id="6" name="textbox 6"/>
          <p:cNvSpPr/>
          <p:nvPr/>
        </p:nvSpPr>
        <p:spPr>
          <a:xfrm>
            <a:off x="892531" y="379590"/>
            <a:ext cx="5969635" cy="187452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33020" algn="l" rtl="0" eaLnBrk="0">
              <a:lnSpc>
                <a:spcPct val="88000"/>
              </a:lnSpc>
              <a:tabLst/>
            </a:pPr>
            <a:r>
              <a:rPr sz="1000" kern="0" spc="-30" dirty="0">
                <a:solidFill>
                  <a:srgbClr val="000000">
                    <a:alpha val="100000"/>
                  </a:srgbClr>
                </a:solidFill>
                <a:latin typeface="PingFang SC"/>
                <a:ea typeface="PingFang SC"/>
                <a:cs typeface="PingFang SC"/>
              </a:rPr>
              <a:t>ICS</a:t>
            </a:r>
            <a:r>
              <a:rPr sz="1000" kern="0" spc="300" dirty="0">
                <a:solidFill>
                  <a:srgbClr val="000000">
                    <a:alpha val="100000"/>
                  </a:srgbClr>
                </a:solidFill>
                <a:latin typeface="PingFang SC"/>
                <a:ea typeface="PingFang SC"/>
                <a:cs typeface="PingFang SC"/>
              </a:rPr>
              <a:t> </a:t>
            </a:r>
            <a:r>
              <a:rPr sz="1000" kern="0" spc="-30" dirty="0">
                <a:solidFill>
                  <a:srgbClr val="000000">
                    <a:alpha val="100000"/>
                  </a:srgbClr>
                </a:solidFill>
                <a:latin typeface="PingFang SC"/>
                <a:ea typeface="PingFang SC"/>
                <a:cs typeface="PingFang SC"/>
              </a:rPr>
              <a:t>65.020.30</a:t>
            </a:r>
            <a:endParaRPr sz="1000" dirty="0">
              <a:latin typeface="PingFang SC"/>
              <a:ea typeface="PingFang SC"/>
              <a:cs typeface="PingFang SC"/>
            </a:endParaRPr>
          </a:p>
          <a:p>
            <a:pPr marL="12700" algn="l" rtl="0" eaLnBrk="0">
              <a:lnSpc>
                <a:spcPts val="1560"/>
              </a:lnSpc>
              <a:tabLst/>
            </a:pPr>
            <a:r>
              <a:rPr sz="900" kern="0" spc="-40" dirty="0">
                <a:solidFill>
                  <a:srgbClr val="000000">
                    <a:alpha val="100000"/>
                  </a:srgbClr>
                </a:solidFill>
                <a:latin typeface="PingFang SC"/>
                <a:ea typeface="PingFang SC"/>
                <a:cs typeface="PingFang SC"/>
              </a:rPr>
              <a:t>B</a:t>
            </a:r>
            <a:r>
              <a:rPr sz="900" kern="0" spc="250" dirty="0">
                <a:solidFill>
                  <a:srgbClr val="000000">
                    <a:alpha val="100000"/>
                  </a:srgbClr>
                </a:solidFill>
                <a:latin typeface="PingFang SC"/>
                <a:ea typeface="PingFang SC"/>
                <a:cs typeface="PingFang SC"/>
              </a:rPr>
              <a:t> </a:t>
            </a:r>
            <a:r>
              <a:rPr sz="900" kern="0" spc="-40" dirty="0">
                <a:solidFill>
                  <a:srgbClr val="000000">
                    <a:alpha val="100000"/>
                  </a:srgbClr>
                </a:solidFill>
                <a:latin typeface="PingFang SC"/>
                <a:ea typeface="PingFang SC"/>
                <a:cs typeface="PingFang SC"/>
              </a:rPr>
              <a:t>43</a:t>
            </a:r>
            <a:endParaRPr sz="900" dirty="0">
              <a:latin typeface="PingFang SC"/>
              <a:ea typeface="PingFang SC"/>
              <a:cs typeface="PingFang SC"/>
            </a:endParaRPr>
          </a:p>
          <a:p>
            <a:pPr algn="l" rtl="0" eaLnBrk="0">
              <a:lnSpc>
                <a:spcPct val="118000"/>
              </a:lnSpc>
              <a:tabLst/>
            </a:pPr>
            <a:endParaRPr sz="1000" dirty="0">
              <a:latin typeface="Arial"/>
              <a:ea typeface="Arial"/>
              <a:cs typeface="Arial"/>
            </a:endParaRPr>
          </a:p>
          <a:p>
            <a:pPr algn="l" rtl="0" eaLnBrk="0">
              <a:lnSpc>
                <a:spcPct val="119000"/>
              </a:lnSpc>
              <a:tabLst/>
            </a:pPr>
            <a:endParaRPr sz="1000" dirty="0">
              <a:latin typeface="Arial"/>
              <a:ea typeface="Arial"/>
              <a:cs typeface="Arial"/>
            </a:endParaRPr>
          </a:p>
          <a:p>
            <a:pPr algn="l" rtl="0" eaLnBrk="0">
              <a:lnSpc>
                <a:spcPct val="119000"/>
              </a:lnSpc>
              <a:tabLst/>
            </a:pPr>
            <a:endParaRPr sz="1000" dirty="0">
              <a:latin typeface="Arial"/>
              <a:ea typeface="Arial"/>
              <a:cs typeface="Arial"/>
            </a:endParaRPr>
          </a:p>
          <a:p>
            <a:pPr algn="l" rtl="0" eaLnBrk="0">
              <a:lnSpc>
                <a:spcPct val="119000"/>
              </a:lnSpc>
              <a:tabLst/>
            </a:pPr>
            <a:endParaRPr sz="1000" dirty="0">
              <a:latin typeface="Arial"/>
              <a:ea typeface="Arial"/>
              <a:cs typeface="Arial"/>
            </a:endParaRPr>
          </a:p>
          <a:p>
            <a:pPr marL="869950" algn="l" rtl="0" eaLnBrk="0">
              <a:lnSpc>
                <a:spcPct val="86000"/>
              </a:lnSpc>
              <a:spcBef>
                <a:spcPts val="731"/>
              </a:spcBef>
              <a:tabLst/>
            </a:pPr>
            <a:r>
              <a:rPr sz="2400" kern="0" spc="-30" dirty="0">
                <a:solidFill>
                  <a:srgbClr val="000000">
                    <a:alpha val="100000"/>
                  </a:srgbClr>
                </a:solidFill>
                <a:latin typeface="PingFang SC"/>
                <a:ea typeface="PingFang SC"/>
                <a:cs typeface="PingFang SC"/>
              </a:rPr>
              <a:t>团           体           标       </a:t>
            </a:r>
            <a:r>
              <a:rPr sz="2400" kern="0" spc="-40" dirty="0">
                <a:solidFill>
                  <a:srgbClr val="000000">
                    <a:alpha val="100000"/>
                  </a:srgbClr>
                </a:solidFill>
                <a:latin typeface="PingFang SC"/>
                <a:ea typeface="PingFang SC"/>
                <a:cs typeface="PingFang SC"/>
              </a:rPr>
              <a:t>    准</a:t>
            </a:r>
            <a:endParaRPr sz="2400" dirty="0">
              <a:latin typeface="PingFang SC"/>
              <a:ea typeface="PingFang SC"/>
              <a:cs typeface="PingFang SC"/>
            </a:endParaRPr>
          </a:p>
          <a:p>
            <a:pPr algn="l" rtl="0" eaLnBrk="0">
              <a:lnSpc>
                <a:spcPct val="105000"/>
              </a:lnSpc>
              <a:tabLst/>
            </a:pPr>
            <a:endParaRPr sz="1000" dirty="0">
              <a:latin typeface="Arial"/>
              <a:ea typeface="Arial"/>
              <a:cs typeface="Arial"/>
            </a:endParaRPr>
          </a:p>
          <a:p>
            <a:pPr algn="l" rtl="0" eaLnBrk="0">
              <a:lnSpc>
                <a:spcPct val="101000"/>
              </a:lnSpc>
              <a:tabLst/>
            </a:pPr>
            <a:endParaRPr sz="300" dirty="0">
              <a:latin typeface="Arial"/>
              <a:ea typeface="Arial"/>
              <a:cs typeface="Arial"/>
            </a:endParaRPr>
          </a:p>
          <a:p>
            <a:pPr algn="r" rtl="0" eaLnBrk="0">
              <a:lnSpc>
                <a:spcPct val="98000"/>
              </a:lnSpc>
              <a:spcBef>
                <a:spcPts val="1"/>
              </a:spcBef>
              <a:tabLst/>
            </a:pPr>
            <a:r>
              <a:rPr sz="1200" kern="0" spc="-20" dirty="0">
                <a:solidFill>
                  <a:srgbClr val="000000">
                    <a:alpha val="100000"/>
                  </a:srgbClr>
                </a:solidFill>
                <a:latin typeface="PingFang SC"/>
                <a:ea typeface="PingFang SC"/>
                <a:cs typeface="PingFang SC"/>
              </a:rPr>
              <a:t>T/DACS</a:t>
            </a:r>
            <a:r>
              <a:rPr sz="1200" kern="0" spc="350" dirty="0">
                <a:solidFill>
                  <a:srgbClr val="000000">
                    <a:alpha val="100000"/>
                  </a:srgbClr>
                </a:solidFill>
                <a:latin typeface="PingFang SC"/>
                <a:ea typeface="PingFang SC"/>
                <a:cs typeface="PingFang SC"/>
              </a:rPr>
              <a:t> </a:t>
            </a:r>
            <a:r>
              <a:rPr sz="1200" kern="0" spc="-20" dirty="0">
                <a:solidFill>
                  <a:srgbClr val="000000">
                    <a:alpha val="100000"/>
                  </a:srgbClr>
                </a:solidFill>
                <a:latin typeface="PingFang SC"/>
                <a:ea typeface="PingFang SC"/>
                <a:cs typeface="PingFang SC"/>
              </a:rPr>
              <a:t>002—2021</a:t>
            </a:r>
            <a:endParaRPr sz="1200" dirty="0">
              <a:latin typeface="PingFang SC"/>
              <a:ea typeface="PingFang SC"/>
              <a:cs typeface="PingFang SC"/>
            </a:endParaRPr>
          </a:p>
        </p:txBody>
      </p:sp>
      <p:sp>
        <p:nvSpPr>
          <p:cNvPr id="8" name="textbox 8"/>
          <p:cNvSpPr/>
          <p:nvPr/>
        </p:nvSpPr>
        <p:spPr>
          <a:xfrm>
            <a:off x="703822" y="4108217"/>
            <a:ext cx="6153785" cy="904239"/>
          </a:xfrm>
          <a:prstGeom prst="rect">
            <a:avLst/>
          </a:prstGeom>
          <a:noFill/>
          <a:ln w="0" cap="flat">
            <a:noFill/>
            <a:prstDash val="solid"/>
            <a:miter lim="0"/>
          </a:ln>
        </p:spPr>
        <p:txBody>
          <a:bodyPr vert="horz" wrap="square" lIns="0" tIns="0" rIns="0" bIns="0"/>
          <a:lstStyle/>
          <a:p>
            <a:pPr algn="l" rtl="0" eaLnBrk="0">
              <a:lnSpc>
                <a:spcPct val="70617"/>
              </a:lnSpc>
              <a:tabLst/>
            </a:pPr>
            <a:endParaRPr sz="100" dirty="0">
              <a:latin typeface="Arial"/>
              <a:ea typeface="Arial"/>
              <a:cs typeface="Arial"/>
            </a:endParaRPr>
          </a:p>
          <a:p>
            <a:pPr marL="774065" algn="l" rtl="0" eaLnBrk="0">
              <a:lnSpc>
                <a:spcPct val="87000"/>
              </a:lnSpc>
              <a:tabLst/>
            </a:pPr>
            <a:r>
              <a:rPr sz="2600" kern="0" spc="-10" dirty="0">
                <a:solidFill>
                  <a:srgbClr val="000000">
                    <a:alpha val="100000"/>
                  </a:srgbClr>
                </a:solidFill>
                <a:latin typeface="PingFang SC"/>
                <a:ea typeface="PingFang SC"/>
                <a:cs typeface="PingFang SC"/>
              </a:rPr>
              <a:t>荷斯坦牛体型鉴定操作技术规范</a:t>
            </a:r>
            <a:endParaRPr sz="2600" dirty="0">
              <a:latin typeface="PingFang SC"/>
              <a:ea typeface="PingFang SC"/>
              <a:cs typeface="PingFang SC"/>
            </a:endParaRPr>
          </a:p>
          <a:p>
            <a:pPr algn="l" rtl="0" eaLnBrk="0">
              <a:lnSpc>
                <a:spcPct val="198000"/>
              </a:lnSpc>
              <a:tabLst/>
            </a:pPr>
            <a:endParaRPr sz="1000" dirty="0">
              <a:latin typeface="Arial"/>
              <a:ea typeface="Arial"/>
              <a:cs typeface="Arial"/>
            </a:endParaRPr>
          </a:p>
          <a:p>
            <a:pPr algn="l" rtl="0" eaLnBrk="0">
              <a:lnSpc>
                <a:spcPct val="119000"/>
              </a:lnSpc>
              <a:tabLst/>
            </a:pPr>
            <a:endParaRPr sz="300" dirty="0">
              <a:latin typeface="Arial"/>
              <a:ea typeface="Arial"/>
              <a:cs typeface="Arial"/>
            </a:endParaRPr>
          </a:p>
          <a:p>
            <a:pPr algn="r" rtl="0" eaLnBrk="0">
              <a:lnSpc>
                <a:spcPct val="84000"/>
              </a:lnSpc>
              <a:spcBef>
                <a:spcPts val="2"/>
              </a:spcBef>
              <a:tabLst/>
            </a:pPr>
            <a:r>
              <a:rPr sz="1400" kern="0" spc="40" dirty="0">
                <a:solidFill>
                  <a:srgbClr val="000000">
                    <a:alpha val="100000"/>
                  </a:srgbClr>
                </a:solidFill>
                <a:latin typeface="PingFang SC"/>
                <a:ea typeface="PingFang SC"/>
                <a:cs typeface="PingFang SC"/>
              </a:rPr>
              <a:t>Operating</a:t>
            </a:r>
            <a:r>
              <a:rPr sz="1400" kern="0" spc="270" dirty="0">
                <a:solidFill>
                  <a:srgbClr val="000000">
                    <a:alpha val="100000"/>
                  </a:srgbClr>
                </a:solidFill>
                <a:latin typeface="PingFang SC"/>
                <a:ea typeface="PingFang SC"/>
                <a:cs typeface="PingFang SC"/>
              </a:rPr>
              <a:t> </a:t>
            </a:r>
            <a:r>
              <a:rPr sz="1400" kern="0" spc="40" dirty="0">
                <a:solidFill>
                  <a:srgbClr val="000000">
                    <a:alpha val="100000"/>
                  </a:srgbClr>
                </a:solidFill>
                <a:latin typeface="PingFang SC"/>
                <a:ea typeface="PingFang SC"/>
                <a:cs typeface="PingFang SC"/>
              </a:rPr>
              <a:t>technical</a:t>
            </a:r>
            <a:r>
              <a:rPr sz="1400" kern="0" spc="310" dirty="0">
                <a:solidFill>
                  <a:srgbClr val="000000">
                    <a:alpha val="100000"/>
                  </a:srgbClr>
                </a:solidFill>
                <a:latin typeface="PingFang SC"/>
                <a:ea typeface="PingFang SC"/>
                <a:cs typeface="PingFang SC"/>
              </a:rPr>
              <a:t> </a:t>
            </a:r>
            <a:r>
              <a:rPr sz="1400" kern="0" spc="40" dirty="0">
                <a:solidFill>
                  <a:srgbClr val="000000">
                    <a:alpha val="100000"/>
                  </a:srgbClr>
                </a:solidFill>
                <a:latin typeface="PingFang SC"/>
                <a:ea typeface="PingFang SC"/>
                <a:cs typeface="PingFang SC"/>
              </a:rPr>
              <a:t>specifications</a:t>
            </a:r>
            <a:r>
              <a:rPr sz="1400" kern="0" spc="290" dirty="0">
                <a:solidFill>
                  <a:srgbClr val="000000">
                    <a:alpha val="100000"/>
                  </a:srgbClr>
                </a:solidFill>
                <a:latin typeface="PingFang SC"/>
                <a:ea typeface="PingFang SC"/>
                <a:cs typeface="PingFang SC"/>
              </a:rPr>
              <a:t> </a:t>
            </a:r>
            <a:r>
              <a:rPr sz="1400" kern="0" spc="40" dirty="0">
                <a:solidFill>
                  <a:srgbClr val="000000">
                    <a:alpha val="100000"/>
                  </a:srgbClr>
                </a:solidFill>
                <a:latin typeface="PingFang SC"/>
                <a:ea typeface="PingFang SC"/>
                <a:cs typeface="PingFang SC"/>
              </a:rPr>
              <a:t>of</a:t>
            </a:r>
            <a:r>
              <a:rPr sz="1400" kern="0" spc="270" dirty="0">
                <a:solidFill>
                  <a:srgbClr val="000000">
                    <a:alpha val="100000"/>
                  </a:srgbClr>
                </a:solidFill>
                <a:latin typeface="PingFang SC"/>
                <a:ea typeface="PingFang SC"/>
                <a:cs typeface="PingFang SC"/>
              </a:rPr>
              <a:t> </a:t>
            </a:r>
            <a:r>
              <a:rPr sz="1400" kern="0" spc="40" dirty="0">
                <a:solidFill>
                  <a:srgbClr val="000000">
                    <a:alpha val="100000"/>
                  </a:srgbClr>
                </a:solidFill>
                <a:latin typeface="PingFang SC"/>
                <a:ea typeface="PingFang SC"/>
                <a:cs typeface="PingFang SC"/>
              </a:rPr>
              <a:t>type</a:t>
            </a:r>
            <a:r>
              <a:rPr sz="1400" kern="0" spc="270" dirty="0">
                <a:solidFill>
                  <a:srgbClr val="000000">
                    <a:alpha val="100000"/>
                  </a:srgbClr>
                </a:solidFill>
                <a:latin typeface="PingFang SC"/>
                <a:ea typeface="PingFang SC"/>
                <a:cs typeface="PingFang SC"/>
              </a:rPr>
              <a:t> </a:t>
            </a:r>
            <a:r>
              <a:rPr sz="1400" kern="0" spc="40" dirty="0">
                <a:solidFill>
                  <a:srgbClr val="000000">
                    <a:alpha val="100000"/>
                  </a:srgbClr>
                </a:solidFill>
                <a:latin typeface="PingFang SC"/>
                <a:ea typeface="PingFang SC"/>
                <a:cs typeface="PingFang SC"/>
              </a:rPr>
              <a:t>cla</a:t>
            </a:r>
            <a:r>
              <a:rPr sz="1400" kern="0" spc="30" dirty="0">
                <a:solidFill>
                  <a:srgbClr val="000000">
                    <a:alpha val="100000"/>
                  </a:srgbClr>
                </a:solidFill>
                <a:latin typeface="PingFang SC"/>
                <a:ea typeface="PingFang SC"/>
                <a:cs typeface="PingFang SC"/>
              </a:rPr>
              <a:t>ssification  in</a:t>
            </a:r>
            <a:r>
              <a:rPr sz="1400" kern="0" spc="300" dirty="0">
                <a:solidFill>
                  <a:srgbClr val="000000">
                    <a:alpha val="100000"/>
                  </a:srgbClr>
                </a:solidFill>
                <a:latin typeface="PingFang SC"/>
                <a:ea typeface="PingFang SC"/>
                <a:cs typeface="PingFang SC"/>
              </a:rPr>
              <a:t> </a:t>
            </a:r>
            <a:r>
              <a:rPr sz="1400" kern="0" spc="30" dirty="0">
                <a:solidFill>
                  <a:srgbClr val="000000">
                    <a:alpha val="100000"/>
                  </a:srgbClr>
                </a:solidFill>
                <a:latin typeface="PingFang SC"/>
                <a:ea typeface="PingFang SC"/>
                <a:cs typeface="PingFang SC"/>
              </a:rPr>
              <a:t>Holstein</a:t>
            </a:r>
            <a:endParaRPr sz="1400" dirty="0">
              <a:latin typeface="PingFang SC"/>
              <a:ea typeface="PingFang SC"/>
              <a:cs typeface="PingFang SC"/>
            </a:endParaRPr>
          </a:p>
        </p:txBody>
      </p:sp>
      <p:sp>
        <p:nvSpPr>
          <p:cNvPr id="10" name="textbox 10"/>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12" name="textbox 12"/>
          <p:cNvSpPr/>
          <p:nvPr/>
        </p:nvSpPr>
        <p:spPr>
          <a:xfrm>
            <a:off x="2649341" y="9735257"/>
            <a:ext cx="2389505" cy="224155"/>
          </a:xfrm>
          <a:prstGeom prst="rect">
            <a:avLst/>
          </a:prstGeom>
          <a:noFill/>
          <a:ln w="0" cap="flat">
            <a:noFill/>
            <a:prstDash val="solid"/>
            <a:miter lim="0"/>
          </a:ln>
        </p:spPr>
        <p:txBody>
          <a:bodyPr vert="horz" wrap="square" lIns="0" tIns="0" rIns="0" bIns="0"/>
          <a:lstStyle/>
          <a:p>
            <a:pPr algn="l" rtl="0" eaLnBrk="0">
              <a:lnSpc>
                <a:spcPct val="81465"/>
              </a:lnSpc>
              <a:tabLst/>
            </a:pPr>
            <a:endParaRPr sz="100" dirty="0">
              <a:latin typeface="Arial"/>
              <a:ea typeface="Arial"/>
              <a:cs typeface="Arial"/>
            </a:endParaRPr>
          </a:p>
          <a:p>
            <a:pPr marL="12700" algn="l" rtl="0" eaLnBrk="0">
              <a:lnSpc>
                <a:spcPct val="93000"/>
              </a:lnSpc>
              <a:tabLst/>
            </a:pPr>
            <a:r>
              <a:rPr sz="1400" kern="0" spc="450" dirty="0">
                <a:solidFill>
                  <a:srgbClr val="000000">
                    <a:alpha val="100000"/>
                  </a:srgbClr>
                </a:solidFill>
                <a:latin typeface="PingFang SC"/>
                <a:ea typeface="PingFang SC"/>
                <a:cs typeface="PingFang SC"/>
              </a:rPr>
              <a:t>中国奶业协会</a:t>
            </a:r>
            <a:r>
              <a:rPr sz="1400" kern="0" spc="30" dirty="0">
                <a:solidFill>
                  <a:srgbClr val="000000">
                    <a:alpha val="100000"/>
                  </a:srgbClr>
                </a:solidFill>
                <a:latin typeface="PingFang SC"/>
                <a:ea typeface="PingFang SC"/>
                <a:cs typeface="PingFang SC"/>
              </a:rPr>
              <a:t>      </a:t>
            </a:r>
            <a:r>
              <a:rPr sz="2100" kern="0" spc="450" baseline="4960" dirty="0">
                <a:solidFill>
                  <a:srgbClr val="000000">
                    <a:alpha val="100000"/>
                  </a:srgbClr>
                </a:solidFill>
                <a:latin typeface="PingFang SC"/>
                <a:ea typeface="PingFang SC"/>
                <a:cs typeface="PingFang SC"/>
              </a:rPr>
              <a:t>发</a:t>
            </a:r>
            <a:r>
              <a:rPr sz="1300" kern="0" spc="10" dirty="0">
                <a:solidFill>
                  <a:srgbClr val="000000">
                    <a:alpha val="100000"/>
                  </a:srgbClr>
                </a:solidFill>
                <a:latin typeface="PingFang SC"/>
                <a:ea typeface="PingFang SC"/>
                <a:cs typeface="PingFang SC"/>
              </a:rPr>
              <a:t>  </a:t>
            </a:r>
            <a:r>
              <a:rPr sz="2100" kern="0" spc="450" baseline="4960" dirty="0">
                <a:solidFill>
                  <a:srgbClr val="000000">
                    <a:alpha val="100000"/>
                  </a:srgbClr>
                </a:solidFill>
                <a:latin typeface="PingFang SC"/>
                <a:ea typeface="PingFang SC"/>
                <a:cs typeface="PingFang SC"/>
              </a:rPr>
              <a:t>布</a:t>
            </a:r>
            <a:endParaRPr sz="2100" baseline="4960" dirty="0">
              <a:latin typeface="PingFang SC"/>
              <a:ea typeface="PingFang SC"/>
              <a:cs typeface="PingFang SC"/>
            </a:endParaRPr>
          </a:p>
        </p:txBody>
      </p:sp>
      <p:sp>
        <p:nvSpPr>
          <p:cNvPr id="14" name="textbox 14"/>
          <p:cNvSpPr/>
          <p:nvPr/>
        </p:nvSpPr>
        <p:spPr>
          <a:xfrm>
            <a:off x="5297236" y="9047984"/>
            <a:ext cx="1755140" cy="208280"/>
          </a:xfrm>
          <a:prstGeom prst="rect">
            <a:avLst/>
          </a:prstGeom>
          <a:noFill/>
          <a:ln w="0" cap="flat">
            <a:noFill/>
            <a:prstDash val="solid"/>
            <a:miter lim="0"/>
          </a:ln>
        </p:spPr>
        <p:txBody>
          <a:bodyPr vert="horz" wrap="square" lIns="0" tIns="0" rIns="0" bIns="0"/>
          <a:lstStyle/>
          <a:p>
            <a:pPr algn="l" rtl="0" eaLnBrk="0">
              <a:lnSpc>
                <a:spcPct val="76834"/>
              </a:lnSpc>
              <a:tabLst/>
            </a:pPr>
            <a:endParaRPr sz="100" dirty="0">
              <a:latin typeface="Arial"/>
              <a:ea typeface="Arial"/>
              <a:cs typeface="Arial"/>
            </a:endParaRPr>
          </a:p>
          <a:p>
            <a:pPr marL="12700" algn="l" rtl="0" eaLnBrk="0">
              <a:lnSpc>
                <a:spcPct val="86000"/>
              </a:lnSpc>
              <a:tabLst/>
            </a:pPr>
            <a:r>
              <a:rPr sz="1400" kern="0" spc="-70" dirty="0">
                <a:solidFill>
                  <a:srgbClr val="000000">
                    <a:alpha val="100000"/>
                  </a:srgbClr>
                </a:solidFill>
                <a:latin typeface="PingFang SC"/>
                <a:ea typeface="PingFang SC"/>
                <a:cs typeface="PingFang SC"/>
              </a:rPr>
              <a:t>2021</a:t>
            </a:r>
            <a:r>
              <a:rPr sz="1400" kern="0" spc="110" dirty="0">
                <a:solidFill>
                  <a:srgbClr val="000000">
                    <a:alpha val="100000"/>
                  </a:srgbClr>
                </a:solidFill>
                <a:latin typeface="PingFang SC"/>
                <a:ea typeface="PingFang SC"/>
                <a:cs typeface="PingFang SC"/>
              </a:rPr>
              <a:t>  </a:t>
            </a:r>
            <a:r>
              <a:rPr sz="1400" kern="0" spc="-70" dirty="0">
                <a:solidFill>
                  <a:srgbClr val="000000">
                    <a:alpha val="100000"/>
                  </a:srgbClr>
                </a:solidFill>
                <a:latin typeface="PingFang SC"/>
                <a:ea typeface="PingFang SC"/>
                <a:cs typeface="PingFang SC"/>
              </a:rPr>
              <a:t>-</a:t>
            </a:r>
            <a:r>
              <a:rPr sz="1400" kern="0" spc="260" dirty="0">
                <a:solidFill>
                  <a:srgbClr val="000000">
                    <a:alpha val="100000"/>
                  </a:srgbClr>
                </a:solidFill>
                <a:latin typeface="PingFang SC"/>
                <a:ea typeface="PingFang SC"/>
                <a:cs typeface="PingFang SC"/>
              </a:rPr>
              <a:t> </a:t>
            </a:r>
            <a:r>
              <a:rPr sz="1400" kern="0" spc="-70" dirty="0">
                <a:solidFill>
                  <a:srgbClr val="000000">
                    <a:alpha val="100000"/>
                  </a:srgbClr>
                </a:solidFill>
                <a:latin typeface="PingFang SC"/>
                <a:ea typeface="PingFang SC"/>
                <a:cs typeface="PingFang SC"/>
              </a:rPr>
              <a:t>08</a:t>
            </a:r>
            <a:r>
              <a:rPr sz="1400" kern="0" spc="270" dirty="0">
                <a:solidFill>
                  <a:srgbClr val="000000">
                    <a:alpha val="100000"/>
                  </a:srgbClr>
                </a:solidFill>
                <a:latin typeface="PingFang SC"/>
                <a:ea typeface="PingFang SC"/>
                <a:cs typeface="PingFang SC"/>
              </a:rPr>
              <a:t> </a:t>
            </a:r>
            <a:r>
              <a:rPr sz="1400" kern="0" spc="-70" dirty="0">
                <a:solidFill>
                  <a:srgbClr val="000000">
                    <a:alpha val="100000"/>
                  </a:srgbClr>
                </a:solidFill>
                <a:latin typeface="PingFang SC"/>
                <a:ea typeface="PingFang SC"/>
                <a:cs typeface="PingFang SC"/>
              </a:rPr>
              <a:t>-</a:t>
            </a:r>
            <a:r>
              <a:rPr sz="1400" kern="0" spc="360" dirty="0">
                <a:solidFill>
                  <a:srgbClr val="000000">
                    <a:alpha val="100000"/>
                  </a:srgbClr>
                </a:solidFill>
                <a:latin typeface="PingFang SC"/>
                <a:ea typeface="PingFang SC"/>
                <a:cs typeface="PingFang SC"/>
              </a:rPr>
              <a:t> </a:t>
            </a:r>
            <a:r>
              <a:rPr sz="1400" kern="0" spc="-70" dirty="0">
                <a:solidFill>
                  <a:srgbClr val="000000">
                    <a:alpha val="100000"/>
                  </a:srgbClr>
                </a:solidFill>
                <a:latin typeface="PingFang SC"/>
                <a:ea typeface="PingFang SC"/>
                <a:cs typeface="PingFang SC"/>
              </a:rPr>
              <a:t>18 实</a:t>
            </a:r>
            <a:r>
              <a:rPr sz="1400" kern="0" spc="-80" dirty="0">
                <a:solidFill>
                  <a:srgbClr val="000000">
                    <a:alpha val="100000"/>
                  </a:srgbClr>
                </a:solidFill>
                <a:latin typeface="PingFang SC"/>
                <a:ea typeface="PingFang SC"/>
                <a:cs typeface="PingFang SC"/>
              </a:rPr>
              <a:t>施</a:t>
            </a:r>
            <a:endParaRPr sz="1400" dirty="0">
              <a:latin typeface="PingFang SC"/>
              <a:ea typeface="PingFang SC"/>
              <a:cs typeface="PingFang SC"/>
            </a:endParaRPr>
          </a:p>
        </p:txBody>
      </p:sp>
      <p:sp>
        <p:nvSpPr>
          <p:cNvPr id="16" name="textbox 16"/>
          <p:cNvSpPr/>
          <p:nvPr/>
        </p:nvSpPr>
        <p:spPr>
          <a:xfrm>
            <a:off x="893816" y="9047984"/>
            <a:ext cx="1754504" cy="208280"/>
          </a:xfrm>
          <a:prstGeom prst="rect">
            <a:avLst/>
          </a:prstGeom>
          <a:noFill/>
          <a:ln w="0" cap="flat">
            <a:noFill/>
            <a:prstDash val="solid"/>
            <a:miter lim="0"/>
          </a:ln>
        </p:spPr>
        <p:txBody>
          <a:bodyPr vert="horz" wrap="square" lIns="0" tIns="0" rIns="0" bIns="0"/>
          <a:lstStyle/>
          <a:p>
            <a:pPr algn="l" rtl="0" eaLnBrk="0">
              <a:lnSpc>
                <a:spcPct val="78001"/>
              </a:lnSpc>
              <a:tabLst/>
            </a:pPr>
            <a:endParaRPr sz="100" dirty="0">
              <a:latin typeface="Arial"/>
              <a:ea typeface="Arial"/>
              <a:cs typeface="Arial"/>
            </a:endParaRPr>
          </a:p>
          <a:p>
            <a:pPr marL="12700" algn="l" rtl="0" eaLnBrk="0">
              <a:lnSpc>
                <a:spcPct val="86000"/>
              </a:lnSpc>
              <a:tabLst/>
            </a:pPr>
            <a:r>
              <a:rPr sz="1400" kern="0" spc="-60" dirty="0">
                <a:solidFill>
                  <a:srgbClr val="000000">
                    <a:alpha val="100000"/>
                  </a:srgbClr>
                </a:solidFill>
                <a:latin typeface="PingFang SC"/>
                <a:ea typeface="PingFang SC"/>
                <a:cs typeface="PingFang SC"/>
              </a:rPr>
              <a:t>2021</a:t>
            </a:r>
            <a:r>
              <a:rPr sz="1400" kern="0" spc="260" dirty="0">
                <a:solidFill>
                  <a:srgbClr val="000000">
                    <a:alpha val="100000"/>
                  </a:srgbClr>
                </a:solidFill>
                <a:latin typeface="PingFang SC"/>
                <a:ea typeface="PingFang SC"/>
                <a:cs typeface="PingFang SC"/>
              </a:rPr>
              <a:t> </a:t>
            </a:r>
            <a:r>
              <a:rPr sz="1400" kern="0" spc="-60" dirty="0">
                <a:solidFill>
                  <a:srgbClr val="000000">
                    <a:alpha val="100000"/>
                  </a:srgbClr>
                </a:solidFill>
                <a:latin typeface="PingFang SC"/>
                <a:ea typeface="PingFang SC"/>
                <a:cs typeface="PingFang SC"/>
              </a:rPr>
              <a:t>-</a:t>
            </a:r>
            <a:r>
              <a:rPr sz="1400" kern="0" spc="280" dirty="0">
                <a:solidFill>
                  <a:srgbClr val="000000">
                    <a:alpha val="100000"/>
                  </a:srgbClr>
                </a:solidFill>
                <a:latin typeface="PingFang SC"/>
                <a:ea typeface="PingFang SC"/>
                <a:cs typeface="PingFang SC"/>
              </a:rPr>
              <a:t> </a:t>
            </a:r>
            <a:r>
              <a:rPr sz="1400" kern="0" spc="-60" dirty="0">
                <a:solidFill>
                  <a:srgbClr val="000000">
                    <a:alpha val="100000"/>
                  </a:srgbClr>
                </a:solidFill>
                <a:latin typeface="PingFang SC"/>
                <a:ea typeface="PingFang SC"/>
                <a:cs typeface="PingFang SC"/>
              </a:rPr>
              <a:t>07</a:t>
            </a:r>
            <a:r>
              <a:rPr sz="1400" kern="0" spc="110" dirty="0">
                <a:solidFill>
                  <a:srgbClr val="000000">
                    <a:alpha val="100000"/>
                  </a:srgbClr>
                </a:solidFill>
                <a:latin typeface="PingFang SC"/>
                <a:ea typeface="PingFang SC"/>
                <a:cs typeface="PingFang SC"/>
              </a:rPr>
              <a:t>  </a:t>
            </a:r>
            <a:r>
              <a:rPr sz="1400" kern="0" spc="-60" dirty="0">
                <a:solidFill>
                  <a:srgbClr val="000000">
                    <a:alpha val="100000"/>
                  </a:srgbClr>
                </a:solidFill>
                <a:latin typeface="PingFang SC"/>
                <a:ea typeface="PingFang SC"/>
                <a:cs typeface="PingFang SC"/>
              </a:rPr>
              <a:t>-</a:t>
            </a:r>
            <a:r>
              <a:rPr sz="1400" kern="0" spc="350" dirty="0">
                <a:solidFill>
                  <a:srgbClr val="000000">
                    <a:alpha val="100000"/>
                  </a:srgbClr>
                </a:solidFill>
                <a:latin typeface="PingFang SC"/>
                <a:ea typeface="PingFang SC"/>
                <a:cs typeface="PingFang SC"/>
              </a:rPr>
              <a:t> </a:t>
            </a:r>
            <a:r>
              <a:rPr sz="1400" kern="0" spc="-60" dirty="0">
                <a:solidFill>
                  <a:srgbClr val="000000">
                    <a:alpha val="100000"/>
                  </a:srgbClr>
                </a:solidFill>
                <a:latin typeface="PingFang SC"/>
                <a:ea typeface="PingFang SC"/>
                <a:cs typeface="PingFang SC"/>
              </a:rPr>
              <a:t>17 发</a:t>
            </a:r>
            <a:r>
              <a:rPr sz="1400" kern="0" spc="-70" dirty="0">
                <a:solidFill>
                  <a:srgbClr val="000000">
                    <a:alpha val="100000"/>
                  </a:srgbClr>
                </a:solidFill>
                <a:latin typeface="PingFang SC"/>
                <a:ea typeface="PingFang SC"/>
                <a:cs typeface="PingFang SC"/>
              </a:rPr>
              <a:t>布</a:t>
            </a:r>
            <a:endParaRPr sz="1400" dirty="0">
              <a:latin typeface="PingFang SC"/>
              <a:ea typeface="PingFang SC"/>
              <a:cs typeface="PingFang SC"/>
            </a:endParaRPr>
          </a:p>
        </p:txBody>
      </p:sp>
      <p:sp>
        <p:nvSpPr>
          <p:cNvPr id="18" name="path 18"/>
          <p:cNvSpPr/>
          <p:nvPr/>
        </p:nvSpPr>
        <p:spPr>
          <a:xfrm>
            <a:off x="809625" y="9272588"/>
            <a:ext cx="6214744" cy="9525"/>
          </a:xfrm>
          <a:custGeom>
            <a:avLst/>
            <a:gdLst/>
            <a:ahLst/>
            <a:cxnLst/>
            <a:rect l="0" t="0" r="0" b="0"/>
            <a:pathLst>
              <a:path w="9787" h="15">
                <a:moveTo>
                  <a:pt x="0" y="7"/>
                </a:moveTo>
                <a:lnTo>
                  <a:pt x="9787" y="7"/>
                </a:lnTo>
              </a:path>
            </a:pathLst>
          </a:custGeom>
          <a:noFill/>
          <a:ln w="9525" cap="flat">
            <a:solidFill>
              <a:srgbClr val="000000"/>
            </a:solidFill>
            <a:prstDash val="solid"/>
            <a:round/>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2"/>
          <p:cNvSpPr/>
          <p:nvPr/>
        </p:nvSpPr>
        <p:spPr>
          <a:xfrm>
            <a:off x="887837" y="1668150"/>
            <a:ext cx="5895975" cy="7813675"/>
          </a:xfrm>
          <a:prstGeom prst="rect">
            <a:avLst/>
          </a:prstGeom>
          <a:noFill/>
          <a:ln w="0" cap="flat">
            <a:noFill/>
            <a:prstDash val="solid"/>
            <a:miter lim="0"/>
          </a:ln>
        </p:spPr>
        <p:txBody>
          <a:bodyPr vert="horz" wrap="square" lIns="0" tIns="0" rIns="0" bIns="0"/>
          <a:lstStyle/>
          <a:p>
            <a:pPr algn="l" rtl="0" eaLnBrk="0">
              <a:lnSpc>
                <a:spcPct val="78469"/>
              </a:lnSpc>
              <a:tabLst/>
            </a:pPr>
            <a:endParaRPr sz="100" dirty="0">
              <a:latin typeface="Arial"/>
              <a:ea typeface="Arial"/>
              <a:cs typeface="Arial"/>
            </a:endParaRPr>
          </a:p>
          <a:p>
            <a:pPr marL="2710180" algn="l" rtl="0" eaLnBrk="0">
              <a:lnSpc>
                <a:spcPct val="89000"/>
              </a:lnSpc>
              <a:tabLst/>
            </a:pPr>
            <a:r>
              <a:rPr sz="1500" kern="0" spc="-80" dirty="0">
                <a:solidFill>
                  <a:srgbClr val="000000">
                    <a:alpha val="100000"/>
                  </a:srgbClr>
                </a:solidFill>
                <a:latin typeface="PingFang SC"/>
                <a:ea typeface="PingFang SC"/>
                <a:cs typeface="PingFang SC"/>
              </a:rPr>
              <a:t>目</a:t>
            </a:r>
            <a:r>
              <a:rPr sz="1500" kern="0" spc="60" dirty="0">
                <a:solidFill>
                  <a:srgbClr val="000000">
                    <a:alpha val="100000"/>
                  </a:srgbClr>
                </a:solidFill>
                <a:latin typeface="PingFang SC"/>
                <a:ea typeface="PingFang SC"/>
                <a:cs typeface="PingFang SC"/>
              </a:rPr>
              <a:t>   </a:t>
            </a:r>
            <a:r>
              <a:rPr sz="1500" kern="0" spc="-80" dirty="0">
                <a:solidFill>
                  <a:srgbClr val="000000">
                    <a:alpha val="100000"/>
                  </a:srgbClr>
                </a:solidFill>
                <a:latin typeface="PingFang SC"/>
                <a:ea typeface="PingFang SC"/>
                <a:cs typeface="PingFang SC"/>
              </a:rPr>
              <a:t>次</a:t>
            </a:r>
            <a:endParaRPr sz="1500" dirty="0">
              <a:latin typeface="PingFang SC"/>
              <a:ea typeface="PingFang SC"/>
              <a:cs typeface="PingFang SC"/>
            </a:endParaRPr>
          </a:p>
          <a:p>
            <a:pPr algn="l" rtl="0" eaLnBrk="0">
              <a:lnSpc>
                <a:spcPct val="123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marL="18415" algn="l" rtl="0" eaLnBrk="0">
              <a:lnSpc>
                <a:spcPct val="88000"/>
              </a:lnSpc>
              <a:spcBef>
                <a:spcPts val="308"/>
              </a:spcBef>
              <a:tabLst/>
            </a:pPr>
            <a:r>
              <a:rPr sz="1000" kern="0" spc="20" dirty="0">
                <a:solidFill>
                  <a:srgbClr val="000000">
                    <a:alpha val="100000"/>
                  </a:srgbClr>
                </a:solidFill>
                <a:latin typeface="PingFang SC"/>
                <a:ea typeface="PingFang SC"/>
                <a:cs typeface="PingFang SC"/>
                <a:hlinkClick r:id="rId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前言</a:t>
            </a:r>
            <a:r>
              <a:rPr sz="1000" kern="0" spc="40" dirty="0">
                <a:solidFill>
                  <a:srgbClr val="000000">
                    <a:alpha val="100000"/>
                  </a:srgbClr>
                </a:solidFill>
                <a:latin typeface="PingFang SC"/>
                <a:ea typeface="PingFang SC"/>
                <a:cs typeface="PingFang SC"/>
                <a:hlinkClick r:id="rId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70" dirty="0">
                <a:solidFill>
                  <a:srgbClr val="000000">
                    <a:alpha val="100000"/>
                  </a:srgbClr>
                </a:solidFill>
                <a:latin typeface="PingFang SC"/>
                <a:ea typeface="PingFang SC"/>
                <a:cs typeface="PingFang SC"/>
                <a:hlinkClick r:id="rId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III</a:t>
            </a:r>
            <a:endParaRPr sz="1000" dirty="0">
              <a:latin typeface="PingFang SC"/>
              <a:ea typeface="PingFang SC"/>
              <a:cs typeface="PingFang SC"/>
            </a:endParaRPr>
          </a:p>
          <a:p>
            <a:pPr marL="15875" algn="l" rtl="0" eaLnBrk="0">
              <a:lnSpc>
                <a:spcPct val="88000"/>
              </a:lnSpc>
              <a:spcBef>
                <a:spcPts val="888"/>
              </a:spcBef>
              <a:tabLst/>
            </a:pPr>
            <a:r>
              <a:rPr sz="1000" kern="0" spc="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荷斯坦牛体型鉴定操作技术规范 </a:t>
            </a:r>
            <a:r>
              <a:rPr sz="1000" kern="0" spc="2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8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a:t>
            </a:r>
            <a:endParaRPr sz="1000" dirty="0">
              <a:latin typeface="PingFang SC"/>
              <a:ea typeface="PingFang SC"/>
              <a:cs typeface="PingFang SC"/>
            </a:endParaRPr>
          </a:p>
          <a:p>
            <a:pPr marL="26669" algn="l" rtl="0" eaLnBrk="0">
              <a:lnSpc>
                <a:spcPct val="88000"/>
              </a:lnSpc>
              <a:spcBef>
                <a:spcPts val="900"/>
              </a:spcBef>
              <a:tabLst/>
            </a:pPr>
            <a:r>
              <a:rPr sz="1000" kern="0" spc="1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a:t>
            </a:r>
            <a:r>
              <a:rPr sz="1000" kern="0" spc="2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1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范围</a:t>
            </a:r>
            <a:r>
              <a:rPr sz="1000" kern="0" spc="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8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a:t>
            </a:r>
            <a:endParaRPr sz="1000" dirty="0">
              <a:latin typeface="PingFang SC"/>
              <a:ea typeface="PingFang SC"/>
              <a:cs typeface="PingFang SC"/>
            </a:endParaRPr>
          </a:p>
          <a:p>
            <a:pPr marL="18415" algn="l" rtl="0" eaLnBrk="0">
              <a:lnSpc>
                <a:spcPct val="88000"/>
              </a:lnSpc>
              <a:spcBef>
                <a:spcPts val="888"/>
              </a:spcBef>
              <a:tabLst/>
            </a:pPr>
            <a:r>
              <a:rPr sz="1000" kern="0" spc="2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2</a:t>
            </a:r>
            <a:r>
              <a:rPr sz="1000" kern="0" spc="23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规范性引用文件 </a:t>
            </a:r>
            <a:r>
              <a:rPr sz="1000" kern="0" spc="2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8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a:t>
            </a:r>
            <a:endParaRPr sz="1000" dirty="0">
              <a:latin typeface="PingFang SC"/>
              <a:ea typeface="PingFang SC"/>
              <a:cs typeface="PingFang SC"/>
            </a:endParaRPr>
          </a:p>
          <a:p>
            <a:pPr marL="19050" algn="l" rtl="0" eaLnBrk="0">
              <a:lnSpc>
                <a:spcPct val="88000"/>
              </a:lnSpc>
              <a:spcBef>
                <a:spcPts val="900"/>
              </a:spcBef>
              <a:tabLst/>
            </a:pPr>
            <a:r>
              <a:rPr sz="1000" kern="0" spc="1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3</a:t>
            </a:r>
            <a:r>
              <a:rPr sz="1000" kern="0" spc="24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1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术语和定义</a:t>
            </a:r>
            <a:r>
              <a:rPr sz="1000" kern="0" spc="7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8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a:t>
            </a:r>
            <a:endParaRPr sz="1000" dirty="0">
              <a:latin typeface="PingFang SC"/>
              <a:ea typeface="PingFang SC"/>
              <a:cs typeface="PingFang SC"/>
            </a:endParaRPr>
          </a:p>
          <a:p>
            <a:pPr marL="153035" algn="l" rtl="0" eaLnBrk="0">
              <a:lnSpc>
                <a:spcPct val="88000"/>
              </a:lnSpc>
              <a:spcBef>
                <a:spcPts val="903"/>
              </a:spcBef>
              <a:tabLst/>
            </a:pPr>
            <a:r>
              <a:rPr sz="1000" kern="0" spc="9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3.1</a:t>
            </a:r>
            <a:r>
              <a:rPr sz="1000" kern="0" spc="24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9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鉴定员</a:t>
            </a:r>
            <a:r>
              <a:rPr sz="1000" kern="0" spc="24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9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class</a:t>
            </a:r>
            <a:r>
              <a:rPr sz="1000" kern="0" spc="8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ifier </a:t>
            </a:r>
            <a:r>
              <a:rPr sz="1000" kern="0" spc="2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8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a:t>
            </a:r>
            <a:endParaRPr sz="1000" dirty="0">
              <a:latin typeface="PingFang SC"/>
              <a:ea typeface="PingFang SC"/>
              <a:cs typeface="PingFang SC"/>
            </a:endParaRPr>
          </a:p>
          <a:p>
            <a:pPr marL="153035" algn="l" rtl="0" eaLnBrk="0">
              <a:lnSpc>
                <a:spcPct val="88000"/>
              </a:lnSpc>
              <a:spcBef>
                <a:spcPts val="504"/>
              </a:spcBef>
              <a:tabLst/>
            </a:pPr>
            <a:r>
              <a:rPr sz="1000" kern="0" spc="9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3.2</a:t>
            </a:r>
            <a:r>
              <a:rPr sz="1000" kern="0" spc="23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9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注册鉴定员</a:t>
            </a:r>
            <a:r>
              <a:rPr sz="1000" kern="0" spc="21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registered</a:t>
            </a:r>
            <a:r>
              <a:rPr sz="1000" kern="0" spc="12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8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a:t>
            </a:r>
            <a:endParaRPr sz="1000" dirty="0">
              <a:latin typeface="PingFang SC"/>
              <a:ea typeface="PingFang SC"/>
              <a:cs typeface="PingFang SC"/>
            </a:endParaRPr>
          </a:p>
          <a:p>
            <a:pPr marL="153035" algn="l" rtl="0" eaLnBrk="0">
              <a:lnSpc>
                <a:spcPct val="88000"/>
              </a:lnSpc>
              <a:spcBef>
                <a:spcPts val="504"/>
              </a:spcBef>
              <a:tabLst/>
            </a:pPr>
            <a:r>
              <a:rPr sz="1000" kern="0" spc="3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3.3</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3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备案鉴定员</a:t>
            </a:r>
            <a:r>
              <a:rPr sz="1000" kern="0" spc="24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candidated</a:t>
            </a:r>
            <a:r>
              <a:rPr sz="1000" kern="0" spc="11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8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a:t>
            </a:r>
            <a:endParaRPr sz="1000" dirty="0">
              <a:latin typeface="PingFang SC"/>
              <a:ea typeface="PingFang SC"/>
              <a:cs typeface="PingFang SC"/>
            </a:endParaRPr>
          </a:p>
          <a:p>
            <a:pPr marL="15875" algn="l" rtl="0" eaLnBrk="0">
              <a:lnSpc>
                <a:spcPct val="88000"/>
              </a:lnSpc>
              <a:spcBef>
                <a:spcPts val="888"/>
              </a:spcBef>
              <a:tabLst/>
            </a:pPr>
            <a:r>
              <a:rPr sz="1000" kern="0" spc="1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4</a:t>
            </a:r>
            <a:r>
              <a:rPr sz="1000" kern="0" spc="23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1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操作规范</a:t>
            </a:r>
            <a:r>
              <a:rPr sz="1000" kern="0" spc="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8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a:t>
            </a:r>
            <a:endParaRPr sz="1000" dirty="0">
              <a:latin typeface="PingFang SC"/>
              <a:ea typeface="PingFang SC"/>
              <a:cs typeface="PingFang SC"/>
            </a:endParaRPr>
          </a:p>
          <a:p>
            <a:pPr marL="149860" algn="l" rtl="0" eaLnBrk="0">
              <a:lnSpc>
                <a:spcPct val="88000"/>
              </a:lnSpc>
              <a:spcBef>
                <a:spcPts val="900"/>
              </a:spcBef>
              <a:tabLst/>
            </a:pPr>
            <a:r>
              <a:rPr sz="1000" kern="0" spc="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4.1</a:t>
            </a:r>
            <a:r>
              <a:rPr sz="1000" kern="0" spc="23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体型鉴定位置 </a:t>
            </a:r>
            <a:r>
              <a:rPr sz="1000" kern="0" spc="2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8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a:t>
            </a:r>
            <a:endParaRPr sz="1000" dirty="0">
              <a:latin typeface="PingFang SC"/>
              <a:ea typeface="PingFang SC"/>
              <a:cs typeface="PingFang SC"/>
            </a:endParaRPr>
          </a:p>
          <a:p>
            <a:pPr marL="149860" algn="l" rtl="0" eaLnBrk="0">
              <a:lnSpc>
                <a:spcPct val="88000"/>
              </a:lnSpc>
              <a:spcBef>
                <a:spcPts val="504"/>
              </a:spcBef>
              <a:tabLst/>
            </a:pPr>
            <a:r>
              <a:rPr sz="1000" kern="0" spc="4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4.2</a:t>
            </a:r>
            <a:r>
              <a:rPr sz="1000" kern="0" spc="24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4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性状评分规范</a:t>
            </a:r>
            <a:r>
              <a:rPr sz="1000" kern="0" spc="3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8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5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a:t>
            </a:r>
            <a:endParaRPr sz="1000" dirty="0">
              <a:latin typeface="PingFang SC"/>
              <a:ea typeface="PingFang SC"/>
              <a:cs typeface="PingFang SC"/>
            </a:endParaRPr>
          </a:p>
          <a:p>
            <a:pPr marL="149860" algn="l" rtl="0" eaLnBrk="0">
              <a:lnSpc>
                <a:spcPct val="88000"/>
              </a:lnSpc>
              <a:spcBef>
                <a:spcPts val="504"/>
              </a:spcBef>
              <a:tabLst/>
            </a:pPr>
            <a:r>
              <a:rPr sz="1000" kern="0" spc="3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4.3</a:t>
            </a:r>
            <a:r>
              <a:rPr sz="1000" kern="0" spc="24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3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线性分取值 </a:t>
            </a:r>
            <a:r>
              <a:rPr sz="1000" kern="0" spc="27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3"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1</a:t>
            </a:r>
            <a:endParaRPr sz="1000" dirty="0">
              <a:latin typeface="PingFang SC"/>
              <a:ea typeface="PingFang SC"/>
              <a:cs typeface="PingFang SC"/>
            </a:endParaRPr>
          </a:p>
          <a:p>
            <a:pPr marL="19050" algn="l" rtl="0" eaLnBrk="0">
              <a:lnSpc>
                <a:spcPct val="88000"/>
              </a:lnSpc>
              <a:spcBef>
                <a:spcPts val="888"/>
              </a:spcBef>
              <a:tabLst/>
            </a:pPr>
            <a:r>
              <a:rPr sz="1000" kern="0" spc="0" dirty="0">
                <a:solidFill>
                  <a:srgbClr val="000000">
                    <a:alpha val="100000"/>
                  </a:srgbClr>
                </a:solidFill>
                <a:latin typeface="PingFang SC"/>
                <a:ea typeface="PingFang SC"/>
                <a:cs typeface="PingFang SC"/>
                <a:hlinkClick r:id="rId4"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5</a:t>
            </a:r>
            <a:r>
              <a:rPr sz="1000" kern="0" spc="260" dirty="0">
                <a:solidFill>
                  <a:srgbClr val="000000">
                    <a:alpha val="100000"/>
                  </a:srgbClr>
                </a:solidFill>
                <a:latin typeface="PingFang SC"/>
                <a:ea typeface="PingFang SC"/>
                <a:cs typeface="PingFang SC"/>
                <a:hlinkClick r:id="rId4"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0" dirty="0">
                <a:solidFill>
                  <a:srgbClr val="000000">
                    <a:alpha val="100000"/>
                  </a:srgbClr>
                </a:solidFill>
                <a:latin typeface="PingFang SC"/>
                <a:ea typeface="PingFang SC"/>
                <a:cs typeface="PingFang SC"/>
                <a:hlinkClick r:id="rId4"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结果报送</a:t>
            </a:r>
            <a:r>
              <a:rPr sz="1000" kern="0" spc="60" dirty="0">
                <a:solidFill>
                  <a:srgbClr val="000000">
                    <a:alpha val="100000"/>
                  </a:srgbClr>
                </a:solidFill>
                <a:latin typeface="PingFang SC"/>
                <a:ea typeface="PingFang SC"/>
                <a:cs typeface="PingFang SC"/>
                <a:hlinkClick r:id="rId4"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70" dirty="0">
                <a:solidFill>
                  <a:srgbClr val="000000">
                    <a:alpha val="100000"/>
                  </a:srgbClr>
                </a:solidFill>
                <a:latin typeface="PingFang SC"/>
                <a:ea typeface="PingFang SC"/>
                <a:cs typeface="PingFang SC"/>
                <a:hlinkClick r:id="rId4"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4"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2</a:t>
            </a:r>
            <a:endParaRPr sz="1000" dirty="0">
              <a:latin typeface="PingFang SC"/>
              <a:ea typeface="PingFang SC"/>
              <a:cs typeface="PingFang SC"/>
            </a:endParaRPr>
          </a:p>
          <a:p>
            <a:pPr marL="27305" algn="l" rtl="0" eaLnBrk="0">
              <a:lnSpc>
                <a:spcPct val="88000"/>
              </a:lnSpc>
              <a:spcBef>
                <a:spcPts val="888"/>
              </a:spcBef>
              <a:tabLst/>
            </a:pPr>
            <a:r>
              <a:rPr sz="1000" kern="0" spc="3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附   录   A</a:t>
            </a:r>
            <a:r>
              <a:rPr sz="1000" kern="0" spc="25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3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（规范性附录）</a:t>
            </a:r>
            <a:r>
              <a:rPr sz="1000" kern="0" spc="29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3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各性状的评定操作规范与线性评</a:t>
            </a:r>
            <a:r>
              <a:rPr sz="1000" kern="0" spc="2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分标准</a:t>
            </a:r>
            <a:r>
              <a:rPr sz="1000" kern="0" spc="20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5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6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5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3</a:t>
            </a:r>
            <a:endParaRPr sz="1000" dirty="0">
              <a:latin typeface="PingFang SC"/>
              <a:ea typeface="PingFang SC"/>
              <a:cs typeface="PingFang SC"/>
            </a:endParaRPr>
          </a:p>
          <a:p>
            <a:pPr marL="12700" algn="l" rtl="0" eaLnBrk="0">
              <a:lnSpc>
                <a:spcPct val="88000"/>
              </a:lnSpc>
              <a:spcBef>
                <a:spcPts val="912"/>
              </a:spcBef>
              <a:tabLst/>
            </a:pPr>
            <a:r>
              <a:rPr sz="1000" kern="0" spc="5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A.1</a:t>
            </a:r>
            <a:r>
              <a:rPr sz="1000" kern="0" spc="23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5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体高 </a:t>
            </a:r>
            <a:r>
              <a:rPr sz="1000" kern="0" spc="27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3</a:t>
            </a:r>
            <a:endParaRPr sz="1000" dirty="0">
              <a:latin typeface="PingFang SC"/>
              <a:ea typeface="PingFang SC"/>
              <a:cs typeface="PingFang SC"/>
            </a:endParaRPr>
          </a:p>
          <a:p>
            <a:pPr marL="12700" algn="l" rtl="0" eaLnBrk="0">
              <a:lnSpc>
                <a:spcPct val="88000"/>
              </a:lnSpc>
              <a:spcBef>
                <a:spcPts val="504"/>
              </a:spcBef>
              <a:tabLst/>
            </a:pPr>
            <a:r>
              <a:rPr sz="1000" kern="0" spc="2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A.2</a:t>
            </a:r>
            <a:r>
              <a:rPr sz="1000" kern="0" spc="22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胸宽</a:t>
            </a:r>
            <a:r>
              <a:rPr sz="1000" kern="0" spc="6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7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5"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3</a:t>
            </a:r>
            <a:endParaRPr sz="1000" dirty="0">
              <a:latin typeface="PingFang SC"/>
              <a:ea typeface="PingFang SC"/>
              <a:cs typeface="PingFang SC"/>
            </a:endParaRPr>
          </a:p>
          <a:p>
            <a:pPr marL="12700" algn="l" rtl="0" eaLnBrk="0">
              <a:lnSpc>
                <a:spcPct val="88000"/>
              </a:lnSpc>
              <a:spcBef>
                <a:spcPts val="506"/>
              </a:spcBef>
              <a:tabLst/>
            </a:pPr>
            <a:r>
              <a:rPr sz="1000" kern="0" spc="1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A.3</a:t>
            </a:r>
            <a:r>
              <a:rPr sz="1000" kern="0" spc="23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1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体深</a:t>
            </a:r>
            <a:r>
              <a:rPr sz="1000" kern="0" spc="5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7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4</a:t>
            </a:r>
            <a:endParaRPr sz="1000" dirty="0">
              <a:latin typeface="PingFang SC"/>
              <a:ea typeface="PingFang SC"/>
              <a:cs typeface="PingFang SC"/>
            </a:endParaRPr>
          </a:p>
          <a:p>
            <a:pPr marL="12700" algn="l" rtl="0" eaLnBrk="0">
              <a:lnSpc>
                <a:spcPct val="88000"/>
              </a:lnSpc>
              <a:spcBef>
                <a:spcPts val="504"/>
              </a:spcBef>
              <a:tabLst/>
            </a:pPr>
            <a:r>
              <a:rPr sz="1000" kern="0" spc="3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A.4</a:t>
            </a:r>
            <a:r>
              <a:rPr sz="1000" kern="0" spc="28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3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腰强度 </a:t>
            </a:r>
            <a:r>
              <a:rPr sz="1000" kern="0" spc="26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4</a:t>
            </a:r>
            <a:endParaRPr sz="1000" dirty="0">
              <a:latin typeface="PingFang SC"/>
              <a:ea typeface="PingFang SC"/>
              <a:cs typeface="PingFang SC"/>
            </a:endParaRPr>
          </a:p>
          <a:p>
            <a:pPr marL="12700" algn="l" rtl="0" eaLnBrk="0">
              <a:lnSpc>
                <a:spcPct val="88000"/>
              </a:lnSpc>
              <a:spcBef>
                <a:spcPts val="504"/>
              </a:spcBef>
              <a:tabLst/>
            </a:pPr>
            <a:r>
              <a:rPr sz="1000" kern="0" spc="2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A.5</a:t>
            </a:r>
            <a:r>
              <a:rPr sz="1000" kern="0" spc="23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尻角度 </a:t>
            </a:r>
            <a:r>
              <a:rPr sz="1000" kern="0" spc="27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6"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4</a:t>
            </a:r>
            <a:endParaRPr sz="1000" dirty="0">
              <a:latin typeface="PingFang SC"/>
              <a:ea typeface="PingFang SC"/>
              <a:cs typeface="PingFang SC"/>
            </a:endParaRPr>
          </a:p>
          <a:p>
            <a:pPr marL="12700" algn="l" rtl="0" eaLnBrk="0">
              <a:lnSpc>
                <a:spcPct val="88000"/>
              </a:lnSpc>
              <a:spcBef>
                <a:spcPts val="504"/>
              </a:spcBef>
              <a:tabLst/>
            </a:pPr>
            <a:r>
              <a:rPr sz="1000" kern="0" spc="10" dirty="0">
                <a:solidFill>
                  <a:srgbClr val="000000">
                    <a:alpha val="100000"/>
                  </a:srgbClr>
                </a:solidFill>
                <a:latin typeface="PingFang SC"/>
                <a:ea typeface="PingFang SC"/>
                <a:cs typeface="PingFang SC"/>
                <a:hlinkClick r:id="rId7"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A.6</a:t>
            </a:r>
            <a:r>
              <a:rPr sz="1000" kern="0" spc="240" dirty="0">
                <a:solidFill>
                  <a:srgbClr val="000000">
                    <a:alpha val="100000"/>
                  </a:srgbClr>
                </a:solidFill>
                <a:latin typeface="PingFang SC"/>
                <a:ea typeface="PingFang SC"/>
                <a:cs typeface="PingFang SC"/>
                <a:hlinkClick r:id="rId7"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10" dirty="0">
                <a:solidFill>
                  <a:srgbClr val="000000">
                    <a:alpha val="100000"/>
                  </a:srgbClr>
                </a:solidFill>
                <a:latin typeface="PingFang SC"/>
                <a:ea typeface="PingFang SC"/>
                <a:cs typeface="PingFang SC"/>
                <a:hlinkClick r:id="rId7"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尻宽</a:t>
            </a:r>
            <a:r>
              <a:rPr sz="1000" kern="0" spc="50" dirty="0">
                <a:solidFill>
                  <a:srgbClr val="000000">
                    <a:alpha val="100000"/>
                  </a:srgbClr>
                </a:solidFill>
                <a:latin typeface="PingFang SC"/>
                <a:ea typeface="PingFang SC"/>
                <a:cs typeface="PingFang SC"/>
                <a:hlinkClick r:id="rId7"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70" dirty="0">
                <a:solidFill>
                  <a:srgbClr val="000000">
                    <a:alpha val="100000"/>
                  </a:srgbClr>
                </a:solidFill>
                <a:latin typeface="PingFang SC"/>
                <a:ea typeface="PingFang SC"/>
                <a:cs typeface="PingFang SC"/>
                <a:hlinkClick r:id="rId7"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7"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5</a:t>
            </a:r>
            <a:endParaRPr sz="1000" dirty="0">
              <a:latin typeface="PingFang SC"/>
              <a:ea typeface="PingFang SC"/>
              <a:cs typeface="PingFang SC"/>
            </a:endParaRPr>
          </a:p>
          <a:p>
            <a:pPr marL="12700" algn="l" rtl="0" eaLnBrk="0">
              <a:lnSpc>
                <a:spcPct val="88000"/>
              </a:lnSpc>
              <a:spcBef>
                <a:spcPts val="504"/>
              </a:spcBef>
              <a:tabLst/>
            </a:pPr>
            <a:r>
              <a:rPr sz="1000" kern="0" spc="30" dirty="0">
                <a:solidFill>
                  <a:srgbClr val="000000">
                    <a:alpha val="100000"/>
                  </a:srgbClr>
                </a:solidFill>
                <a:latin typeface="PingFang SC"/>
                <a:ea typeface="PingFang SC"/>
                <a:cs typeface="PingFang SC"/>
                <a:hlinkClick r:id="rId7"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A.7</a:t>
            </a:r>
            <a:r>
              <a:rPr sz="1000" kern="0" spc="250" dirty="0">
                <a:solidFill>
                  <a:srgbClr val="000000">
                    <a:alpha val="100000"/>
                  </a:srgbClr>
                </a:solidFill>
                <a:latin typeface="PingFang SC"/>
                <a:ea typeface="PingFang SC"/>
                <a:cs typeface="PingFang SC"/>
                <a:hlinkClick r:id="rId7"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30" dirty="0">
                <a:solidFill>
                  <a:srgbClr val="000000">
                    <a:alpha val="100000"/>
                  </a:srgbClr>
                </a:solidFill>
                <a:latin typeface="PingFang SC"/>
                <a:ea typeface="PingFang SC"/>
                <a:cs typeface="PingFang SC"/>
                <a:hlinkClick r:id="rId7"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蹄角度 </a:t>
            </a:r>
            <a:r>
              <a:rPr sz="1000" kern="0" spc="270" dirty="0">
                <a:solidFill>
                  <a:srgbClr val="000000">
                    <a:alpha val="100000"/>
                  </a:srgbClr>
                </a:solidFill>
                <a:latin typeface="PingFang SC"/>
                <a:ea typeface="PingFang SC"/>
                <a:cs typeface="PingFang SC"/>
                <a:hlinkClick r:id="rId7"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7"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5</a:t>
            </a:r>
            <a:endParaRPr sz="1000" dirty="0">
              <a:latin typeface="PingFang SC"/>
              <a:ea typeface="PingFang SC"/>
              <a:cs typeface="PingFang SC"/>
            </a:endParaRPr>
          </a:p>
          <a:p>
            <a:pPr marL="12700" algn="l" rtl="0" eaLnBrk="0">
              <a:lnSpc>
                <a:spcPct val="88000"/>
              </a:lnSpc>
              <a:spcBef>
                <a:spcPts val="504"/>
              </a:spcBef>
              <a:tabLst/>
            </a:pPr>
            <a:r>
              <a:rPr sz="1000" kern="0" spc="2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A.8</a:t>
            </a:r>
            <a:r>
              <a:rPr sz="1000" kern="0" spc="25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蹄踵深度</a:t>
            </a:r>
            <a:r>
              <a:rPr sz="1000" kern="0" spc="6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7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6</a:t>
            </a:r>
            <a:endParaRPr sz="1000" dirty="0">
              <a:latin typeface="PingFang SC"/>
              <a:ea typeface="PingFang SC"/>
              <a:cs typeface="PingFang SC"/>
            </a:endParaRPr>
          </a:p>
          <a:p>
            <a:pPr marL="12700" algn="l" rtl="0" eaLnBrk="0">
              <a:lnSpc>
                <a:spcPct val="88000"/>
              </a:lnSpc>
              <a:spcBef>
                <a:spcPts val="504"/>
              </a:spcBef>
              <a:tabLst/>
            </a:pPr>
            <a:r>
              <a:rPr sz="1000" kern="0" spc="2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A.9</a:t>
            </a:r>
            <a:r>
              <a:rPr sz="1000" kern="0" spc="23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骨质地 </a:t>
            </a:r>
            <a:r>
              <a:rPr sz="1000" kern="0" spc="27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6</a:t>
            </a:r>
            <a:endParaRPr sz="1000" dirty="0">
              <a:latin typeface="PingFang SC"/>
              <a:ea typeface="PingFang SC"/>
              <a:cs typeface="PingFang SC"/>
            </a:endParaRPr>
          </a:p>
          <a:p>
            <a:pPr marL="12700" algn="l" rtl="0" eaLnBrk="0">
              <a:lnSpc>
                <a:spcPct val="88000"/>
              </a:lnSpc>
              <a:spcBef>
                <a:spcPts val="504"/>
              </a:spcBef>
              <a:tabLst/>
            </a:pPr>
            <a:r>
              <a:rPr sz="1000" kern="0" spc="4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A.10</a:t>
            </a:r>
            <a:r>
              <a:rPr sz="1000" kern="0" spc="23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4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后肢侧视 </a:t>
            </a:r>
            <a:r>
              <a:rPr sz="1000" kern="0" spc="27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8"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6</a:t>
            </a:r>
            <a:endParaRPr sz="1000" dirty="0">
              <a:latin typeface="PingFang SC"/>
              <a:ea typeface="PingFang SC"/>
              <a:cs typeface="PingFang SC"/>
            </a:endParaRPr>
          </a:p>
          <a:p>
            <a:pPr marL="12700" algn="l" rtl="0" eaLnBrk="0">
              <a:lnSpc>
                <a:spcPct val="88000"/>
              </a:lnSpc>
              <a:spcBef>
                <a:spcPts val="504"/>
              </a:spcBef>
              <a:tabLst/>
            </a:pPr>
            <a:r>
              <a:rPr sz="1000" kern="0" spc="60" dirty="0">
                <a:solidFill>
                  <a:srgbClr val="000000">
                    <a:alpha val="100000"/>
                  </a:srgbClr>
                </a:solidFill>
                <a:latin typeface="PingFang SC"/>
                <a:ea typeface="PingFang SC"/>
                <a:cs typeface="PingFang SC"/>
                <a:hlinkClick r:id="rId9"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A.11</a:t>
            </a:r>
            <a:r>
              <a:rPr sz="1000" kern="0" spc="230" dirty="0">
                <a:solidFill>
                  <a:srgbClr val="000000">
                    <a:alpha val="100000"/>
                  </a:srgbClr>
                </a:solidFill>
                <a:latin typeface="PingFang SC"/>
                <a:ea typeface="PingFang SC"/>
                <a:cs typeface="PingFang SC"/>
                <a:hlinkClick r:id="rId9"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60" dirty="0">
                <a:solidFill>
                  <a:srgbClr val="000000">
                    <a:alpha val="100000"/>
                  </a:srgbClr>
                </a:solidFill>
                <a:latin typeface="PingFang SC"/>
                <a:ea typeface="PingFang SC"/>
                <a:cs typeface="PingFang SC"/>
                <a:hlinkClick r:id="rId9"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后肢后视 </a:t>
            </a:r>
            <a:r>
              <a:rPr sz="1000" kern="0" spc="270" dirty="0">
                <a:solidFill>
                  <a:srgbClr val="000000">
                    <a:alpha val="100000"/>
                  </a:srgbClr>
                </a:solidFill>
                <a:latin typeface="PingFang SC"/>
                <a:ea typeface="PingFang SC"/>
                <a:cs typeface="PingFang SC"/>
                <a:hlinkClick r:id="rId9"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9"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7</a:t>
            </a:r>
            <a:endParaRPr sz="1000" dirty="0">
              <a:latin typeface="PingFang SC"/>
              <a:ea typeface="PingFang SC"/>
              <a:cs typeface="PingFang SC"/>
            </a:endParaRPr>
          </a:p>
          <a:p>
            <a:pPr marL="12700" algn="l" rtl="0" eaLnBrk="0">
              <a:lnSpc>
                <a:spcPct val="88000"/>
              </a:lnSpc>
              <a:spcBef>
                <a:spcPts val="504"/>
              </a:spcBef>
              <a:tabLst/>
            </a:pPr>
            <a:r>
              <a:rPr sz="1000" kern="0" spc="40" dirty="0">
                <a:solidFill>
                  <a:srgbClr val="000000">
                    <a:alpha val="100000"/>
                  </a:srgbClr>
                </a:solidFill>
                <a:latin typeface="PingFang SC"/>
                <a:ea typeface="PingFang SC"/>
                <a:cs typeface="PingFang SC"/>
                <a:hlinkClick r:id="rId9"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A.12</a:t>
            </a:r>
            <a:r>
              <a:rPr sz="1000" kern="0" spc="230" dirty="0">
                <a:solidFill>
                  <a:srgbClr val="000000">
                    <a:alpha val="100000"/>
                  </a:srgbClr>
                </a:solidFill>
                <a:latin typeface="PingFang SC"/>
                <a:ea typeface="PingFang SC"/>
                <a:cs typeface="PingFang SC"/>
                <a:hlinkClick r:id="rId9"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40" dirty="0">
                <a:solidFill>
                  <a:srgbClr val="000000">
                    <a:alpha val="100000"/>
                  </a:srgbClr>
                </a:solidFill>
                <a:latin typeface="PingFang SC"/>
                <a:ea typeface="PingFang SC"/>
                <a:cs typeface="PingFang SC"/>
                <a:hlinkClick r:id="rId9"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乳房深度 </a:t>
            </a:r>
            <a:r>
              <a:rPr sz="1000" kern="0" spc="270" dirty="0">
                <a:solidFill>
                  <a:srgbClr val="000000">
                    <a:alpha val="100000"/>
                  </a:srgbClr>
                </a:solidFill>
                <a:latin typeface="PingFang SC"/>
                <a:ea typeface="PingFang SC"/>
                <a:cs typeface="PingFang SC"/>
                <a:hlinkClick r:id="rId9"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9"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7</a:t>
            </a:r>
            <a:endParaRPr sz="1000" dirty="0">
              <a:latin typeface="PingFang SC"/>
              <a:ea typeface="PingFang SC"/>
              <a:cs typeface="PingFang SC"/>
            </a:endParaRPr>
          </a:p>
          <a:p>
            <a:pPr marL="12700" algn="l" rtl="0" eaLnBrk="0">
              <a:lnSpc>
                <a:spcPct val="88000"/>
              </a:lnSpc>
              <a:spcBef>
                <a:spcPts val="504"/>
              </a:spcBef>
              <a:tabLst/>
            </a:pPr>
            <a:r>
              <a:rPr sz="1000" kern="0" spc="3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A.13</a:t>
            </a:r>
            <a:r>
              <a:rPr sz="1000" kern="0" spc="32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3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中央悬韧带 </a:t>
            </a:r>
            <a:r>
              <a:rPr sz="1000" kern="0" spc="27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8</a:t>
            </a:r>
            <a:endParaRPr sz="1000" dirty="0">
              <a:latin typeface="PingFang SC"/>
              <a:ea typeface="PingFang SC"/>
              <a:cs typeface="PingFang SC"/>
            </a:endParaRPr>
          </a:p>
          <a:p>
            <a:pPr marL="12700" algn="l" rtl="0" eaLnBrk="0">
              <a:lnSpc>
                <a:spcPct val="88000"/>
              </a:lnSpc>
              <a:spcBef>
                <a:spcPts val="504"/>
              </a:spcBef>
              <a:tabLst/>
            </a:pPr>
            <a:r>
              <a:rPr sz="1000" kern="0" spc="4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A.14</a:t>
            </a:r>
            <a:r>
              <a:rPr sz="1000" kern="0" spc="24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4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前乳房附着 </a:t>
            </a:r>
            <a:r>
              <a:rPr sz="1000" kern="0" spc="27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8</a:t>
            </a:r>
            <a:endParaRPr sz="1000" dirty="0">
              <a:latin typeface="PingFang SC"/>
              <a:ea typeface="PingFang SC"/>
              <a:cs typeface="PingFang SC"/>
            </a:endParaRPr>
          </a:p>
          <a:p>
            <a:pPr marL="12700" algn="l" rtl="0" eaLnBrk="0">
              <a:lnSpc>
                <a:spcPct val="88000"/>
              </a:lnSpc>
              <a:spcBef>
                <a:spcPts val="507"/>
              </a:spcBef>
              <a:tabLst/>
            </a:pPr>
            <a:r>
              <a:rPr sz="1000" kern="0" spc="4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A.15</a:t>
            </a:r>
            <a:r>
              <a:rPr sz="1000" kern="0" spc="24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4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前乳头位置 </a:t>
            </a:r>
            <a:r>
              <a:rPr sz="1000" kern="0" spc="27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10"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8</a:t>
            </a:r>
            <a:endParaRPr sz="1000" dirty="0">
              <a:latin typeface="PingFang SC"/>
              <a:ea typeface="PingFang SC"/>
              <a:cs typeface="PingFang SC"/>
            </a:endParaRPr>
          </a:p>
          <a:p>
            <a:pPr marL="12700" algn="l" rtl="0" eaLnBrk="0">
              <a:lnSpc>
                <a:spcPct val="88000"/>
              </a:lnSpc>
              <a:spcBef>
                <a:spcPts val="504"/>
              </a:spcBef>
              <a:tabLst/>
            </a:pPr>
            <a:r>
              <a:rPr sz="1000" kern="0" spc="40" dirty="0">
                <a:solidFill>
                  <a:srgbClr val="000000">
                    <a:alpha val="100000"/>
                  </a:srgbClr>
                </a:solidFill>
                <a:latin typeface="PingFang SC"/>
                <a:ea typeface="PingFang SC"/>
                <a:cs typeface="PingFang SC"/>
                <a:hlinkClick r:id="rId11"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A.16</a:t>
            </a:r>
            <a:r>
              <a:rPr sz="1000" kern="0" spc="230" dirty="0">
                <a:solidFill>
                  <a:srgbClr val="000000">
                    <a:alpha val="100000"/>
                  </a:srgbClr>
                </a:solidFill>
                <a:latin typeface="PingFang SC"/>
                <a:ea typeface="PingFang SC"/>
                <a:cs typeface="PingFang SC"/>
                <a:hlinkClick r:id="rId11"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40" dirty="0">
                <a:solidFill>
                  <a:srgbClr val="000000">
                    <a:alpha val="100000"/>
                  </a:srgbClr>
                </a:solidFill>
                <a:latin typeface="PingFang SC"/>
                <a:ea typeface="PingFang SC"/>
                <a:cs typeface="PingFang SC"/>
                <a:hlinkClick r:id="rId11"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前乳头长度 </a:t>
            </a:r>
            <a:r>
              <a:rPr sz="1000" kern="0" spc="270" dirty="0">
                <a:solidFill>
                  <a:srgbClr val="000000">
                    <a:alpha val="100000"/>
                  </a:srgbClr>
                </a:solidFill>
                <a:latin typeface="PingFang SC"/>
                <a:ea typeface="PingFang SC"/>
                <a:cs typeface="PingFang SC"/>
                <a:hlinkClick r:id="rId11"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11"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9</a:t>
            </a:r>
            <a:endParaRPr sz="1000" dirty="0">
              <a:latin typeface="PingFang SC"/>
              <a:ea typeface="PingFang SC"/>
              <a:cs typeface="PingFang SC"/>
            </a:endParaRPr>
          </a:p>
          <a:p>
            <a:pPr marL="12700" algn="l" rtl="0" eaLnBrk="0">
              <a:lnSpc>
                <a:spcPct val="88000"/>
              </a:lnSpc>
              <a:spcBef>
                <a:spcPts val="504"/>
              </a:spcBef>
              <a:tabLst/>
            </a:pPr>
            <a:r>
              <a:rPr sz="1000" kern="0" spc="50" dirty="0">
                <a:solidFill>
                  <a:srgbClr val="000000">
                    <a:alpha val="100000"/>
                  </a:srgbClr>
                </a:solidFill>
                <a:latin typeface="PingFang SC"/>
                <a:ea typeface="PingFang SC"/>
                <a:cs typeface="PingFang SC"/>
                <a:hlinkClick r:id="rId11"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A.17</a:t>
            </a:r>
            <a:r>
              <a:rPr sz="1000" kern="0" spc="230" dirty="0">
                <a:solidFill>
                  <a:srgbClr val="000000">
                    <a:alpha val="100000"/>
                  </a:srgbClr>
                </a:solidFill>
                <a:latin typeface="PingFang SC"/>
                <a:ea typeface="PingFang SC"/>
                <a:cs typeface="PingFang SC"/>
                <a:hlinkClick r:id="rId11"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50" dirty="0">
                <a:solidFill>
                  <a:srgbClr val="000000">
                    <a:alpha val="100000"/>
                  </a:srgbClr>
                </a:solidFill>
                <a:latin typeface="PingFang SC"/>
                <a:ea typeface="PingFang SC"/>
                <a:cs typeface="PingFang SC"/>
                <a:hlinkClick r:id="rId11"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后乳房附着高度 </a:t>
            </a:r>
            <a:r>
              <a:rPr sz="1000" kern="0" spc="270" dirty="0">
                <a:solidFill>
                  <a:srgbClr val="000000">
                    <a:alpha val="100000"/>
                  </a:srgbClr>
                </a:solidFill>
                <a:latin typeface="PingFang SC"/>
                <a:ea typeface="PingFang SC"/>
                <a:cs typeface="PingFang SC"/>
                <a:hlinkClick r:id="rId11"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11"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9</a:t>
            </a:r>
            <a:endParaRPr sz="1000" dirty="0">
              <a:latin typeface="PingFang SC"/>
              <a:ea typeface="PingFang SC"/>
              <a:cs typeface="PingFang SC"/>
            </a:endParaRPr>
          </a:p>
          <a:p>
            <a:pPr marL="12700" algn="l" rtl="0" eaLnBrk="0">
              <a:lnSpc>
                <a:spcPct val="88000"/>
              </a:lnSpc>
              <a:spcBef>
                <a:spcPts val="504"/>
              </a:spcBef>
              <a:tabLst/>
            </a:pPr>
            <a:r>
              <a:rPr sz="1000" kern="0" spc="4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A.18</a:t>
            </a:r>
            <a:r>
              <a:rPr sz="1000" kern="0" spc="23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4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后乳房附着宽度 </a:t>
            </a:r>
            <a:r>
              <a:rPr sz="1000" kern="0" spc="27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26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9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6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10</a:t>
            </a:r>
            <a:endParaRPr sz="1000" dirty="0">
              <a:latin typeface="PingFang SC"/>
              <a:ea typeface="PingFang SC"/>
              <a:cs typeface="PingFang SC"/>
            </a:endParaRPr>
          </a:p>
          <a:p>
            <a:pPr marL="12700" algn="l" rtl="0" eaLnBrk="0">
              <a:lnSpc>
                <a:spcPct val="88000"/>
              </a:lnSpc>
              <a:spcBef>
                <a:spcPts val="504"/>
              </a:spcBef>
              <a:tabLst/>
            </a:pPr>
            <a:r>
              <a:rPr sz="1000" kern="0" spc="4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A.19</a:t>
            </a:r>
            <a:r>
              <a:rPr sz="1000" kern="0" spc="30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4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后乳头位置 </a:t>
            </a:r>
            <a:r>
              <a:rPr sz="1000" kern="0" spc="26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9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6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10</a:t>
            </a:r>
            <a:endParaRPr sz="1000" dirty="0">
              <a:latin typeface="PingFang SC"/>
              <a:ea typeface="PingFang SC"/>
              <a:cs typeface="PingFang SC"/>
            </a:endParaRPr>
          </a:p>
          <a:p>
            <a:pPr algn="l" rtl="0" eaLnBrk="0">
              <a:lnSpc>
                <a:spcPct val="104000"/>
              </a:lnSpc>
              <a:tabLst/>
            </a:pPr>
            <a:endParaRPr sz="400" dirty="0">
              <a:latin typeface="Arial"/>
              <a:ea typeface="Arial"/>
              <a:cs typeface="Arial"/>
            </a:endParaRPr>
          </a:p>
          <a:p>
            <a:pPr marL="12700" algn="l" rtl="0" eaLnBrk="0">
              <a:lnSpc>
                <a:spcPct val="88000"/>
              </a:lnSpc>
              <a:spcBef>
                <a:spcPts val="5"/>
              </a:spcBef>
              <a:tabLst/>
            </a:pPr>
            <a:r>
              <a:rPr sz="1000" kern="0" spc="1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A.20</a:t>
            </a:r>
            <a:r>
              <a:rPr sz="1000" kern="0" spc="27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1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棱角性</a:t>
            </a:r>
            <a:r>
              <a:rPr sz="1000" kern="0" spc="6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6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a:t>
            </a:r>
            <a:r>
              <a:rPr sz="1000" kern="0" spc="9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  </a:t>
            </a:r>
            <a:r>
              <a:rPr sz="1000" kern="0" spc="260" dirty="0">
                <a:solidFill>
                  <a:srgbClr val="000000">
                    <a:alpha val="100000"/>
                  </a:srgbClr>
                </a:solidFill>
                <a:latin typeface="PingFang SC"/>
                <a:ea typeface="PingFang SC"/>
                <a:cs typeface="PingFang SC"/>
                <a:hlinkClick r:id="rId12" tooltip="" action="ppaction://hlinksldjump">
                  <a:extLst>
                    <a:ext uri="{DAF060AB-1E55-43B9-8AAB-6FB025537F2F}">
                      <wpsdc:hlinkClr xmlns:wpsdc="http://www.wps.cn/officeDocument/2017/drawingmlCustomData" val="000000"/>
                      <wpsdc:folHlinkClr xmlns:wpsdc="http://www.wps.cn/officeDocument/2017/drawingmlCustomData" val="000000"/>
                      <wpsdc:hlinkUnderline xmlns:wpsdc="http://www.wps.cn/officeDocument/2017/drawingmlCustomData" val="0"/>
                    </a:ext>
                  </a:extLst>
                </a:hlinkClick>
              </a:rPr>
              <a:t>10</a:t>
            </a:r>
            <a:endParaRPr sz="1000" dirty="0">
              <a:latin typeface="PingFang SC"/>
              <a:ea typeface="PingFang SC"/>
              <a:cs typeface="PingFang SC"/>
            </a:endParaRPr>
          </a:p>
        </p:txBody>
      </p:sp>
      <p:sp>
        <p:nvSpPr>
          <p:cNvPr id="24" name="textbox 24"/>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26" name="textbox 26"/>
          <p:cNvSpPr/>
          <p:nvPr/>
        </p:nvSpPr>
        <p:spPr>
          <a:xfrm>
            <a:off x="5767248"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4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28" name="textbox 28"/>
          <p:cNvSpPr/>
          <p:nvPr/>
        </p:nvSpPr>
        <p:spPr>
          <a:xfrm>
            <a:off x="6654621" y="9828340"/>
            <a:ext cx="72390" cy="140335"/>
          </a:xfrm>
          <a:prstGeom prst="rect">
            <a:avLst/>
          </a:prstGeom>
          <a:noFill/>
          <a:ln w="0" cap="flat">
            <a:noFill/>
            <a:prstDash val="solid"/>
            <a:miter lim="0"/>
          </a:ln>
        </p:spPr>
        <p:txBody>
          <a:bodyPr vert="horz" wrap="square" lIns="0" tIns="0" rIns="0" bIns="0"/>
          <a:lstStyle/>
          <a:p>
            <a:pPr algn="l" rtl="0" eaLnBrk="0">
              <a:lnSpc>
                <a:spcPct val="86413"/>
              </a:lnSpc>
              <a:tabLst/>
            </a:pPr>
            <a:endParaRPr sz="100" dirty="0">
              <a:latin typeface="Arial"/>
              <a:ea typeface="Arial"/>
              <a:cs typeface="Arial"/>
            </a:endParaRPr>
          </a:p>
          <a:p>
            <a:pPr marL="12700" algn="l" rtl="0" eaLnBrk="0">
              <a:lnSpc>
                <a:spcPct val="83000"/>
              </a:lnSpc>
              <a:tabLst/>
            </a:pPr>
            <a:r>
              <a:rPr sz="900" kern="0" spc="140" dirty="0">
                <a:solidFill>
                  <a:srgbClr val="000000">
                    <a:alpha val="100000"/>
                  </a:srgbClr>
                </a:solidFill>
                <a:latin typeface="PingFang SC"/>
                <a:ea typeface="PingFang SC"/>
                <a:cs typeface="PingFang SC"/>
              </a:rPr>
              <a:t>I</a:t>
            </a:r>
            <a:endParaRPr sz="900" dirty="0">
              <a:latin typeface="PingFang SC"/>
              <a:ea typeface="PingFang SC"/>
              <a:cs typeface="PingFang S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30"/>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32" name="textbox 32"/>
          <p:cNvSpPr/>
          <p:nvPr/>
        </p:nvSpPr>
        <p:spPr>
          <a:xfrm>
            <a:off x="712394"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5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34" name="textbox 34"/>
          <p:cNvSpPr/>
          <p:nvPr/>
        </p:nvSpPr>
        <p:spPr>
          <a:xfrm>
            <a:off x="857884" y="9828340"/>
            <a:ext cx="130175" cy="140335"/>
          </a:xfrm>
          <a:prstGeom prst="rect">
            <a:avLst/>
          </a:prstGeom>
          <a:noFill/>
          <a:ln w="0" cap="flat">
            <a:noFill/>
            <a:prstDash val="solid"/>
            <a:miter lim="0"/>
          </a:ln>
        </p:spPr>
        <p:txBody>
          <a:bodyPr vert="horz" wrap="square" lIns="0" tIns="0" rIns="0" bIns="0"/>
          <a:lstStyle/>
          <a:p>
            <a:pPr algn="l" rtl="0" eaLnBrk="0">
              <a:lnSpc>
                <a:spcPct val="86413"/>
              </a:lnSpc>
              <a:tabLst/>
            </a:pPr>
            <a:endParaRPr sz="100" dirty="0">
              <a:latin typeface="Arial"/>
              <a:ea typeface="Arial"/>
              <a:cs typeface="Arial"/>
            </a:endParaRPr>
          </a:p>
          <a:p>
            <a:pPr marL="12700" algn="l" rtl="0" eaLnBrk="0">
              <a:lnSpc>
                <a:spcPct val="83000"/>
              </a:lnSpc>
              <a:tabLst/>
            </a:pPr>
            <a:r>
              <a:rPr sz="900" kern="0" spc="190" dirty="0">
                <a:solidFill>
                  <a:srgbClr val="000000">
                    <a:alpha val="100000"/>
                  </a:srgbClr>
                </a:solidFill>
                <a:latin typeface="PingFang SC"/>
                <a:ea typeface="PingFang SC"/>
                <a:cs typeface="PingFang SC"/>
              </a:rPr>
              <a:t>II</a:t>
            </a:r>
            <a:endParaRPr sz="900" dirty="0">
              <a:latin typeface="PingFang SC"/>
              <a:ea typeface="PingFang SC"/>
              <a:cs typeface="PingFang S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6"/>
          <p:cNvSpPr/>
          <p:nvPr/>
        </p:nvSpPr>
        <p:spPr>
          <a:xfrm>
            <a:off x="891995" y="1297817"/>
            <a:ext cx="5893435" cy="2448560"/>
          </a:xfrm>
          <a:prstGeom prst="rect">
            <a:avLst/>
          </a:prstGeom>
          <a:noFill/>
          <a:ln w="0" cap="flat">
            <a:noFill/>
            <a:prstDash val="solid"/>
            <a:miter lim="0"/>
          </a:ln>
        </p:spPr>
        <p:txBody>
          <a:bodyPr vert="horz" wrap="square" lIns="0" tIns="0" rIns="0" bIns="0"/>
          <a:lstStyle/>
          <a:p>
            <a:pPr algn="l" rtl="0" eaLnBrk="0">
              <a:lnSpc>
                <a:spcPct val="78469"/>
              </a:lnSpc>
              <a:tabLst/>
            </a:pPr>
            <a:endParaRPr sz="100" dirty="0">
              <a:latin typeface="Arial"/>
              <a:ea typeface="Arial"/>
              <a:cs typeface="Arial"/>
            </a:endParaRPr>
          </a:p>
          <a:p>
            <a:pPr marL="2680970" algn="l" rtl="0" eaLnBrk="0">
              <a:lnSpc>
                <a:spcPct val="89000"/>
              </a:lnSpc>
              <a:tabLst/>
            </a:pPr>
            <a:r>
              <a:rPr sz="1500" kern="0" spc="10" dirty="0">
                <a:solidFill>
                  <a:srgbClr val="000000">
                    <a:alpha val="100000"/>
                  </a:srgbClr>
                </a:solidFill>
                <a:latin typeface="PingFang SC"/>
                <a:ea typeface="PingFang SC"/>
                <a:cs typeface="PingFang SC"/>
              </a:rPr>
              <a:t>前</a:t>
            </a:r>
            <a:r>
              <a:rPr sz="1500" kern="0" spc="70" dirty="0">
                <a:solidFill>
                  <a:srgbClr val="000000">
                    <a:alpha val="100000"/>
                  </a:srgbClr>
                </a:solidFill>
                <a:latin typeface="PingFang SC"/>
                <a:ea typeface="PingFang SC"/>
                <a:cs typeface="PingFang SC"/>
              </a:rPr>
              <a:t>   </a:t>
            </a:r>
            <a:r>
              <a:rPr sz="1500" kern="0" spc="10" dirty="0">
                <a:solidFill>
                  <a:srgbClr val="000000">
                    <a:alpha val="100000"/>
                  </a:srgbClr>
                </a:solidFill>
                <a:latin typeface="PingFang SC"/>
                <a:ea typeface="PingFang SC"/>
                <a:cs typeface="PingFang SC"/>
              </a:rPr>
              <a:t>言</a:t>
            </a:r>
            <a:endParaRPr sz="1500" dirty="0">
              <a:latin typeface="PingFang SC"/>
              <a:ea typeface="PingFang SC"/>
              <a:cs typeface="PingFang SC"/>
            </a:endParaRPr>
          </a:p>
          <a:p>
            <a:pPr algn="l" rtl="0" eaLnBrk="0">
              <a:lnSpc>
                <a:spcPct val="146000"/>
              </a:lnSpc>
              <a:tabLst/>
            </a:pPr>
            <a:endParaRPr sz="1000" dirty="0">
              <a:latin typeface="Arial"/>
              <a:ea typeface="Arial"/>
              <a:cs typeface="Arial"/>
            </a:endParaRPr>
          </a:p>
          <a:p>
            <a:pPr algn="l" rtl="0" eaLnBrk="0">
              <a:lnSpc>
                <a:spcPct val="146000"/>
              </a:lnSpc>
              <a:tabLst/>
            </a:pPr>
            <a:endParaRPr sz="1000" dirty="0">
              <a:latin typeface="Arial"/>
              <a:ea typeface="Arial"/>
              <a:cs typeface="Arial"/>
            </a:endParaRPr>
          </a:p>
          <a:p>
            <a:pPr marL="279400" algn="l" rtl="0" eaLnBrk="0">
              <a:lnSpc>
                <a:spcPct val="88000"/>
              </a:lnSpc>
              <a:spcBef>
                <a:spcPts val="308"/>
              </a:spcBef>
              <a:tabLst/>
            </a:pPr>
            <a:r>
              <a:rPr sz="1000" kern="0" spc="30" dirty="0">
                <a:solidFill>
                  <a:srgbClr val="000000">
                    <a:alpha val="100000"/>
                  </a:srgbClr>
                </a:solidFill>
                <a:latin typeface="PingFang SC"/>
                <a:ea typeface="PingFang SC"/>
                <a:cs typeface="PingFang SC"/>
              </a:rPr>
              <a:t>本文件按照</a:t>
            </a:r>
            <a:r>
              <a:rPr sz="1000" kern="0" spc="0" dirty="0">
                <a:solidFill>
                  <a:srgbClr val="000000">
                    <a:alpha val="100000"/>
                  </a:srgbClr>
                </a:solidFill>
                <a:latin typeface="PingFang SC"/>
                <a:ea typeface="PingFang SC"/>
                <a:cs typeface="PingFang SC"/>
              </a:rPr>
              <a:t>GB</a:t>
            </a:r>
            <a:r>
              <a:rPr sz="1000" kern="0" spc="30" dirty="0">
                <a:solidFill>
                  <a:srgbClr val="000000">
                    <a:alpha val="100000"/>
                  </a:srgbClr>
                </a:solidFill>
                <a:latin typeface="PingFang SC"/>
                <a:ea typeface="PingFang SC"/>
                <a:cs typeface="PingFang SC"/>
              </a:rPr>
              <a:t>/T</a:t>
            </a:r>
            <a:r>
              <a:rPr sz="1000" kern="0" spc="290" dirty="0">
                <a:solidFill>
                  <a:srgbClr val="000000">
                    <a:alpha val="100000"/>
                  </a:srgbClr>
                </a:solidFill>
                <a:latin typeface="PingFang SC"/>
                <a:ea typeface="PingFang SC"/>
                <a:cs typeface="PingFang SC"/>
              </a:rPr>
              <a:t> </a:t>
            </a:r>
            <a:r>
              <a:rPr sz="1000" kern="0" spc="30" dirty="0">
                <a:solidFill>
                  <a:srgbClr val="000000">
                    <a:alpha val="100000"/>
                  </a:srgbClr>
                </a:solidFill>
                <a:latin typeface="PingFang SC"/>
                <a:ea typeface="PingFang SC"/>
                <a:cs typeface="PingFang SC"/>
              </a:rPr>
              <a:t>1.1—2020《标准化工作导则</a:t>
            </a:r>
            <a:r>
              <a:rPr sz="1000" kern="0" spc="220" dirty="0">
                <a:solidFill>
                  <a:srgbClr val="000000">
                    <a:alpha val="100000"/>
                  </a:srgbClr>
                </a:solidFill>
                <a:latin typeface="PingFang SC"/>
                <a:ea typeface="PingFang SC"/>
                <a:cs typeface="PingFang SC"/>
              </a:rPr>
              <a:t> </a:t>
            </a:r>
            <a:r>
              <a:rPr sz="1000" kern="0" spc="20" dirty="0">
                <a:solidFill>
                  <a:srgbClr val="000000">
                    <a:alpha val="100000"/>
                  </a:srgbClr>
                </a:solidFill>
                <a:latin typeface="PingFang SC"/>
                <a:ea typeface="PingFang SC"/>
                <a:cs typeface="PingFang SC"/>
              </a:rPr>
              <a:t>第1部分》给出的规则起草。</a:t>
            </a:r>
            <a:endParaRPr sz="1000" dirty="0">
              <a:latin typeface="PingFang SC"/>
              <a:ea typeface="PingFang SC"/>
              <a:cs typeface="PingFang SC"/>
            </a:endParaRPr>
          </a:p>
          <a:p>
            <a:pPr marL="279400" algn="l" rtl="0" eaLnBrk="0">
              <a:lnSpc>
                <a:spcPct val="88000"/>
              </a:lnSpc>
              <a:spcBef>
                <a:spcPts val="504"/>
              </a:spcBef>
              <a:tabLst/>
            </a:pPr>
            <a:r>
              <a:rPr sz="1000" kern="0" spc="50" dirty="0">
                <a:solidFill>
                  <a:srgbClr val="000000">
                    <a:alpha val="100000"/>
                  </a:srgbClr>
                </a:solidFill>
                <a:latin typeface="PingFang SC"/>
                <a:ea typeface="PingFang SC"/>
                <a:cs typeface="PingFang SC"/>
              </a:rPr>
              <a:t>本文件由中国荷斯坦牛后裔测定香山联盟、奶牛育种自</a:t>
            </a:r>
            <a:r>
              <a:rPr sz="1000" kern="0" spc="40" dirty="0">
                <a:solidFill>
                  <a:srgbClr val="000000">
                    <a:alpha val="100000"/>
                  </a:srgbClr>
                </a:solidFill>
                <a:latin typeface="PingFang SC"/>
                <a:ea typeface="PingFang SC"/>
                <a:cs typeface="PingFang SC"/>
              </a:rPr>
              <a:t>主创新联盟提出。</a:t>
            </a:r>
            <a:endParaRPr sz="1000" dirty="0">
              <a:latin typeface="PingFang SC"/>
              <a:ea typeface="PingFang SC"/>
              <a:cs typeface="PingFang SC"/>
            </a:endParaRPr>
          </a:p>
          <a:p>
            <a:pPr marL="12700" indent="266700" algn="l" rtl="0" eaLnBrk="0">
              <a:lnSpc>
                <a:spcPct val="129000"/>
              </a:lnSpc>
              <a:spcBef>
                <a:spcPts val="192"/>
              </a:spcBef>
              <a:tabLst/>
            </a:pPr>
            <a:r>
              <a:rPr sz="1000" kern="0" spc="50" dirty="0">
                <a:solidFill>
                  <a:srgbClr val="000000">
                    <a:alpha val="100000"/>
                  </a:srgbClr>
                </a:solidFill>
                <a:latin typeface="PingFang SC"/>
                <a:ea typeface="PingFang SC"/>
                <a:cs typeface="PingFang SC"/>
              </a:rPr>
              <a:t>本文件起草单位：北京奶牛中心、中国奶业协会、</a:t>
            </a:r>
            <a:r>
              <a:rPr sz="1000" kern="0" spc="40" dirty="0">
                <a:solidFill>
                  <a:srgbClr val="000000">
                    <a:alpha val="100000"/>
                  </a:srgbClr>
                </a:solidFill>
                <a:latin typeface="PingFang SC"/>
                <a:ea typeface="PingFang SC"/>
                <a:cs typeface="PingFang SC"/>
              </a:rPr>
              <a:t>中国农业大学、北京首农畜牧发展有限公司、</a:t>
            </a:r>
            <a:r>
              <a:rPr sz="1000" kern="0" spc="50" dirty="0">
                <a:solidFill>
                  <a:srgbClr val="000000">
                    <a:alpha val="100000"/>
                  </a:srgbClr>
                </a:solidFill>
                <a:latin typeface="PingFang SC"/>
                <a:ea typeface="PingFang SC"/>
                <a:cs typeface="PingFang SC"/>
              </a:rPr>
              <a:t>上海奶牛育种中心有限公司、天津天食牛种业有限公司、新疆天山畜牧生物工程股份有限公司、</a:t>
            </a:r>
            <a:r>
              <a:rPr sz="1000" kern="0" spc="40" dirty="0">
                <a:solidFill>
                  <a:srgbClr val="000000">
                    <a:alpha val="100000"/>
                  </a:srgbClr>
                </a:solidFill>
                <a:latin typeface="PingFang SC"/>
                <a:ea typeface="PingFang SC"/>
                <a:cs typeface="PingFang SC"/>
              </a:rPr>
              <a:t>黑龙</a:t>
            </a:r>
            <a:r>
              <a:rPr sz="1000" kern="0" spc="50" dirty="0">
                <a:solidFill>
                  <a:srgbClr val="000000">
                    <a:alpha val="100000"/>
                  </a:srgbClr>
                </a:solidFill>
                <a:latin typeface="PingFang SC"/>
                <a:ea typeface="PingFang SC"/>
                <a:cs typeface="PingFang SC"/>
              </a:rPr>
              <a:t>江省畜牧总站、内蒙古西部良种奶牛繁育中心、宁夏农垦贺兰山奶业有限公司、上海荷斯坦科技</a:t>
            </a:r>
            <a:r>
              <a:rPr sz="1000" kern="0" spc="40" dirty="0">
                <a:solidFill>
                  <a:srgbClr val="000000">
                    <a:alpha val="100000"/>
                  </a:srgbClr>
                </a:solidFill>
                <a:latin typeface="PingFang SC"/>
                <a:ea typeface="PingFang SC"/>
                <a:cs typeface="PingFang SC"/>
              </a:rPr>
              <a:t>有限</a:t>
            </a:r>
            <a:r>
              <a:rPr sz="1000" kern="0" spc="50" dirty="0">
                <a:solidFill>
                  <a:srgbClr val="000000">
                    <a:alpha val="100000"/>
                  </a:srgbClr>
                </a:solidFill>
                <a:latin typeface="PingFang SC"/>
                <a:ea typeface="PingFang SC"/>
                <a:cs typeface="PingFang SC"/>
              </a:rPr>
              <a:t>公司、蒙牛集团奶牛研究院、北大荒完达山乳业股份有限公司、中地乳业集团有限公司、天津梦</a:t>
            </a:r>
            <a:r>
              <a:rPr sz="1000" kern="0" spc="40" dirty="0">
                <a:solidFill>
                  <a:srgbClr val="000000">
                    <a:alpha val="100000"/>
                  </a:srgbClr>
                </a:solidFill>
                <a:latin typeface="PingFang SC"/>
                <a:ea typeface="PingFang SC"/>
                <a:cs typeface="PingFang SC"/>
              </a:rPr>
              <a:t>得集</a:t>
            </a:r>
            <a:r>
              <a:rPr sz="1000" kern="0" spc="30" dirty="0">
                <a:solidFill>
                  <a:srgbClr val="000000">
                    <a:alpha val="100000"/>
                  </a:srgbClr>
                </a:solidFill>
                <a:latin typeface="PingFang SC"/>
                <a:ea typeface="PingFang SC"/>
                <a:cs typeface="PingFang SC"/>
              </a:rPr>
              <a:t>团有限公司。</a:t>
            </a:r>
            <a:endParaRPr sz="1000" dirty="0">
              <a:latin typeface="PingFang SC"/>
              <a:ea typeface="PingFang SC"/>
              <a:cs typeface="PingFang SC"/>
            </a:endParaRPr>
          </a:p>
          <a:p>
            <a:pPr marL="12700" indent="266700" algn="l" rtl="0" eaLnBrk="0">
              <a:lnSpc>
                <a:spcPct val="128000"/>
              </a:lnSpc>
              <a:spcBef>
                <a:spcPts val="51"/>
              </a:spcBef>
              <a:tabLst/>
            </a:pPr>
            <a:r>
              <a:rPr sz="1000" kern="0" spc="50" dirty="0">
                <a:solidFill>
                  <a:srgbClr val="000000">
                    <a:alpha val="100000"/>
                  </a:srgbClr>
                </a:solidFill>
                <a:latin typeface="PingFang SC"/>
                <a:ea typeface="PingFang SC"/>
                <a:cs typeface="PingFang SC"/>
              </a:rPr>
              <a:t>本文件主要起草人：</a:t>
            </a:r>
            <a:r>
              <a:rPr sz="1000" kern="0" spc="-190" dirty="0">
                <a:solidFill>
                  <a:srgbClr val="000000">
                    <a:alpha val="100000"/>
                  </a:srgbClr>
                </a:solidFill>
                <a:latin typeface="PingFang SC"/>
                <a:ea typeface="PingFang SC"/>
                <a:cs typeface="PingFang SC"/>
              </a:rPr>
              <a:t> </a:t>
            </a:r>
            <a:r>
              <a:rPr sz="1000" kern="0" spc="50" dirty="0">
                <a:solidFill>
                  <a:srgbClr val="000000">
                    <a:alpha val="100000"/>
                  </a:srgbClr>
                </a:solidFill>
                <a:latin typeface="PingFang SC"/>
                <a:ea typeface="PingFang SC"/>
                <a:cs typeface="PingFang SC"/>
              </a:rPr>
              <a:t>张建聪、侯自鹏、刘林、王雅春、陈</a:t>
            </a:r>
            <a:r>
              <a:rPr sz="1000" kern="0" spc="40" dirty="0">
                <a:solidFill>
                  <a:srgbClr val="000000">
                    <a:alpha val="100000"/>
                  </a:srgbClr>
                </a:solidFill>
                <a:latin typeface="PingFang SC"/>
                <a:ea typeface="PingFang SC"/>
                <a:cs typeface="PingFang SC"/>
              </a:rPr>
              <a:t>绍祜、闫青霞、石万海、赵晓铎、李红</a:t>
            </a:r>
            <a:r>
              <a:rPr sz="1000" kern="0" spc="50" dirty="0">
                <a:solidFill>
                  <a:srgbClr val="000000">
                    <a:alpha val="100000"/>
                  </a:srgbClr>
                </a:solidFill>
                <a:latin typeface="PingFang SC"/>
                <a:ea typeface="PingFang SC"/>
                <a:cs typeface="PingFang SC"/>
              </a:rPr>
              <a:t>燕、汪湛、王鹏、王珂、宁晓波、宋慧亭、田茂、刘军、</a:t>
            </a:r>
            <a:r>
              <a:rPr sz="1000" kern="0" spc="40" dirty="0">
                <a:solidFill>
                  <a:srgbClr val="000000">
                    <a:alpha val="100000"/>
                  </a:srgbClr>
                </a:solidFill>
                <a:latin typeface="PingFang SC"/>
                <a:ea typeface="PingFang SC"/>
                <a:cs typeface="PingFang SC"/>
              </a:rPr>
              <a:t>王现军、王洋。</a:t>
            </a:r>
            <a:endParaRPr sz="1000" dirty="0">
              <a:latin typeface="PingFang SC"/>
              <a:ea typeface="PingFang SC"/>
              <a:cs typeface="PingFang SC"/>
            </a:endParaRPr>
          </a:p>
        </p:txBody>
      </p:sp>
      <p:sp>
        <p:nvSpPr>
          <p:cNvPr id="38" name="textbox 38"/>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40" name="textbox 40"/>
          <p:cNvSpPr/>
          <p:nvPr/>
        </p:nvSpPr>
        <p:spPr>
          <a:xfrm>
            <a:off x="5767248"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4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42" name="textbox 42"/>
          <p:cNvSpPr/>
          <p:nvPr/>
        </p:nvSpPr>
        <p:spPr>
          <a:xfrm>
            <a:off x="6540321" y="9828340"/>
            <a:ext cx="187960" cy="140335"/>
          </a:xfrm>
          <a:prstGeom prst="rect">
            <a:avLst/>
          </a:prstGeom>
          <a:noFill/>
          <a:ln w="0" cap="flat">
            <a:noFill/>
            <a:prstDash val="solid"/>
            <a:miter lim="0"/>
          </a:ln>
        </p:spPr>
        <p:txBody>
          <a:bodyPr vert="horz" wrap="square" lIns="0" tIns="0" rIns="0" bIns="0"/>
          <a:lstStyle/>
          <a:p>
            <a:pPr algn="l" rtl="0" eaLnBrk="0">
              <a:lnSpc>
                <a:spcPct val="86413"/>
              </a:lnSpc>
              <a:tabLst/>
            </a:pPr>
            <a:endParaRPr sz="100" dirty="0">
              <a:latin typeface="Arial"/>
              <a:ea typeface="Arial"/>
              <a:cs typeface="Arial"/>
            </a:endParaRPr>
          </a:p>
          <a:p>
            <a:pPr marL="12700" algn="l" rtl="0" eaLnBrk="0">
              <a:lnSpc>
                <a:spcPct val="83000"/>
              </a:lnSpc>
              <a:tabLst/>
            </a:pPr>
            <a:r>
              <a:rPr sz="900" kern="0" spc="200" dirty="0">
                <a:solidFill>
                  <a:srgbClr val="000000">
                    <a:alpha val="100000"/>
                  </a:srgbClr>
                </a:solidFill>
                <a:latin typeface="PingFang SC"/>
                <a:ea typeface="PingFang SC"/>
                <a:cs typeface="PingFang SC"/>
              </a:rPr>
              <a:t>III</a:t>
            </a:r>
            <a:endParaRPr sz="900" dirty="0">
              <a:latin typeface="PingFang SC"/>
              <a:ea typeface="PingFang SC"/>
              <a:cs typeface="PingFang S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4"/>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6"/>
          <p:cNvSpPr/>
          <p:nvPr/>
        </p:nvSpPr>
        <p:spPr>
          <a:xfrm>
            <a:off x="888374" y="1668150"/>
            <a:ext cx="6014085" cy="8011794"/>
          </a:xfrm>
          <a:prstGeom prst="rect">
            <a:avLst/>
          </a:prstGeom>
          <a:noFill/>
          <a:ln w="0" cap="flat">
            <a:noFill/>
            <a:prstDash val="solid"/>
            <a:miter lim="0"/>
          </a:ln>
        </p:spPr>
        <p:txBody>
          <a:bodyPr vert="horz" wrap="square" lIns="0" tIns="0" rIns="0" bIns="0"/>
          <a:lstStyle/>
          <a:p>
            <a:pPr algn="l" rtl="0" eaLnBrk="0">
              <a:lnSpc>
                <a:spcPct val="78469"/>
              </a:lnSpc>
              <a:tabLst/>
            </a:pPr>
            <a:endParaRPr sz="100" dirty="0">
              <a:latin typeface="Arial"/>
              <a:ea typeface="Arial"/>
              <a:cs typeface="Arial"/>
            </a:endParaRPr>
          </a:p>
          <a:p>
            <a:pPr marL="1565910" algn="l" rtl="0" eaLnBrk="0">
              <a:lnSpc>
                <a:spcPct val="89000"/>
              </a:lnSpc>
              <a:tabLst/>
            </a:pPr>
            <a:r>
              <a:rPr sz="1500" kern="0" spc="90" dirty="0">
                <a:solidFill>
                  <a:srgbClr val="000000">
                    <a:alpha val="100000"/>
                  </a:srgbClr>
                </a:solidFill>
                <a:latin typeface="PingFang SC"/>
                <a:ea typeface="PingFang SC"/>
                <a:cs typeface="PingFang SC"/>
              </a:rPr>
              <a:t>荷斯坦牛体型鉴定操作技术规范</a:t>
            </a:r>
            <a:endParaRPr sz="1500" dirty="0">
              <a:latin typeface="PingFang SC"/>
              <a:ea typeface="PingFang SC"/>
              <a:cs typeface="PingFang SC"/>
            </a:endParaRPr>
          </a:p>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marL="22860" algn="l" rtl="0" eaLnBrk="0">
              <a:lnSpc>
                <a:spcPct val="88000"/>
              </a:lnSpc>
              <a:spcBef>
                <a:spcPts val="308"/>
              </a:spcBef>
              <a:tabLst/>
            </a:pPr>
            <a:r>
              <a:rPr sz="1000" kern="0" spc="20" dirty="0">
                <a:solidFill>
                  <a:srgbClr val="000000">
                    <a:alpha val="100000"/>
                  </a:srgbClr>
                </a:solidFill>
                <a:latin typeface="PingFang SC"/>
                <a:ea typeface="PingFang SC"/>
                <a:cs typeface="PingFang SC"/>
              </a:rPr>
              <a:t>1</a:t>
            </a:r>
            <a:r>
              <a:rPr sz="1000" kern="0" spc="30" dirty="0">
                <a:solidFill>
                  <a:srgbClr val="000000">
                    <a:alpha val="100000"/>
                  </a:srgbClr>
                </a:solidFill>
                <a:latin typeface="PingFang SC"/>
                <a:ea typeface="PingFang SC"/>
                <a:cs typeface="PingFang SC"/>
              </a:rPr>
              <a:t>   </a:t>
            </a:r>
            <a:r>
              <a:rPr sz="1000" kern="0" spc="20" dirty="0">
                <a:solidFill>
                  <a:srgbClr val="000000">
                    <a:alpha val="100000"/>
                  </a:srgbClr>
                </a:solidFill>
                <a:latin typeface="PingFang SC"/>
                <a:ea typeface="PingFang SC"/>
                <a:cs typeface="PingFang SC"/>
              </a:rPr>
              <a:t>范围</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283210" algn="l" rtl="0" eaLnBrk="0">
              <a:lnSpc>
                <a:spcPct val="88000"/>
              </a:lnSpc>
              <a:spcBef>
                <a:spcPts val="300"/>
              </a:spcBef>
              <a:tabLst/>
            </a:pPr>
            <a:r>
              <a:rPr sz="1000" kern="0" spc="50" dirty="0">
                <a:solidFill>
                  <a:srgbClr val="000000">
                    <a:alpha val="100000"/>
                  </a:srgbClr>
                </a:solidFill>
                <a:latin typeface="PingFang SC"/>
                <a:ea typeface="PingFang SC"/>
                <a:cs typeface="PingFang SC"/>
              </a:rPr>
              <a:t>本文件规定了荷斯坦母牛体型鉴定的具体操作技术规范</a:t>
            </a:r>
            <a:r>
              <a:rPr sz="1000" kern="0" spc="40" dirty="0">
                <a:solidFill>
                  <a:srgbClr val="000000">
                    <a:alpha val="100000"/>
                  </a:srgbClr>
                </a:solidFill>
                <a:latin typeface="PingFang SC"/>
                <a:ea typeface="PingFang SC"/>
                <a:cs typeface="PingFang SC"/>
              </a:rPr>
              <a:t>和线性评分要求。</a:t>
            </a:r>
            <a:endParaRPr sz="1000" dirty="0">
              <a:latin typeface="PingFang SC"/>
              <a:ea typeface="PingFang SC"/>
              <a:cs typeface="PingFang SC"/>
            </a:endParaRPr>
          </a:p>
          <a:p>
            <a:pPr marL="283210" algn="l" rtl="0" eaLnBrk="0">
              <a:lnSpc>
                <a:spcPct val="88000"/>
              </a:lnSpc>
              <a:spcBef>
                <a:spcPts val="504"/>
              </a:spcBef>
              <a:tabLst/>
            </a:pPr>
            <a:r>
              <a:rPr sz="1000" kern="0" spc="50" dirty="0">
                <a:solidFill>
                  <a:srgbClr val="000000">
                    <a:alpha val="100000"/>
                  </a:srgbClr>
                </a:solidFill>
                <a:latin typeface="PingFang SC"/>
                <a:ea typeface="PingFang SC"/>
                <a:cs typeface="PingFang SC"/>
              </a:rPr>
              <a:t>本文件适用于中国奶牛体型鉴定员对荷斯坦母牛进行体型鉴定，对其他品种牛</a:t>
            </a:r>
            <a:r>
              <a:rPr sz="1000" kern="0" spc="40" dirty="0">
                <a:solidFill>
                  <a:srgbClr val="000000">
                    <a:alpha val="100000"/>
                  </a:srgbClr>
                </a:solidFill>
                <a:latin typeface="PingFang SC"/>
                <a:ea typeface="PingFang SC"/>
                <a:cs typeface="PingFang SC"/>
              </a:rPr>
              <a:t>只可参照执行。</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5240" algn="l" rtl="0" eaLnBrk="0">
              <a:lnSpc>
                <a:spcPct val="88000"/>
              </a:lnSpc>
              <a:spcBef>
                <a:spcPts val="300"/>
              </a:spcBef>
              <a:tabLst/>
            </a:pPr>
            <a:r>
              <a:rPr sz="1000" kern="0" spc="20" dirty="0">
                <a:solidFill>
                  <a:srgbClr val="000000">
                    <a:alpha val="100000"/>
                  </a:srgbClr>
                </a:solidFill>
                <a:latin typeface="PingFang SC"/>
                <a:ea typeface="PingFang SC"/>
                <a:cs typeface="PingFang SC"/>
              </a:rPr>
              <a:t>2   规范性引用文件</a:t>
            </a:r>
            <a:endParaRPr sz="1000" dirty="0">
              <a:latin typeface="PingFang SC"/>
              <a:ea typeface="PingFang SC"/>
              <a:cs typeface="PingFang SC"/>
            </a:endParaRPr>
          </a:p>
          <a:p>
            <a:pPr algn="l" rtl="0" eaLnBrk="0">
              <a:lnSpc>
                <a:spcPct val="119000"/>
              </a:lnSpc>
              <a:tabLst/>
            </a:pPr>
            <a:endParaRPr sz="1000" dirty="0">
              <a:latin typeface="Arial"/>
              <a:ea typeface="Arial"/>
              <a:cs typeface="Arial"/>
            </a:endParaRPr>
          </a:p>
          <a:p>
            <a:pPr marL="18415" indent="267970" algn="l" rtl="0" eaLnBrk="0">
              <a:lnSpc>
                <a:spcPct val="126000"/>
              </a:lnSpc>
              <a:spcBef>
                <a:spcPts val="310"/>
              </a:spcBef>
              <a:tabLst/>
            </a:pPr>
            <a:r>
              <a:rPr sz="1000" kern="0" spc="30" dirty="0">
                <a:solidFill>
                  <a:srgbClr val="000000">
                    <a:alpha val="100000"/>
                  </a:srgbClr>
                </a:solidFill>
                <a:latin typeface="PingFang SC"/>
                <a:ea typeface="PingFang SC"/>
                <a:cs typeface="PingFang SC"/>
              </a:rPr>
              <a:t>下列文件对于本文件的应用是必不</a:t>
            </a:r>
            <a:r>
              <a:rPr sz="1000" kern="0" spc="20" dirty="0">
                <a:solidFill>
                  <a:srgbClr val="000000">
                    <a:alpha val="100000"/>
                  </a:srgbClr>
                </a:solidFill>
                <a:latin typeface="PingFang SC"/>
                <a:ea typeface="PingFang SC"/>
                <a:cs typeface="PingFang SC"/>
              </a:rPr>
              <a:t>可少的。凡是注日期的引用文件，仅注日期的版本适用于本文件。</a:t>
            </a:r>
            <a:r>
              <a:rPr sz="1000" kern="0" spc="50" dirty="0">
                <a:solidFill>
                  <a:srgbClr val="000000">
                    <a:alpha val="100000"/>
                  </a:srgbClr>
                </a:solidFill>
                <a:latin typeface="PingFang SC"/>
                <a:ea typeface="PingFang SC"/>
                <a:cs typeface="PingFang SC"/>
              </a:rPr>
              <a:t>凡是不注日期的引用文件，其最新版本（包括所有的修改</a:t>
            </a:r>
            <a:r>
              <a:rPr sz="1000" kern="0" spc="40" dirty="0">
                <a:solidFill>
                  <a:srgbClr val="000000">
                    <a:alpha val="100000"/>
                  </a:srgbClr>
                </a:solidFill>
                <a:latin typeface="PingFang SC"/>
                <a:ea typeface="PingFang SC"/>
                <a:cs typeface="PingFang SC"/>
              </a:rPr>
              <a:t>单）适用于本文件。</a:t>
            </a:r>
            <a:endParaRPr sz="1000" dirty="0">
              <a:latin typeface="PingFang SC"/>
              <a:ea typeface="PingFang SC"/>
              <a:cs typeface="PingFang SC"/>
            </a:endParaRPr>
          </a:p>
          <a:p>
            <a:pPr marL="281305" algn="l" rtl="0" eaLnBrk="0">
              <a:lnSpc>
                <a:spcPct val="88000"/>
              </a:lnSpc>
              <a:spcBef>
                <a:spcPts val="425"/>
              </a:spcBef>
              <a:tabLst/>
            </a:pPr>
            <a:r>
              <a:rPr sz="1000" kern="0" spc="-30" dirty="0">
                <a:solidFill>
                  <a:srgbClr val="000000">
                    <a:alpha val="100000"/>
                  </a:srgbClr>
                </a:solidFill>
                <a:latin typeface="PingFang SC"/>
                <a:ea typeface="PingFang SC"/>
                <a:cs typeface="PingFang SC"/>
              </a:rPr>
              <a:t>GB/T</a:t>
            </a:r>
            <a:r>
              <a:rPr sz="1000" kern="0" spc="290" dirty="0">
                <a:solidFill>
                  <a:srgbClr val="000000">
                    <a:alpha val="100000"/>
                  </a:srgbClr>
                </a:solidFill>
                <a:latin typeface="PingFang SC"/>
                <a:ea typeface="PingFang SC"/>
                <a:cs typeface="PingFang SC"/>
              </a:rPr>
              <a:t> </a:t>
            </a:r>
            <a:r>
              <a:rPr sz="1000" kern="0" spc="-30" dirty="0">
                <a:solidFill>
                  <a:srgbClr val="000000">
                    <a:alpha val="100000"/>
                  </a:srgbClr>
                </a:solidFill>
                <a:latin typeface="PingFang SC"/>
                <a:ea typeface="PingFang SC"/>
                <a:cs typeface="PingFang SC"/>
              </a:rPr>
              <a:t>3157  中国荷斯坦牛</a:t>
            </a:r>
            <a:endParaRPr sz="1000" dirty="0">
              <a:latin typeface="PingFang SC"/>
              <a:ea typeface="PingFang SC"/>
              <a:cs typeface="PingFang SC"/>
            </a:endParaRPr>
          </a:p>
          <a:p>
            <a:pPr marL="281305" algn="l" rtl="0" eaLnBrk="0">
              <a:lnSpc>
                <a:spcPct val="88000"/>
              </a:lnSpc>
              <a:spcBef>
                <a:spcPts val="504"/>
              </a:spcBef>
              <a:tabLst/>
            </a:pPr>
            <a:r>
              <a:rPr sz="1000" kern="0" spc="-10" dirty="0">
                <a:solidFill>
                  <a:srgbClr val="000000">
                    <a:alpha val="100000"/>
                  </a:srgbClr>
                </a:solidFill>
                <a:latin typeface="PingFang SC"/>
                <a:ea typeface="PingFang SC"/>
                <a:cs typeface="PingFang SC"/>
              </a:rPr>
              <a:t>GB/T</a:t>
            </a:r>
            <a:r>
              <a:rPr sz="1000" kern="0" spc="240" dirty="0">
                <a:solidFill>
                  <a:srgbClr val="000000">
                    <a:alpha val="100000"/>
                  </a:srgbClr>
                </a:solidFill>
                <a:latin typeface="PingFang SC"/>
                <a:ea typeface="PingFang SC"/>
                <a:cs typeface="PingFang SC"/>
              </a:rPr>
              <a:t> </a:t>
            </a:r>
            <a:r>
              <a:rPr sz="1000" kern="0" spc="-10" dirty="0">
                <a:solidFill>
                  <a:srgbClr val="000000">
                    <a:alpha val="100000"/>
                  </a:srgbClr>
                </a:solidFill>
                <a:latin typeface="PingFang SC"/>
                <a:ea typeface="PingFang SC"/>
                <a:cs typeface="PingFang SC"/>
              </a:rPr>
              <a:t>35568</a:t>
            </a:r>
            <a:r>
              <a:rPr sz="1000" kern="0" spc="320" dirty="0">
                <a:solidFill>
                  <a:srgbClr val="000000">
                    <a:alpha val="100000"/>
                  </a:srgbClr>
                </a:solidFill>
                <a:latin typeface="PingFang SC"/>
                <a:ea typeface="PingFang SC"/>
                <a:cs typeface="PingFang SC"/>
              </a:rPr>
              <a:t> </a:t>
            </a:r>
            <a:r>
              <a:rPr sz="1000" kern="0" spc="-10" dirty="0">
                <a:solidFill>
                  <a:srgbClr val="000000">
                    <a:alpha val="100000"/>
                  </a:srgbClr>
                </a:solidFill>
                <a:latin typeface="PingFang SC"/>
                <a:ea typeface="PingFang SC"/>
                <a:cs typeface="PingFang SC"/>
              </a:rPr>
              <a:t>中国</a:t>
            </a:r>
            <a:r>
              <a:rPr sz="1000" kern="0" spc="-20" dirty="0">
                <a:solidFill>
                  <a:srgbClr val="000000">
                    <a:alpha val="100000"/>
                  </a:srgbClr>
                </a:solidFill>
                <a:latin typeface="PingFang SC"/>
                <a:ea typeface="PingFang SC"/>
                <a:cs typeface="PingFang SC"/>
              </a:rPr>
              <a:t>荷斯坦牛体型鉴定技术规程</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5875" algn="l" rtl="0" eaLnBrk="0">
              <a:lnSpc>
                <a:spcPct val="88000"/>
              </a:lnSpc>
              <a:spcBef>
                <a:spcPts val="300"/>
              </a:spcBef>
              <a:tabLst/>
            </a:pPr>
            <a:r>
              <a:rPr sz="1000" kern="0" spc="10" dirty="0">
                <a:solidFill>
                  <a:srgbClr val="000000">
                    <a:alpha val="100000"/>
                  </a:srgbClr>
                </a:solidFill>
                <a:latin typeface="PingFang SC"/>
                <a:ea typeface="PingFang SC"/>
                <a:cs typeface="PingFang SC"/>
              </a:rPr>
              <a:t>3   术语和定义</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287020" algn="l" rtl="0" eaLnBrk="0">
              <a:lnSpc>
                <a:spcPct val="88000"/>
              </a:lnSpc>
              <a:spcBef>
                <a:spcPts val="300"/>
              </a:spcBef>
              <a:tabLst/>
            </a:pPr>
            <a:r>
              <a:rPr sz="1000" kern="0" spc="10" dirty="0">
                <a:solidFill>
                  <a:srgbClr val="000000">
                    <a:alpha val="100000"/>
                  </a:srgbClr>
                </a:solidFill>
                <a:latin typeface="PingFang SC"/>
                <a:ea typeface="PingFang SC"/>
                <a:cs typeface="PingFang SC"/>
              </a:rPr>
              <a:t>下列术语和定义适用于本文件</a:t>
            </a:r>
            <a:r>
              <a:rPr sz="1000" kern="0" spc="0" dirty="0">
                <a:solidFill>
                  <a:srgbClr val="000000">
                    <a:alpha val="100000"/>
                  </a:srgbClr>
                </a:solidFill>
                <a:latin typeface="PingFang SC"/>
                <a:ea typeface="PingFang SC"/>
                <a:cs typeface="PingFang SC"/>
              </a:rPr>
              <a:t>。</a:t>
            </a:r>
            <a:endParaRPr sz="1000" dirty="0">
              <a:latin typeface="PingFang SC"/>
              <a:ea typeface="PingFang SC"/>
              <a:cs typeface="PingFang SC"/>
            </a:endParaRPr>
          </a:p>
          <a:p>
            <a:pPr marL="15875" algn="l" rtl="0" eaLnBrk="0">
              <a:lnSpc>
                <a:spcPct val="88000"/>
              </a:lnSpc>
              <a:spcBef>
                <a:spcPts val="1284"/>
              </a:spcBef>
              <a:tabLst/>
            </a:pPr>
            <a:r>
              <a:rPr sz="1000" kern="0" spc="200" dirty="0">
                <a:solidFill>
                  <a:srgbClr val="000000">
                    <a:alpha val="100000"/>
                  </a:srgbClr>
                </a:solidFill>
                <a:latin typeface="PingFang SC"/>
                <a:ea typeface="PingFang SC"/>
                <a:cs typeface="PingFang SC"/>
              </a:rPr>
              <a:t>3.1</a:t>
            </a:r>
            <a:r>
              <a:rPr sz="1000" kern="0" spc="30" dirty="0">
                <a:solidFill>
                  <a:srgbClr val="000000">
                    <a:alpha val="100000"/>
                  </a:srgbClr>
                </a:solidFill>
                <a:latin typeface="PingFang SC"/>
                <a:ea typeface="PingFang SC"/>
                <a:cs typeface="PingFang SC"/>
              </a:rPr>
              <a:t>   </a:t>
            </a:r>
            <a:r>
              <a:rPr sz="1000" kern="0" spc="200" dirty="0">
                <a:solidFill>
                  <a:srgbClr val="000000">
                    <a:alpha val="100000"/>
                  </a:srgbClr>
                </a:solidFill>
                <a:latin typeface="PingFang SC"/>
                <a:ea typeface="PingFang SC"/>
                <a:cs typeface="PingFang SC"/>
              </a:rPr>
              <a:t>鉴定员</a:t>
            </a:r>
            <a:r>
              <a:rPr sz="1000" kern="0" spc="220" dirty="0">
                <a:solidFill>
                  <a:srgbClr val="000000">
                    <a:alpha val="100000"/>
                  </a:srgbClr>
                </a:solidFill>
                <a:latin typeface="PingFang SC"/>
                <a:ea typeface="PingFang SC"/>
                <a:cs typeface="PingFang SC"/>
              </a:rPr>
              <a:t> </a:t>
            </a:r>
            <a:r>
              <a:rPr sz="1000" kern="0" spc="0" dirty="0">
                <a:solidFill>
                  <a:srgbClr val="000000">
                    <a:alpha val="100000"/>
                  </a:srgbClr>
                </a:solidFill>
                <a:latin typeface="PingFang SC"/>
                <a:ea typeface="PingFang SC"/>
                <a:cs typeface="PingFang SC"/>
              </a:rPr>
              <a:t>class</a:t>
            </a:r>
            <a:r>
              <a:rPr sz="1000" kern="0" spc="-120" dirty="0">
                <a:solidFill>
                  <a:srgbClr val="000000">
                    <a:alpha val="100000"/>
                  </a:srgbClr>
                </a:solidFill>
                <a:latin typeface="PingFang SC"/>
                <a:ea typeface="PingFang SC"/>
                <a:cs typeface="PingFang SC"/>
              </a:rPr>
              <a:t> </a:t>
            </a:r>
            <a:r>
              <a:rPr sz="1000" kern="0" spc="0" dirty="0">
                <a:solidFill>
                  <a:srgbClr val="000000">
                    <a:alpha val="100000"/>
                  </a:srgbClr>
                </a:solidFill>
                <a:latin typeface="PingFang SC"/>
                <a:ea typeface="PingFang SC"/>
                <a:cs typeface="PingFang SC"/>
              </a:rPr>
              <a:t>ifier</a:t>
            </a:r>
            <a:endParaRPr sz="1000" dirty="0">
              <a:latin typeface="PingFang SC"/>
              <a:ea typeface="PingFang SC"/>
              <a:cs typeface="PingFang SC"/>
            </a:endParaRPr>
          </a:p>
          <a:p>
            <a:pPr marL="284480" algn="l" rtl="0" eaLnBrk="0">
              <a:lnSpc>
                <a:spcPct val="88000"/>
              </a:lnSpc>
              <a:spcBef>
                <a:spcPts val="1284"/>
              </a:spcBef>
              <a:tabLst/>
            </a:pPr>
            <a:r>
              <a:rPr sz="1000" kern="0" spc="40" dirty="0">
                <a:solidFill>
                  <a:srgbClr val="000000">
                    <a:alpha val="100000"/>
                  </a:srgbClr>
                </a:solidFill>
                <a:latin typeface="PingFang SC"/>
                <a:ea typeface="PingFang SC"/>
                <a:cs typeface="PingFang SC"/>
              </a:rPr>
              <a:t>鉴定员指中国奶牛体型鉴定员，</a:t>
            </a:r>
            <a:r>
              <a:rPr sz="1000" kern="0" spc="-150" dirty="0">
                <a:solidFill>
                  <a:srgbClr val="000000">
                    <a:alpha val="100000"/>
                  </a:srgbClr>
                </a:solidFill>
                <a:latin typeface="PingFang SC"/>
                <a:ea typeface="PingFang SC"/>
                <a:cs typeface="PingFang SC"/>
              </a:rPr>
              <a:t> </a:t>
            </a:r>
            <a:r>
              <a:rPr sz="1000" kern="0" spc="40" dirty="0">
                <a:solidFill>
                  <a:srgbClr val="000000">
                    <a:alpha val="100000"/>
                  </a:srgbClr>
                </a:solidFill>
                <a:latin typeface="PingFang SC"/>
                <a:ea typeface="PingFang SC"/>
                <a:cs typeface="PingFang SC"/>
              </a:rPr>
              <a:t>包括注册鉴定员和备案鉴定员。</a:t>
            </a:r>
            <a:endParaRPr sz="1000" dirty="0">
              <a:latin typeface="PingFang SC"/>
              <a:ea typeface="PingFang SC"/>
              <a:cs typeface="PingFang SC"/>
            </a:endParaRPr>
          </a:p>
          <a:p>
            <a:pPr marL="15875" algn="l" rtl="0" eaLnBrk="0">
              <a:lnSpc>
                <a:spcPct val="88000"/>
              </a:lnSpc>
              <a:spcBef>
                <a:spcPts val="1286"/>
              </a:spcBef>
              <a:tabLst/>
            </a:pPr>
            <a:r>
              <a:rPr sz="1000" kern="0" spc="70" dirty="0">
                <a:solidFill>
                  <a:srgbClr val="000000">
                    <a:alpha val="100000"/>
                  </a:srgbClr>
                </a:solidFill>
                <a:latin typeface="PingFang SC"/>
                <a:ea typeface="PingFang SC"/>
                <a:cs typeface="PingFang SC"/>
              </a:rPr>
              <a:t>3.2   注册鉴定员</a:t>
            </a:r>
            <a:r>
              <a:rPr sz="1000" kern="0" spc="330" dirty="0">
                <a:solidFill>
                  <a:srgbClr val="000000">
                    <a:alpha val="100000"/>
                  </a:srgbClr>
                </a:solidFill>
                <a:latin typeface="PingFang SC"/>
                <a:ea typeface="PingFang SC"/>
                <a:cs typeface="PingFang SC"/>
              </a:rPr>
              <a:t> </a:t>
            </a:r>
            <a:r>
              <a:rPr sz="1000" kern="0" spc="0" dirty="0">
                <a:solidFill>
                  <a:srgbClr val="000000">
                    <a:alpha val="100000"/>
                  </a:srgbClr>
                </a:solidFill>
                <a:latin typeface="PingFang SC"/>
                <a:ea typeface="PingFang SC"/>
                <a:cs typeface="PingFang SC"/>
              </a:rPr>
              <a:t>registered</a:t>
            </a:r>
            <a:endParaRPr sz="1000" dirty="0">
              <a:latin typeface="PingFang SC"/>
              <a:ea typeface="PingFang SC"/>
              <a:cs typeface="PingFang SC"/>
            </a:endParaRPr>
          </a:p>
          <a:p>
            <a:pPr marL="17780" indent="264795" algn="l" rtl="0" eaLnBrk="0">
              <a:lnSpc>
                <a:spcPct val="128000"/>
              </a:lnSpc>
              <a:spcBef>
                <a:spcPts val="959"/>
              </a:spcBef>
              <a:tabLst/>
            </a:pPr>
            <a:r>
              <a:rPr sz="1000" kern="0" spc="40" dirty="0">
                <a:solidFill>
                  <a:srgbClr val="000000">
                    <a:alpha val="100000"/>
                  </a:srgbClr>
                </a:solidFill>
                <a:latin typeface="PingFang SC"/>
                <a:ea typeface="PingFang SC"/>
                <a:cs typeface="PingFang SC"/>
              </a:rPr>
              <a:t>注册鉴定员是指在中国奶业协会进行注册，获得有效证书和注册编号的，能长期从</a:t>
            </a:r>
            <a:r>
              <a:rPr sz="1000" kern="0" spc="30" dirty="0">
                <a:solidFill>
                  <a:srgbClr val="000000">
                    <a:alpha val="100000"/>
                  </a:srgbClr>
                </a:solidFill>
                <a:latin typeface="PingFang SC"/>
                <a:ea typeface="PingFang SC"/>
                <a:cs typeface="PingFang SC"/>
              </a:rPr>
              <a:t>事奶牛体型鉴定</a:t>
            </a:r>
            <a:r>
              <a:rPr sz="1000" kern="0" spc="30" dirty="0">
                <a:solidFill>
                  <a:srgbClr val="000000">
                    <a:alpha val="100000"/>
                  </a:srgbClr>
                </a:solidFill>
                <a:latin typeface="PingFang SC"/>
                <a:ea typeface="PingFang SC"/>
                <a:cs typeface="PingFang SC"/>
              </a:rPr>
              <a:t>工作的从业人员。</a:t>
            </a:r>
            <a:endParaRPr sz="1000" dirty="0">
              <a:latin typeface="PingFang SC"/>
              <a:ea typeface="PingFang SC"/>
              <a:cs typeface="PingFang SC"/>
            </a:endParaRPr>
          </a:p>
          <a:p>
            <a:pPr marL="15875" algn="l" rtl="0" eaLnBrk="0">
              <a:lnSpc>
                <a:spcPct val="88000"/>
              </a:lnSpc>
              <a:spcBef>
                <a:spcPts val="1153"/>
              </a:spcBef>
              <a:tabLst/>
            </a:pPr>
            <a:r>
              <a:rPr sz="1000" kern="0" spc="40" dirty="0">
                <a:solidFill>
                  <a:srgbClr val="000000">
                    <a:alpha val="100000"/>
                  </a:srgbClr>
                </a:solidFill>
                <a:latin typeface="PingFang SC"/>
                <a:ea typeface="PingFang SC"/>
                <a:cs typeface="PingFang SC"/>
              </a:rPr>
              <a:t>3.3   备案鉴定员</a:t>
            </a:r>
            <a:r>
              <a:rPr sz="1000" kern="0" spc="250" dirty="0">
                <a:solidFill>
                  <a:srgbClr val="000000">
                    <a:alpha val="100000"/>
                  </a:srgbClr>
                </a:solidFill>
                <a:latin typeface="PingFang SC"/>
                <a:ea typeface="PingFang SC"/>
                <a:cs typeface="PingFang SC"/>
              </a:rPr>
              <a:t> </a:t>
            </a:r>
            <a:r>
              <a:rPr sz="1000" kern="0" spc="0" dirty="0">
                <a:solidFill>
                  <a:srgbClr val="000000">
                    <a:alpha val="100000"/>
                  </a:srgbClr>
                </a:solidFill>
                <a:latin typeface="PingFang SC"/>
                <a:ea typeface="PingFang SC"/>
                <a:cs typeface="PingFang SC"/>
              </a:rPr>
              <a:t>candidated</a:t>
            </a:r>
            <a:endParaRPr sz="1000" dirty="0">
              <a:latin typeface="PingFang SC"/>
              <a:ea typeface="PingFang SC"/>
              <a:cs typeface="PingFang SC"/>
            </a:endParaRPr>
          </a:p>
          <a:p>
            <a:pPr marL="27305" indent="257175" algn="l" rtl="0" eaLnBrk="0">
              <a:lnSpc>
                <a:spcPct val="128000"/>
              </a:lnSpc>
              <a:spcBef>
                <a:spcPts val="959"/>
              </a:spcBef>
              <a:tabLst/>
            </a:pPr>
            <a:r>
              <a:rPr sz="1000" kern="0" spc="40" dirty="0">
                <a:solidFill>
                  <a:srgbClr val="000000">
                    <a:alpha val="100000"/>
                  </a:srgbClr>
                </a:solidFill>
                <a:latin typeface="PingFang SC"/>
                <a:ea typeface="PingFang SC"/>
                <a:cs typeface="PingFang SC"/>
              </a:rPr>
              <a:t>备案鉴定员在中国奶业协会进行备案，获得备案编号，可以上报实习数据的从事</a:t>
            </a:r>
            <a:r>
              <a:rPr sz="1000" kern="0" spc="30" dirty="0">
                <a:solidFill>
                  <a:srgbClr val="000000">
                    <a:alpha val="100000"/>
                  </a:srgbClr>
                </a:solidFill>
                <a:latin typeface="PingFang SC"/>
                <a:ea typeface="PingFang SC"/>
                <a:cs typeface="PingFang SC"/>
              </a:rPr>
              <a:t>奶牛体型鉴定工作</a:t>
            </a:r>
            <a:r>
              <a:rPr sz="1000" kern="0" spc="20" dirty="0">
                <a:solidFill>
                  <a:srgbClr val="000000">
                    <a:alpha val="100000"/>
                  </a:srgbClr>
                </a:solidFill>
                <a:latin typeface="PingFang SC"/>
                <a:ea typeface="PingFang SC"/>
                <a:cs typeface="PingFang SC"/>
              </a:rPr>
              <a:t>的从业人员。</a:t>
            </a:r>
            <a:endParaRPr sz="1000" dirty="0">
              <a:latin typeface="PingFang SC"/>
              <a:ea typeface="PingFang SC"/>
              <a:cs typeface="PingFang SC"/>
            </a:endParaRPr>
          </a:p>
          <a:p>
            <a:pPr algn="l" rtl="0" eaLnBrk="0">
              <a:lnSpc>
                <a:spcPct val="136000"/>
              </a:lnSpc>
              <a:tabLst/>
            </a:pPr>
            <a:endParaRPr sz="1000" dirty="0">
              <a:latin typeface="Arial"/>
              <a:ea typeface="Arial"/>
              <a:cs typeface="Arial"/>
            </a:endParaRPr>
          </a:p>
          <a:p>
            <a:pPr marL="12700" algn="l" rtl="0" eaLnBrk="0">
              <a:lnSpc>
                <a:spcPct val="88000"/>
              </a:lnSpc>
              <a:spcBef>
                <a:spcPts val="301"/>
              </a:spcBef>
              <a:tabLst/>
            </a:pPr>
            <a:r>
              <a:rPr sz="1000" kern="0" spc="10" dirty="0">
                <a:solidFill>
                  <a:srgbClr val="000000">
                    <a:alpha val="100000"/>
                  </a:srgbClr>
                </a:solidFill>
                <a:latin typeface="PingFang SC"/>
                <a:ea typeface="PingFang SC"/>
                <a:cs typeface="PingFang SC"/>
              </a:rPr>
              <a:t>4</a:t>
            </a:r>
            <a:r>
              <a:rPr sz="1000" kern="0" spc="30" dirty="0">
                <a:solidFill>
                  <a:srgbClr val="000000">
                    <a:alpha val="100000"/>
                  </a:srgbClr>
                </a:solidFill>
                <a:latin typeface="PingFang SC"/>
                <a:ea typeface="PingFang SC"/>
                <a:cs typeface="PingFang SC"/>
              </a:rPr>
              <a:t>   </a:t>
            </a:r>
            <a:r>
              <a:rPr sz="1000" kern="0" spc="10" dirty="0">
                <a:solidFill>
                  <a:srgbClr val="000000">
                    <a:alpha val="100000"/>
                  </a:srgbClr>
                </a:solidFill>
                <a:latin typeface="PingFang SC"/>
                <a:ea typeface="PingFang SC"/>
                <a:cs typeface="PingFang SC"/>
              </a:rPr>
              <a:t>操作规范</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60" dirty="0">
                <a:solidFill>
                  <a:srgbClr val="000000">
                    <a:alpha val="100000"/>
                  </a:srgbClr>
                </a:solidFill>
                <a:latin typeface="PingFang SC"/>
                <a:ea typeface="PingFang SC"/>
                <a:cs typeface="PingFang SC"/>
              </a:rPr>
              <a:t>4.1</a:t>
            </a:r>
            <a:r>
              <a:rPr sz="1000" kern="0" spc="30" dirty="0">
                <a:solidFill>
                  <a:srgbClr val="000000">
                    <a:alpha val="100000"/>
                  </a:srgbClr>
                </a:solidFill>
                <a:latin typeface="PingFang SC"/>
                <a:ea typeface="PingFang SC"/>
                <a:cs typeface="PingFang SC"/>
              </a:rPr>
              <a:t>   </a:t>
            </a:r>
            <a:r>
              <a:rPr sz="1000" kern="0" spc="60" dirty="0">
                <a:solidFill>
                  <a:srgbClr val="000000">
                    <a:alpha val="100000"/>
                  </a:srgbClr>
                </a:solidFill>
                <a:latin typeface="PingFang SC"/>
                <a:ea typeface="PingFang SC"/>
                <a:cs typeface="PingFang SC"/>
              </a:rPr>
              <a:t>体型鉴定位置</a:t>
            </a:r>
            <a:endParaRPr sz="1000" dirty="0">
              <a:latin typeface="PingFang SC"/>
              <a:ea typeface="PingFang SC"/>
              <a:cs typeface="PingFang SC"/>
            </a:endParaRPr>
          </a:p>
          <a:p>
            <a:pPr marL="283845" algn="l" rtl="0" eaLnBrk="0">
              <a:lnSpc>
                <a:spcPct val="88000"/>
              </a:lnSpc>
              <a:spcBef>
                <a:spcPts val="1287"/>
              </a:spcBef>
              <a:tabLst/>
            </a:pPr>
            <a:r>
              <a:rPr sz="1000" kern="0" spc="50" dirty="0">
                <a:solidFill>
                  <a:srgbClr val="000000">
                    <a:alpha val="100000"/>
                  </a:srgbClr>
                </a:solidFill>
                <a:latin typeface="PingFang SC"/>
                <a:ea typeface="PingFang SC"/>
                <a:cs typeface="PingFang SC"/>
              </a:rPr>
              <a:t>奶牛呈正常站立姿态进行鉴定评分，</a:t>
            </a:r>
            <a:r>
              <a:rPr sz="1000" kern="0" spc="-240" dirty="0">
                <a:solidFill>
                  <a:srgbClr val="000000">
                    <a:alpha val="100000"/>
                  </a:srgbClr>
                </a:solidFill>
                <a:latin typeface="PingFang SC"/>
                <a:ea typeface="PingFang SC"/>
                <a:cs typeface="PingFang SC"/>
              </a:rPr>
              <a:t> </a:t>
            </a:r>
            <a:r>
              <a:rPr sz="1000" kern="0" spc="50" dirty="0">
                <a:solidFill>
                  <a:srgbClr val="000000">
                    <a:alpha val="100000"/>
                  </a:srgbClr>
                </a:solidFill>
                <a:latin typeface="PingFang SC"/>
                <a:ea typeface="PingFang SC"/>
                <a:cs typeface="PingFang SC"/>
              </a:rPr>
              <a:t>鉴定员站位选择面</a:t>
            </a:r>
            <a:r>
              <a:rPr sz="1000" kern="0" spc="40" dirty="0">
                <a:solidFill>
                  <a:srgbClr val="000000">
                    <a:alpha val="100000"/>
                  </a:srgbClr>
                </a:solidFill>
                <a:latin typeface="PingFang SC"/>
                <a:ea typeface="PingFang SC"/>
                <a:cs typeface="PingFang SC"/>
              </a:rPr>
              <a:t>根据鉴定奶牛各部位性状不同有所区别。</a:t>
            </a:r>
            <a:endParaRPr sz="1000" dirty="0">
              <a:latin typeface="PingFang SC"/>
              <a:ea typeface="PingFang SC"/>
              <a:cs typeface="PingFang SC"/>
            </a:endParaRPr>
          </a:p>
          <a:p>
            <a:pPr marL="12700" algn="l" rtl="0" eaLnBrk="0">
              <a:lnSpc>
                <a:spcPct val="88000"/>
              </a:lnSpc>
              <a:spcBef>
                <a:spcPts val="1284"/>
              </a:spcBef>
              <a:tabLst/>
            </a:pPr>
            <a:r>
              <a:rPr sz="1000" kern="0" spc="30" dirty="0">
                <a:solidFill>
                  <a:srgbClr val="000000">
                    <a:alpha val="100000"/>
                  </a:srgbClr>
                </a:solidFill>
                <a:latin typeface="PingFang SC"/>
                <a:ea typeface="PingFang SC"/>
                <a:cs typeface="PingFang SC"/>
              </a:rPr>
              <a:t>4.2   性状评分规范</a:t>
            </a:r>
            <a:endParaRPr sz="1000" dirty="0">
              <a:latin typeface="PingFang SC"/>
              <a:ea typeface="PingFang SC"/>
              <a:cs typeface="PingFang SC"/>
            </a:endParaRPr>
          </a:p>
          <a:p>
            <a:pPr marL="284480" algn="l" rtl="0" eaLnBrk="0">
              <a:lnSpc>
                <a:spcPct val="88000"/>
              </a:lnSpc>
              <a:spcBef>
                <a:spcPts val="1284"/>
              </a:spcBef>
              <a:tabLst/>
            </a:pPr>
            <a:r>
              <a:rPr sz="1000" kern="0" spc="30" dirty="0">
                <a:solidFill>
                  <a:srgbClr val="000000">
                    <a:alpha val="100000"/>
                  </a:srgbClr>
                </a:solidFill>
                <a:latin typeface="PingFang SC"/>
                <a:ea typeface="PingFang SC"/>
                <a:cs typeface="PingFang SC"/>
              </a:rPr>
              <a:t>20个体型性状的评定</a:t>
            </a:r>
            <a:r>
              <a:rPr sz="1000" kern="0" spc="20" dirty="0">
                <a:solidFill>
                  <a:srgbClr val="000000">
                    <a:alpha val="100000"/>
                  </a:srgbClr>
                </a:solidFill>
                <a:latin typeface="PingFang SC"/>
                <a:ea typeface="PingFang SC"/>
                <a:cs typeface="PingFang SC"/>
              </a:rPr>
              <a:t>操作规范与线性评分值，</a:t>
            </a:r>
            <a:r>
              <a:rPr sz="1000" kern="0" spc="-190" dirty="0">
                <a:solidFill>
                  <a:srgbClr val="000000">
                    <a:alpha val="100000"/>
                  </a:srgbClr>
                </a:solidFill>
                <a:latin typeface="PingFang SC"/>
                <a:ea typeface="PingFang SC"/>
                <a:cs typeface="PingFang SC"/>
              </a:rPr>
              <a:t> </a:t>
            </a:r>
            <a:r>
              <a:rPr sz="1000" kern="0" spc="20" dirty="0">
                <a:solidFill>
                  <a:srgbClr val="000000">
                    <a:alpha val="100000"/>
                  </a:srgbClr>
                </a:solidFill>
                <a:latin typeface="PingFang SC"/>
                <a:ea typeface="PingFang SC"/>
                <a:cs typeface="PingFang SC"/>
              </a:rPr>
              <a:t>见附录A。</a:t>
            </a:r>
            <a:endParaRPr sz="1000" dirty="0">
              <a:latin typeface="PingFang SC"/>
              <a:ea typeface="PingFang SC"/>
              <a:cs typeface="PingFang SC"/>
            </a:endParaRPr>
          </a:p>
          <a:p>
            <a:pPr marL="12700" algn="l" rtl="0" eaLnBrk="0">
              <a:lnSpc>
                <a:spcPct val="88000"/>
              </a:lnSpc>
              <a:spcBef>
                <a:spcPts val="1284"/>
              </a:spcBef>
              <a:tabLst/>
            </a:pPr>
            <a:r>
              <a:rPr sz="1000" kern="0" spc="30" dirty="0">
                <a:solidFill>
                  <a:srgbClr val="000000">
                    <a:alpha val="100000"/>
                  </a:srgbClr>
                </a:solidFill>
                <a:latin typeface="PingFang SC"/>
                <a:ea typeface="PingFang SC"/>
                <a:cs typeface="PingFang SC"/>
              </a:rPr>
              <a:t>4.3   线性分取值</a:t>
            </a:r>
            <a:endParaRPr sz="1000" dirty="0">
              <a:latin typeface="PingFang SC"/>
              <a:ea typeface="PingFang SC"/>
              <a:cs typeface="PingFang SC"/>
            </a:endParaRPr>
          </a:p>
          <a:p>
            <a:pPr algn="l" rtl="0" eaLnBrk="0">
              <a:lnSpc>
                <a:spcPct val="106000"/>
              </a:lnSpc>
              <a:tabLst/>
            </a:pPr>
            <a:endParaRPr sz="1000" dirty="0">
              <a:latin typeface="Arial"/>
              <a:ea typeface="Arial"/>
              <a:cs typeface="Arial"/>
            </a:endParaRPr>
          </a:p>
          <a:p>
            <a:pPr algn="l" rtl="0" eaLnBrk="0">
              <a:lnSpc>
                <a:spcPct val="9852"/>
              </a:lnSpc>
              <a:tabLst/>
            </a:pPr>
            <a:endParaRPr sz="100" dirty="0">
              <a:latin typeface="Arial"/>
              <a:ea typeface="Arial"/>
              <a:cs typeface="Arial"/>
            </a:endParaRPr>
          </a:p>
          <a:p>
            <a:pPr marL="281940" algn="l" rtl="0" eaLnBrk="0">
              <a:lnSpc>
                <a:spcPct val="88000"/>
              </a:lnSpc>
              <a:tabLst/>
            </a:pPr>
            <a:r>
              <a:rPr sz="1000" kern="0" spc="50" dirty="0">
                <a:solidFill>
                  <a:srgbClr val="000000">
                    <a:alpha val="100000"/>
                  </a:srgbClr>
                </a:solidFill>
                <a:latin typeface="PingFang SC"/>
                <a:ea typeface="PingFang SC"/>
                <a:cs typeface="PingFang SC"/>
              </a:rPr>
              <a:t>评定部位性状数值在线性评分对应区间范围内，取线</a:t>
            </a:r>
            <a:r>
              <a:rPr sz="1000" kern="0" spc="40" dirty="0">
                <a:solidFill>
                  <a:srgbClr val="000000">
                    <a:alpha val="100000"/>
                  </a:srgbClr>
                </a:solidFill>
                <a:latin typeface="PingFang SC"/>
                <a:ea typeface="PingFang SC"/>
                <a:cs typeface="PingFang SC"/>
              </a:rPr>
              <a:t>性评分较大值。</a:t>
            </a:r>
            <a:endParaRPr sz="1000" dirty="0">
              <a:latin typeface="PingFang SC"/>
              <a:ea typeface="PingFang SC"/>
              <a:cs typeface="PingFang SC"/>
            </a:endParaRPr>
          </a:p>
        </p:txBody>
      </p:sp>
      <p:sp>
        <p:nvSpPr>
          <p:cNvPr id="48" name="textbox 48"/>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50" name="textbox 50"/>
          <p:cNvSpPr/>
          <p:nvPr/>
        </p:nvSpPr>
        <p:spPr>
          <a:xfrm>
            <a:off x="5767248"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4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52" name="textbox 52"/>
          <p:cNvSpPr/>
          <p:nvPr/>
        </p:nvSpPr>
        <p:spPr>
          <a:xfrm>
            <a:off x="6625437" y="9847657"/>
            <a:ext cx="61595" cy="124460"/>
          </a:xfrm>
          <a:prstGeom prst="rect">
            <a:avLst/>
          </a:prstGeom>
          <a:noFill/>
          <a:ln w="0" cap="flat">
            <a:noFill/>
            <a:prstDash val="solid"/>
            <a:miter lim="0"/>
          </a:ln>
        </p:spPr>
        <p:txBody>
          <a:bodyPr vert="horz" wrap="square" lIns="0" tIns="0" rIns="0" bIns="0"/>
          <a:lstStyle/>
          <a:p>
            <a:pPr algn="l" rtl="0" eaLnBrk="0">
              <a:lnSpc>
                <a:spcPct val="82033"/>
              </a:lnSpc>
              <a:tabLst/>
            </a:pPr>
            <a:endParaRPr sz="100" dirty="0">
              <a:latin typeface="Arial"/>
              <a:ea typeface="Arial"/>
              <a:cs typeface="Arial"/>
            </a:endParaRPr>
          </a:p>
          <a:p>
            <a:pPr marL="12700" algn="l" rtl="0" eaLnBrk="0">
              <a:lnSpc>
                <a:spcPct val="72000"/>
              </a:lnSpc>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box 54"/>
          <p:cNvSpPr/>
          <p:nvPr/>
        </p:nvSpPr>
        <p:spPr>
          <a:xfrm>
            <a:off x="708773" y="1233284"/>
            <a:ext cx="5209540" cy="77089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2700" algn="l" rtl="0" eaLnBrk="0">
              <a:lnSpc>
                <a:spcPct val="88000"/>
              </a:lnSpc>
              <a:tabLst/>
            </a:pPr>
            <a:r>
              <a:rPr sz="1000" kern="0" spc="10" dirty="0">
                <a:solidFill>
                  <a:srgbClr val="000000">
                    <a:alpha val="100000"/>
                  </a:srgbClr>
                </a:solidFill>
                <a:latin typeface="PingFang SC"/>
                <a:ea typeface="PingFang SC"/>
                <a:cs typeface="PingFang SC"/>
              </a:rPr>
              <a:t>5</a:t>
            </a:r>
            <a:r>
              <a:rPr sz="1000" kern="0" spc="30" dirty="0">
                <a:solidFill>
                  <a:srgbClr val="000000">
                    <a:alpha val="100000"/>
                  </a:srgbClr>
                </a:solidFill>
                <a:latin typeface="PingFang SC"/>
                <a:ea typeface="PingFang SC"/>
                <a:cs typeface="PingFang SC"/>
              </a:rPr>
              <a:t>   </a:t>
            </a:r>
            <a:r>
              <a:rPr sz="1000" kern="0" spc="10" dirty="0">
                <a:solidFill>
                  <a:srgbClr val="000000">
                    <a:alpha val="100000"/>
                  </a:srgbClr>
                </a:solidFill>
                <a:latin typeface="PingFang SC"/>
                <a:ea typeface="PingFang SC"/>
                <a:cs typeface="PingFang SC"/>
              </a:rPr>
              <a:t>结果报送</a:t>
            </a:r>
            <a:endParaRPr sz="1000" dirty="0">
              <a:latin typeface="PingFang SC"/>
              <a:ea typeface="PingFang SC"/>
              <a:cs typeface="PingFang SC"/>
            </a:endParaRPr>
          </a:p>
          <a:p>
            <a:pPr algn="l" rtl="0" eaLnBrk="0">
              <a:lnSpc>
                <a:spcPct val="119000"/>
              </a:lnSpc>
              <a:tabLst/>
            </a:pPr>
            <a:endParaRPr sz="1000" dirty="0">
              <a:latin typeface="Arial"/>
              <a:ea typeface="Arial"/>
              <a:cs typeface="Arial"/>
            </a:endParaRPr>
          </a:p>
          <a:p>
            <a:pPr algn="l" rtl="0" eaLnBrk="0">
              <a:lnSpc>
                <a:spcPct val="129000"/>
              </a:lnSpc>
              <a:tabLst/>
            </a:pPr>
            <a:endParaRPr sz="200" dirty="0">
              <a:latin typeface="Arial"/>
              <a:ea typeface="Arial"/>
              <a:cs typeface="Arial"/>
            </a:endParaRPr>
          </a:p>
          <a:p>
            <a:pPr marL="295275" algn="l" rtl="0" eaLnBrk="0">
              <a:lnSpc>
                <a:spcPct val="128000"/>
              </a:lnSpc>
              <a:spcBef>
                <a:spcPts val="2"/>
              </a:spcBef>
              <a:tabLst/>
            </a:pPr>
            <a:r>
              <a:rPr sz="1000" kern="0" spc="50" dirty="0">
                <a:solidFill>
                  <a:srgbClr val="000000">
                    <a:alpha val="100000"/>
                  </a:srgbClr>
                </a:solidFill>
                <a:latin typeface="PingFang SC"/>
                <a:ea typeface="PingFang SC"/>
                <a:cs typeface="PingFang SC"/>
              </a:rPr>
              <a:t>中国奶牛体型备案鉴定员要按照中国奶业协</a:t>
            </a:r>
            <a:r>
              <a:rPr sz="1000" kern="0" spc="40" dirty="0">
                <a:solidFill>
                  <a:srgbClr val="000000">
                    <a:alpha val="100000"/>
                  </a:srgbClr>
                </a:solidFill>
                <a:latin typeface="PingFang SC"/>
                <a:ea typeface="PingFang SC"/>
                <a:cs typeface="PingFang SC"/>
              </a:rPr>
              <a:t>会的要求每季度进行一次鉴定数据上报。</a:t>
            </a:r>
            <a:r>
              <a:rPr sz="1000" kern="0" spc="50" dirty="0">
                <a:solidFill>
                  <a:srgbClr val="000000">
                    <a:alpha val="100000"/>
                  </a:srgbClr>
                </a:solidFill>
                <a:latin typeface="PingFang SC"/>
                <a:ea typeface="PingFang SC"/>
                <a:cs typeface="PingFang SC"/>
              </a:rPr>
              <a:t>中国奶牛体型鉴定员要按照中</a:t>
            </a:r>
            <a:r>
              <a:rPr sz="1000" kern="0" spc="40" dirty="0">
                <a:solidFill>
                  <a:srgbClr val="000000">
                    <a:alpha val="100000"/>
                  </a:srgbClr>
                </a:solidFill>
                <a:latin typeface="PingFang SC"/>
                <a:ea typeface="PingFang SC"/>
                <a:cs typeface="PingFang SC"/>
              </a:rPr>
              <a:t>国奶业协会的要求进行鉴定数据上报。</a:t>
            </a:r>
            <a:endParaRPr sz="1000" dirty="0">
              <a:latin typeface="PingFang SC"/>
              <a:ea typeface="PingFang SC"/>
              <a:cs typeface="PingFang SC"/>
            </a:endParaRPr>
          </a:p>
        </p:txBody>
      </p:sp>
      <p:sp>
        <p:nvSpPr>
          <p:cNvPr id="56" name="textbox 56"/>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58" name="textbox 58"/>
          <p:cNvSpPr/>
          <p:nvPr/>
        </p:nvSpPr>
        <p:spPr>
          <a:xfrm>
            <a:off x="712394"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5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60" name="textbox 60"/>
          <p:cNvSpPr/>
          <p:nvPr/>
        </p:nvSpPr>
        <p:spPr>
          <a:xfrm>
            <a:off x="881545" y="9845942"/>
            <a:ext cx="70485" cy="100965"/>
          </a:xfrm>
          <a:prstGeom prst="rect">
            <a:avLst/>
          </a:prstGeom>
          <a:noFill/>
          <a:ln w="0" cap="flat">
            <a:noFill/>
            <a:prstDash val="solid"/>
            <a:miter lim="0"/>
          </a:ln>
        </p:spPr>
        <p:txBody>
          <a:bodyPr vert="horz" wrap="square" lIns="0" tIns="0" rIns="0" bIns="0"/>
          <a:lstStyle/>
          <a:p>
            <a:pPr algn="l" rtl="0" eaLnBrk="0">
              <a:lnSpc>
                <a:spcPct val="84888"/>
              </a:lnSpc>
              <a:tabLst/>
            </a:pPr>
            <a:endParaRPr sz="100" dirty="0">
              <a:latin typeface="Arial"/>
              <a:ea typeface="Arial"/>
              <a:cs typeface="Arial"/>
            </a:endParaRPr>
          </a:p>
          <a:p>
            <a:pPr algn="r" rtl="0" eaLnBrk="0">
              <a:lnSpc>
                <a:spcPct val="82000"/>
              </a:lnSpc>
              <a:tabLst/>
            </a:pPr>
            <a:r>
              <a:rPr sz="600" kern="0" spc="-20" dirty="0">
                <a:solidFill>
                  <a:srgbClr val="000000">
                    <a:alpha val="100000"/>
                  </a:srgbClr>
                </a:solidFill>
                <a:latin typeface="PingFang SC"/>
                <a:ea typeface="PingFang SC"/>
                <a:cs typeface="PingFang SC"/>
              </a:rPr>
              <a:t>2</a:t>
            </a:r>
            <a:endParaRPr sz="600" dirty="0">
              <a:latin typeface="PingFang SC"/>
              <a:ea typeface="PingFang SC"/>
              <a:cs typeface="PingFang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box 62"/>
          <p:cNvSpPr/>
          <p:nvPr/>
        </p:nvSpPr>
        <p:spPr>
          <a:xfrm>
            <a:off x="887837" y="5756897"/>
            <a:ext cx="5967730" cy="116713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827529" algn="l" rtl="0" eaLnBrk="0">
              <a:lnSpc>
                <a:spcPct val="88000"/>
              </a:lnSpc>
              <a:tabLst/>
            </a:pPr>
            <a:r>
              <a:rPr sz="1000" kern="0" spc="50" dirty="0">
                <a:solidFill>
                  <a:srgbClr val="000000">
                    <a:alpha val="100000"/>
                  </a:srgbClr>
                </a:solidFill>
                <a:latin typeface="PingFang SC"/>
                <a:ea typeface="PingFang SC"/>
                <a:cs typeface="PingFang SC"/>
              </a:rPr>
              <a:t>图A.1   体高评</a:t>
            </a:r>
            <a:r>
              <a:rPr sz="1000" kern="0" spc="40" dirty="0">
                <a:solidFill>
                  <a:srgbClr val="000000">
                    <a:alpha val="100000"/>
                  </a:srgbClr>
                </a:solidFill>
                <a:latin typeface="PingFang SC"/>
                <a:ea typeface="PingFang SC"/>
                <a:cs typeface="PingFang SC"/>
              </a:rPr>
              <a:t>分示意图与线性评分标准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2"/>
              </a:spcBef>
              <a:tabLst/>
            </a:pPr>
            <a:r>
              <a:rPr sz="1000" kern="0" spc="20" dirty="0">
                <a:solidFill>
                  <a:srgbClr val="000000">
                    <a:alpha val="100000"/>
                  </a:srgbClr>
                </a:solidFill>
                <a:latin typeface="PingFang SC"/>
                <a:ea typeface="PingFang SC"/>
                <a:cs typeface="PingFang SC"/>
              </a:rPr>
              <a:t>A.2   胸宽</a:t>
            </a:r>
            <a:endParaRPr sz="1000" dirty="0">
              <a:latin typeface="PingFang SC"/>
              <a:ea typeface="PingFang SC"/>
              <a:cs typeface="PingFang SC"/>
            </a:endParaRPr>
          </a:p>
          <a:p>
            <a:pPr algn="l" rtl="0" eaLnBrk="0">
              <a:lnSpc>
                <a:spcPct val="119000"/>
              </a:lnSpc>
              <a:tabLst/>
            </a:pPr>
            <a:endParaRPr sz="1000" dirty="0">
              <a:latin typeface="Arial"/>
              <a:ea typeface="Arial"/>
              <a:cs typeface="Arial"/>
            </a:endParaRPr>
          </a:p>
          <a:p>
            <a:pPr algn="l" rtl="0" eaLnBrk="0">
              <a:lnSpc>
                <a:spcPct val="129000"/>
              </a:lnSpc>
              <a:tabLst/>
            </a:pPr>
            <a:endParaRPr sz="200" dirty="0">
              <a:latin typeface="Arial"/>
              <a:ea typeface="Arial"/>
              <a:cs typeface="Arial"/>
            </a:endParaRPr>
          </a:p>
          <a:p>
            <a:pPr marL="12700" indent="273685" algn="l" rtl="0" eaLnBrk="0">
              <a:lnSpc>
                <a:spcPct val="128000"/>
              </a:lnSpc>
              <a:spcBef>
                <a:spcPts val="2"/>
              </a:spcBef>
              <a:tabLst/>
            </a:pPr>
            <a:r>
              <a:rPr sz="1000" kern="0" spc="40" dirty="0">
                <a:solidFill>
                  <a:srgbClr val="000000">
                    <a:alpha val="100000"/>
                  </a:srgbClr>
                </a:solidFill>
                <a:latin typeface="PingFang SC"/>
                <a:ea typeface="PingFang SC"/>
                <a:cs typeface="PingFang SC"/>
              </a:rPr>
              <a:t>牛只自然站立状态下，测定胸椎骨下缘两前肢内侧间的宽度。评定部位、</a:t>
            </a:r>
            <a:r>
              <a:rPr sz="1000" kern="0" spc="30" dirty="0">
                <a:solidFill>
                  <a:srgbClr val="000000">
                    <a:alpha val="100000"/>
                  </a:srgbClr>
                </a:solidFill>
                <a:latin typeface="PingFang SC"/>
                <a:ea typeface="PingFang SC"/>
                <a:cs typeface="PingFang SC"/>
              </a:rPr>
              <a:t>评分与线性评分标准见图</a:t>
            </a:r>
            <a:r>
              <a:rPr sz="1000" kern="0" spc="0" dirty="0">
                <a:solidFill>
                  <a:srgbClr val="000000">
                    <a:alpha val="100000"/>
                  </a:srgbClr>
                </a:solidFill>
                <a:latin typeface="PingFang SC"/>
                <a:ea typeface="PingFang SC"/>
                <a:cs typeface="PingFang SC"/>
              </a:rPr>
              <a:t>A.2。</a:t>
            </a:r>
            <a:endParaRPr sz="1000" dirty="0">
              <a:latin typeface="PingFang SC"/>
              <a:ea typeface="PingFang SC"/>
              <a:cs typeface="PingFang SC"/>
            </a:endParaRPr>
          </a:p>
        </p:txBody>
      </p:sp>
      <p:sp>
        <p:nvSpPr>
          <p:cNvPr id="64" name="textbox 64"/>
          <p:cNvSpPr/>
          <p:nvPr/>
        </p:nvSpPr>
        <p:spPr>
          <a:xfrm>
            <a:off x="888374" y="1658480"/>
            <a:ext cx="4130675" cy="1346835"/>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2693670" algn="l" rtl="0" eaLnBrk="0">
              <a:lnSpc>
                <a:spcPct val="88000"/>
              </a:lnSpc>
              <a:tabLst/>
            </a:pPr>
            <a:r>
              <a:rPr sz="1000" kern="0" spc="-20" dirty="0">
                <a:solidFill>
                  <a:srgbClr val="000000">
                    <a:alpha val="100000"/>
                  </a:srgbClr>
                </a:solidFill>
                <a:latin typeface="PingFang SC"/>
                <a:ea typeface="PingFang SC"/>
                <a:cs typeface="PingFang SC"/>
              </a:rPr>
              <a:t>附</a:t>
            </a:r>
            <a:r>
              <a:rPr sz="1000" kern="0" spc="30" dirty="0">
                <a:solidFill>
                  <a:srgbClr val="000000">
                    <a:alpha val="100000"/>
                  </a:srgbClr>
                </a:solidFill>
                <a:latin typeface="PingFang SC"/>
                <a:ea typeface="PingFang SC"/>
                <a:cs typeface="PingFang SC"/>
              </a:rPr>
              <a:t>   </a:t>
            </a:r>
            <a:r>
              <a:rPr sz="1000" kern="0" spc="-20" dirty="0">
                <a:solidFill>
                  <a:srgbClr val="000000">
                    <a:alpha val="100000"/>
                  </a:srgbClr>
                </a:solidFill>
                <a:latin typeface="PingFang SC"/>
                <a:ea typeface="PingFang SC"/>
                <a:cs typeface="PingFang SC"/>
              </a:rPr>
              <a:t>录</a:t>
            </a:r>
            <a:r>
              <a:rPr sz="1000" kern="0" spc="10" dirty="0">
                <a:solidFill>
                  <a:srgbClr val="000000">
                    <a:alpha val="100000"/>
                  </a:srgbClr>
                </a:solidFill>
                <a:latin typeface="PingFang SC"/>
                <a:ea typeface="PingFang SC"/>
                <a:cs typeface="PingFang SC"/>
              </a:rPr>
              <a:t>   </a:t>
            </a:r>
            <a:r>
              <a:rPr sz="1000" kern="0" spc="-20" dirty="0">
                <a:solidFill>
                  <a:srgbClr val="000000">
                    <a:alpha val="100000"/>
                  </a:srgbClr>
                </a:solidFill>
                <a:latin typeface="PingFang SC"/>
                <a:ea typeface="PingFang SC"/>
                <a:cs typeface="PingFang SC"/>
              </a:rPr>
              <a:t>A</a:t>
            </a:r>
            <a:endParaRPr sz="1000" dirty="0">
              <a:latin typeface="PingFang SC"/>
              <a:ea typeface="PingFang SC"/>
              <a:cs typeface="PingFang SC"/>
            </a:endParaRPr>
          </a:p>
          <a:p>
            <a:pPr marL="2594610" algn="l" rtl="0" eaLnBrk="0">
              <a:lnSpc>
                <a:spcPct val="98000"/>
              </a:lnSpc>
              <a:spcBef>
                <a:spcPts val="490"/>
              </a:spcBef>
              <a:tabLst/>
            </a:pPr>
            <a:r>
              <a:rPr sz="900" kern="0" spc="0" dirty="0">
                <a:solidFill>
                  <a:srgbClr val="000000">
                    <a:alpha val="100000"/>
                  </a:srgbClr>
                </a:solidFill>
                <a:latin typeface="PingFang SC"/>
                <a:ea typeface="PingFang SC"/>
                <a:cs typeface="PingFang SC"/>
              </a:rPr>
              <a:t>（规范性附录）</a:t>
            </a:r>
            <a:endParaRPr sz="900" dirty="0">
              <a:latin typeface="PingFang SC"/>
              <a:ea typeface="PingFang SC"/>
              <a:cs typeface="PingFang SC"/>
            </a:endParaRPr>
          </a:p>
          <a:p>
            <a:pPr algn="r" rtl="0" eaLnBrk="0">
              <a:lnSpc>
                <a:spcPct val="88000"/>
              </a:lnSpc>
              <a:spcBef>
                <a:spcPts val="504"/>
              </a:spcBef>
              <a:tabLst/>
            </a:pPr>
            <a:r>
              <a:rPr sz="1000" kern="0" spc="50" dirty="0">
                <a:solidFill>
                  <a:srgbClr val="000000">
                    <a:alpha val="100000"/>
                  </a:srgbClr>
                </a:solidFill>
                <a:latin typeface="PingFang SC"/>
                <a:ea typeface="PingFang SC"/>
                <a:cs typeface="PingFang SC"/>
              </a:rPr>
              <a:t>各性状的评定操作规范与线性</a:t>
            </a:r>
            <a:r>
              <a:rPr sz="1000" kern="0" spc="40" dirty="0">
                <a:solidFill>
                  <a:srgbClr val="000000">
                    <a:alpha val="100000"/>
                  </a:srgbClr>
                </a:solidFill>
                <a:latin typeface="PingFang SC"/>
                <a:ea typeface="PingFang SC"/>
                <a:cs typeface="PingFang SC"/>
              </a:rPr>
              <a:t>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60" dirty="0">
                <a:solidFill>
                  <a:srgbClr val="000000">
                    <a:alpha val="100000"/>
                  </a:srgbClr>
                </a:solidFill>
                <a:latin typeface="PingFang SC"/>
                <a:ea typeface="PingFang SC"/>
                <a:cs typeface="PingFang SC"/>
              </a:rPr>
              <a:t>A.1</a:t>
            </a:r>
            <a:r>
              <a:rPr sz="1000" kern="0" spc="20" dirty="0">
                <a:solidFill>
                  <a:srgbClr val="000000">
                    <a:alpha val="100000"/>
                  </a:srgbClr>
                </a:solidFill>
                <a:latin typeface="PingFang SC"/>
                <a:ea typeface="PingFang SC"/>
                <a:cs typeface="PingFang SC"/>
              </a:rPr>
              <a:t>   </a:t>
            </a:r>
            <a:r>
              <a:rPr sz="1000" kern="0" spc="60" dirty="0">
                <a:solidFill>
                  <a:srgbClr val="000000">
                    <a:alpha val="100000"/>
                  </a:srgbClr>
                </a:solidFill>
                <a:latin typeface="PingFang SC"/>
                <a:ea typeface="PingFang SC"/>
                <a:cs typeface="PingFang SC"/>
              </a:rPr>
              <a:t>体高</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algn="l" rtl="0" eaLnBrk="0">
              <a:lnSpc>
                <a:spcPct val="125000"/>
              </a:lnSpc>
              <a:tabLst/>
            </a:pPr>
            <a:endParaRPr sz="200" dirty="0">
              <a:latin typeface="Arial"/>
              <a:ea typeface="Arial"/>
              <a:cs typeface="Arial"/>
            </a:endParaRPr>
          </a:p>
          <a:p>
            <a:pPr marL="281940" algn="l" rtl="0" eaLnBrk="0">
              <a:lnSpc>
                <a:spcPct val="88000"/>
              </a:lnSpc>
              <a:tabLst/>
            </a:pPr>
            <a:r>
              <a:rPr sz="1000" kern="0" spc="50" dirty="0">
                <a:solidFill>
                  <a:srgbClr val="000000">
                    <a:alpha val="100000"/>
                  </a:srgbClr>
                </a:solidFill>
                <a:latin typeface="PingFang SC"/>
                <a:ea typeface="PingFang SC"/>
                <a:cs typeface="PingFang SC"/>
              </a:rPr>
              <a:t>评定操作技术规范线性评分标准，见图A.1。</a:t>
            </a:r>
            <a:endParaRPr sz="1000" dirty="0">
              <a:latin typeface="PingFang SC"/>
              <a:ea typeface="PingFang SC"/>
              <a:cs typeface="PingFang SC"/>
            </a:endParaRPr>
          </a:p>
        </p:txBody>
      </p:sp>
      <p:graphicFrame>
        <p:nvGraphicFramePr>
          <p:cNvPr id="66" name="table 66"/>
          <p:cNvGraphicFramePr>
            <a:graphicFrameLocks noGrp="1"/>
          </p:cNvGraphicFramePr>
          <p:nvPr/>
        </p:nvGraphicFramePr>
        <p:xfrm>
          <a:off x="983284" y="8709406"/>
          <a:ext cx="5775325" cy="434339"/>
        </p:xfrm>
        <a:graphic>
          <a:graphicData uri="http://schemas.openxmlformats.org/drawingml/2006/table">
            <a:tbl>
              <a:tblPr/>
              <a:tblGrid>
                <a:gridCol w="720725"/>
                <a:gridCol w="560705"/>
                <a:gridCol w="561340"/>
                <a:gridCol w="562610"/>
                <a:gridCol w="559435"/>
                <a:gridCol w="560705"/>
                <a:gridCol w="560705"/>
                <a:gridCol w="560705"/>
                <a:gridCol w="561340"/>
                <a:gridCol w="567055"/>
              </a:tblGrid>
              <a:tr h="217805">
                <a:tc>
                  <a:txBody>
                    <a:bodyPr/>
                    <a:lstStyle/>
                    <a:p>
                      <a:pPr algn="l" rtl="0" eaLnBrk="0">
                        <a:lnSpc>
                          <a:spcPct val="122000"/>
                        </a:lnSpc>
                        <a:tabLst/>
                      </a:pPr>
                      <a:endParaRPr sz="300" dirty="0">
                        <a:latin typeface="Arial"/>
                        <a:ea typeface="Arial"/>
                        <a:cs typeface="Arial"/>
                      </a:endParaRPr>
                    </a:p>
                    <a:p>
                      <a:pPr marL="139700" algn="l" rtl="0" eaLnBrk="0">
                        <a:lnSpc>
                          <a:spcPct val="86000"/>
                        </a:lnSpc>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62890" algn="l" rtl="0" eaLnBrk="0">
                        <a:lnSpc>
                          <a:spcPct val="83000"/>
                        </a:lnSpc>
                        <a:spcBef>
                          <a:spcPts val="3"/>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5905" algn="l" rtl="0" eaLnBrk="0">
                        <a:lnSpc>
                          <a:spcPct val="83000"/>
                        </a:lnSpc>
                        <a:spcBef>
                          <a:spcPts val="3"/>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7809" algn="l" rtl="0" eaLnBrk="0">
                        <a:lnSpc>
                          <a:spcPct val="83000"/>
                        </a:lnSpc>
                        <a:spcBef>
                          <a:spcPts val="3"/>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3365" algn="l" rtl="0" eaLnBrk="0">
                        <a:lnSpc>
                          <a:spcPct val="83000"/>
                        </a:lnSpc>
                        <a:spcBef>
                          <a:spcPts val="3"/>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7809" algn="l" rtl="0" eaLnBrk="0">
                        <a:lnSpc>
                          <a:spcPct val="83000"/>
                        </a:lnSpc>
                        <a:spcBef>
                          <a:spcPts val="3"/>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6540" algn="l" rtl="0" eaLnBrk="0">
                        <a:lnSpc>
                          <a:spcPct val="83000"/>
                        </a:lnSpc>
                        <a:spcBef>
                          <a:spcPts val="3"/>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8445" algn="l" rtl="0" eaLnBrk="0">
                        <a:lnSpc>
                          <a:spcPct val="83000"/>
                        </a:lnSpc>
                        <a:spcBef>
                          <a:spcPts val="3"/>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6540" algn="l" rtl="0" eaLnBrk="0">
                        <a:lnSpc>
                          <a:spcPct val="83000"/>
                        </a:lnSpc>
                        <a:spcBef>
                          <a:spcPts val="3"/>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6540" algn="l" rtl="0" eaLnBrk="0">
                        <a:lnSpc>
                          <a:spcPct val="83000"/>
                        </a:lnSpc>
                        <a:spcBef>
                          <a:spcPts val="3"/>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6534">
                <a:tc>
                  <a:txBody>
                    <a:bodyPr/>
                    <a:lstStyle/>
                    <a:p>
                      <a:pPr algn="l" rtl="0" eaLnBrk="0">
                        <a:lnSpc>
                          <a:spcPct val="106000"/>
                        </a:lnSpc>
                        <a:tabLst/>
                      </a:pPr>
                      <a:endParaRPr sz="300" dirty="0">
                        <a:latin typeface="Arial"/>
                        <a:ea typeface="Arial"/>
                        <a:cs typeface="Arial"/>
                      </a:endParaRPr>
                    </a:p>
                    <a:p>
                      <a:pPr marL="80010" algn="l" rtl="0" eaLnBrk="0">
                        <a:lnSpc>
                          <a:spcPct val="86000"/>
                        </a:lnSpc>
                        <a:spcBef>
                          <a:spcPts val="3"/>
                        </a:spcBef>
                        <a:tabLst/>
                      </a:pPr>
                      <a:r>
                        <a:rPr sz="900" kern="0" spc="-70" dirty="0">
                          <a:solidFill>
                            <a:srgbClr val="000000">
                              <a:alpha val="100000"/>
                            </a:srgbClr>
                          </a:solidFill>
                          <a:latin typeface="PingFang SC"/>
                          <a:ea typeface="PingFang SC"/>
                          <a:cs typeface="PingFang SC"/>
                        </a:rPr>
                        <a:t>胸宽（cm）</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176530" algn="l" rtl="0" eaLnBrk="0">
                        <a:lnSpc>
                          <a:spcPct val="83000"/>
                        </a:lnSpc>
                        <a:spcBef>
                          <a:spcPts val="2"/>
                        </a:spcBef>
                        <a:tabLst/>
                      </a:pPr>
                      <a:r>
                        <a:rPr sz="900" kern="0" spc="20" dirty="0">
                          <a:solidFill>
                            <a:srgbClr val="000000">
                              <a:alpha val="100000"/>
                            </a:srgbClr>
                          </a:solidFill>
                          <a:latin typeface="PingFang SC"/>
                          <a:ea typeface="PingFang SC"/>
                          <a:cs typeface="PingFang SC"/>
                        </a:rPr>
                        <a:t>≤13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234315" algn="l" rtl="0" eaLnBrk="0">
                        <a:lnSpc>
                          <a:spcPct val="83000"/>
                        </a:lnSpc>
                        <a:spcBef>
                          <a:spcPts val="2"/>
                        </a:spcBef>
                        <a:tabLst/>
                      </a:pPr>
                      <a:r>
                        <a:rPr sz="900" kern="0" spc="-30" dirty="0">
                          <a:solidFill>
                            <a:srgbClr val="000000">
                              <a:alpha val="100000"/>
                            </a:srgbClr>
                          </a:solidFill>
                          <a:latin typeface="PingFang SC"/>
                          <a:ea typeface="PingFang SC"/>
                          <a:cs typeface="PingFang SC"/>
                        </a:rPr>
                        <a:t>16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234950" algn="l" rtl="0" eaLnBrk="0">
                        <a:lnSpc>
                          <a:spcPct val="83000"/>
                        </a:lnSpc>
                        <a:spcBef>
                          <a:spcPts val="2"/>
                        </a:spcBef>
                        <a:tabLst/>
                      </a:pPr>
                      <a:r>
                        <a:rPr sz="900" kern="0" spc="-30" dirty="0">
                          <a:solidFill>
                            <a:srgbClr val="000000">
                              <a:alpha val="100000"/>
                            </a:srgbClr>
                          </a:solidFill>
                          <a:latin typeface="PingFang SC"/>
                          <a:ea typeface="PingFang SC"/>
                          <a:cs typeface="PingFang SC"/>
                        </a:rPr>
                        <a:t>19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4000"/>
                        </a:lnSpc>
                        <a:tabLst/>
                      </a:pPr>
                      <a:endParaRPr sz="300" dirty="0">
                        <a:latin typeface="Arial"/>
                        <a:ea typeface="Arial"/>
                        <a:cs typeface="Arial"/>
                      </a:endParaRPr>
                    </a:p>
                    <a:p>
                      <a:pPr marL="226059" algn="l" rtl="0" eaLnBrk="0">
                        <a:lnSpc>
                          <a:spcPct val="94000"/>
                        </a:lnSpc>
                        <a:spcBef>
                          <a:spcPts val="3"/>
                        </a:spcBef>
                        <a:tabLst/>
                      </a:pPr>
                      <a:r>
                        <a:rPr sz="800" kern="0" spc="0" dirty="0">
                          <a:solidFill>
                            <a:srgbClr val="000000">
                              <a:alpha val="100000"/>
                            </a:srgbClr>
                          </a:solidFill>
                          <a:latin typeface="PingFang SC"/>
                          <a:ea typeface="PingFang SC"/>
                          <a:cs typeface="PingFang SC"/>
                        </a:rPr>
                        <a:t>22</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4000"/>
                        </a:lnSpc>
                        <a:tabLst/>
                      </a:pPr>
                      <a:endParaRPr sz="300" dirty="0">
                        <a:latin typeface="Arial"/>
                        <a:ea typeface="Arial"/>
                        <a:cs typeface="Arial"/>
                      </a:endParaRPr>
                    </a:p>
                    <a:p>
                      <a:pPr marL="227965" algn="l" rtl="0" eaLnBrk="0">
                        <a:lnSpc>
                          <a:spcPct val="94000"/>
                        </a:lnSpc>
                        <a:spcBef>
                          <a:spcPts val="3"/>
                        </a:spcBef>
                        <a:tabLst/>
                      </a:pPr>
                      <a:r>
                        <a:rPr sz="800" kern="0" spc="0" dirty="0">
                          <a:solidFill>
                            <a:srgbClr val="000000">
                              <a:alpha val="100000"/>
                            </a:srgbClr>
                          </a:solidFill>
                          <a:latin typeface="PingFang SC"/>
                          <a:ea typeface="PingFang SC"/>
                          <a:cs typeface="PingFang SC"/>
                        </a:rPr>
                        <a:t>25</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4000"/>
                        </a:lnSpc>
                        <a:tabLst/>
                      </a:pPr>
                      <a:endParaRPr sz="300" dirty="0">
                        <a:latin typeface="Arial"/>
                        <a:ea typeface="Arial"/>
                        <a:cs typeface="Arial"/>
                      </a:endParaRPr>
                    </a:p>
                    <a:p>
                      <a:pPr marL="227965" algn="l" rtl="0" eaLnBrk="0">
                        <a:lnSpc>
                          <a:spcPct val="94000"/>
                        </a:lnSpc>
                        <a:spcBef>
                          <a:spcPts val="3"/>
                        </a:spcBef>
                        <a:tabLst/>
                      </a:pPr>
                      <a:r>
                        <a:rPr sz="800" kern="0" spc="0" dirty="0">
                          <a:solidFill>
                            <a:srgbClr val="000000">
                              <a:alpha val="100000"/>
                            </a:srgbClr>
                          </a:solidFill>
                          <a:latin typeface="PingFang SC"/>
                          <a:ea typeface="PingFang SC"/>
                          <a:cs typeface="PingFang SC"/>
                        </a:rPr>
                        <a:t>28</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229234" algn="l" rtl="0" eaLnBrk="0">
                        <a:lnSpc>
                          <a:spcPct val="83000"/>
                        </a:lnSpc>
                        <a:spcBef>
                          <a:spcPts val="2"/>
                        </a:spcBef>
                        <a:tabLst/>
                      </a:pPr>
                      <a:r>
                        <a:rPr sz="900" kern="0" spc="-30" dirty="0">
                          <a:solidFill>
                            <a:srgbClr val="000000">
                              <a:alpha val="100000"/>
                            </a:srgbClr>
                          </a:solidFill>
                          <a:latin typeface="PingFang SC"/>
                          <a:ea typeface="PingFang SC"/>
                          <a:cs typeface="PingFang SC"/>
                        </a:rPr>
                        <a:t>31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4000"/>
                        </a:lnSpc>
                        <a:tabLst/>
                      </a:pPr>
                      <a:endParaRPr sz="300" dirty="0">
                        <a:latin typeface="Arial"/>
                        <a:ea typeface="Arial"/>
                        <a:cs typeface="Arial"/>
                      </a:endParaRPr>
                    </a:p>
                    <a:p>
                      <a:pPr marL="229870" algn="l" rtl="0" eaLnBrk="0">
                        <a:lnSpc>
                          <a:spcPct val="94000"/>
                        </a:lnSpc>
                        <a:spcBef>
                          <a:spcPts val="3"/>
                        </a:spcBef>
                        <a:tabLst/>
                      </a:pPr>
                      <a:r>
                        <a:rPr sz="800" kern="0" spc="-10" dirty="0">
                          <a:solidFill>
                            <a:srgbClr val="000000">
                              <a:alpha val="100000"/>
                            </a:srgbClr>
                          </a:solidFill>
                          <a:latin typeface="PingFang SC"/>
                          <a:ea typeface="PingFang SC"/>
                          <a:cs typeface="PingFang SC"/>
                        </a:rPr>
                        <a:t>34</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181610" algn="l" rtl="0" eaLnBrk="0">
                        <a:lnSpc>
                          <a:spcPct val="83000"/>
                        </a:lnSpc>
                        <a:spcBef>
                          <a:spcPts val="2"/>
                        </a:spcBef>
                        <a:tabLst/>
                      </a:pPr>
                      <a:r>
                        <a:rPr sz="900" kern="0" spc="-10" dirty="0">
                          <a:solidFill>
                            <a:srgbClr val="000000">
                              <a:alpha val="100000"/>
                            </a:srgbClr>
                          </a:solidFill>
                          <a:latin typeface="PingFang SC"/>
                          <a:ea typeface="PingFang SC"/>
                          <a:cs typeface="PingFang SC"/>
                        </a:rPr>
                        <a:t>≥37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68" name="table 68"/>
          <p:cNvGraphicFramePr>
            <a:graphicFrameLocks noGrp="1"/>
          </p:cNvGraphicFramePr>
          <p:nvPr/>
        </p:nvGraphicFramePr>
        <p:xfrm>
          <a:off x="1025956" y="5203571"/>
          <a:ext cx="5689600" cy="434340"/>
        </p:xfrm>
        <a:graphic>
          <a:graphicData uri="http://schemas.openxmlformats.org/drawingml/2006/table">
            <a:tbl>
              <a:tblPr/>
              <a:tblGrid>
                <a:gridCol w="720725"/>
                <a:gridCol w="549910"/>
                <a:gridCol w="551815"/>
                <a:gridCol w="551815"/>
                <a:gridCol w="551815"/>
                <a:gridCol w="551815"/>
                <a:gridCol w="549910"/>
                <a:gridCol w="551815"/>
                <a:gridCol w="552450"/>
                <a:gridCol w="557530"/>
              </a:tblGrid>
              <a:tr h="217805">
                <a:tc>
                  <a:txBody>
                    <a:bodyPr/>
                    <a:lstStyle/>
                    <a:p>
                      <a:pPr algn="l" rtl="0" eaLnBrk="0">
                        <a:lnSpc>
                          <a:spcPct val="122000"/>
                        </a:lnSpc>
                        <a:tabLst/>
                      </a:pPr>
                      <a:endParaRPr sz="300" dirty="0">
                        <a:latin typeface="Arial"/>
                        <a:ea typeface="Arial"/>
                        <a:cs typeface="Arial"/>
                      </a:endParaRPr>
                    </a:p>
                    <a:p>
                      <a:pPr marL="139700" algn="l" rtl="0" eaLnBrk="0">
                        <a:lnSpc>
                          <a:spcPct val="86000"/>
                        </a:lnSpc>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7809" algn="l" rtl="0" eaLnBrk="0">
                        <a:lnSpc>
                          <a:spcPct val="83000"/>
                        </a:lnSpc>
                        <a:spcBef>
                          <a:spcPts val="3"/>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3365" algn="l" rtl="0" eaLnBrk="0">
                        <a:lnSpc>
                          <a:spcPct val="83000"/>
                        </a:lnSpc>
                        <a:spcBef>
                          <a:spcPts val="3"/>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4000" algn="l" rtl="0" eaLnBrk="0">
                        <a:lnSpc>
                          <a:spcPct val="83000"/>
                        </a:lnSpc>
                        <a:spcBef>
                          <a:spcPts val="3"/>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0825" algn="l" rtl="0" eaLnBrk="0">
                        <a:lnSpc>
                          <a:spcPct val="83000"/>
                        </a:lnSpc>
                        <a:spcBef>
                          <a:spcPts val="3"/>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2095" algn="l" rtl="0" eaLnBrk="0">
                        <a:lnSpc>
                          <a:spcPct val="83000"/>
                        </a:lnSpc>
                        <a:spcBef>
                          <a:spcPts val="3"/>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0825" algn="l" rtl="0" eaLnBrk="0">
                        <a:lnSpc>
                          <a:spcPct val="83000"/>
                        </a:lnSpc>
                        <a:spcBef>
                          <a:spcPts val="3"/>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4634" algn="l" rtl="0" eaLnBrk="0">
                        <a:lnSpc>
                          <a:spcPct val="83000"/>
                        </a:lnSpc>
                        <a:spcBef>
                          <a:spcPts val="3"/>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2730" algn="l" rtl="0" eaLnBrk="0">
                        <a:lnSpc>
                          <a:spcPct val="83000"/>
                        </a:lnSpc>
                        <a:spcBef>
                          <a:spcPts val="3"/>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2000"/>
                        </a:lnSpc>
                        <a:tabLst/>
                      </a:pPr>
                      <a:endParaRPr sz="300" dirty="0">
                        <a:latin typeface="Arial"/>
                        <a:ea typeface="Arial"/>
                        <a:cs typeface="Arial"/>
                      </a:endParaRPr>
                    </a:p>
                    <a:p>
                      <a:pPr marL="251459" algn="l" rtl="0" eaLnBrk="0">
                        <a:lnSpc>
                          <a:spcPct val="83000"/>
                        </a:lnSpc>
                        <a:spcBef>
                          <a:spcPts val="3"/>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6534">
                <a:tc>
                  <a:txBody>
                    <a:bodyPr/>
                    <a:lstStyle/>
                    <a:p>
                      <a:pPr algn="l" rtl="0" eaLnBrk="0">
                        <a:lnSpc>
                          <a:spcPct val="106000"/>
                        </a:lnSpc>
                        <a:tabLst/>
                      </a:pPr>
                      <a:endParaRPr sz="300" dirty="0">
                        <a:latin typeface="Arial"/>
                        <a:ea typeface="Arial"/>
                        <a:cs typeface="Arial"/>
                      </a:endParaRPr>
                    </a:p>
                    <a:p>
                      <a:pPr marL="80645" algn="l" rtl="0" eaLnBrk="0">
                        <a:lnSpc>
                          <a:spcPct val="86000"/>
                        </a:lnSpc>
                        <a:spcBef>
                          <a:spcPts val="3"/>
                        </a:spcBef>
                        <a:tabLst/>
                      </a:pPr>
                      <a:r>
                        <a:rPr sz="900" kern="0" spc="-70" dirty="0">
                          <a:solidFill>
                            <a:srgbClr val="000000">
                              <a:alpha val="100000"/>
                            </a:srgbClr>
                          </a:solidFill>
                          <a:latin typeface="PingFang SC"/>
                          <a:ea typeface="PingFang SC"/>
                          <a:cs typeface="PingFang SC"/>
                        </a:rPr>
                        <a:t>体高（cm）</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143510" algn="l" rtl="0" eaLnBrk="0">
                        <a:lnSpc>
                          <a:spcPct val="83000"/>
                        </a:lnSpc>
                        <a:spcBef>
                          <a:spcPts val="2"/>
                        </a:spcBef>
                        <a:tabLst/>
                      </a:pPr>
                      <a:r>
                        <a:rPr sz="900" kern="0" spc="0" dirty="0">
                          <a:solidFill>
                            <a:srgbClr val="000000">
                              <a:alpha val="100000"/>
                            </a:srgbClr>
                          </a:solidFill>
                          <a:latin typeface="PingFang SC"/>
                          <a:ea typeface="PingFang SC"/>
                          <a:cs typeface="PingFang SC"/>
                        </a:rPr>
                        <a:t>≤130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202565" algn="l" rtl="0" eaLnBrk="0">
                        <a:lnSpc>
                          <a:spcPct val="83000"/>
                        </a:lnSpc>
                        <a:spcBef>
                          <a:spcPts val="2"/>
                        </a:spcBef>
                        <a:tabLst/>
                      </a:pPr>
                      <a:r>
                        <a:rPr sz="900" kern="0" spc="-50" dirty="0">
                          <a:solidFill>
                            <a:srgbClr val="000000">
                              <a:alpha val="100000"/>
                            </a:srgbClr>
                          </a:solidFill>
                          <a:latin typeface="PingFang SC"/>
                          <a:ea typeface="PingFang SC"/>
                          <a:cs typeface="PingFang SC"/>
                        </a:rPr>
                        <a:t>132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201930" algn="l" rtl="0" eaLnBrk="0">
                        <a:lnSpc>
                          <a:spcPct val="83000"/>
                        </a:lnSpc>
                        <a:spcBef>
                          <a:spcPts val="2"/>
                        </a:spcBef>
                        <a:tabLst/>
                      </a:pPr>
                      <a:r>
                        <a:rPr sz="900" kern="0" spc="-50" dirty="0">
                          <a:solidFill>
                            <a:srgbClr val="000000">
                              <a:alpha val="100000"/>
                            </a:srgbClr>
                          </a:solidFill>
                          <a:latin typeface="PingFang SC"/>
                          <a:ea typeface="PingFang SC"/>
                          <a:cs typeface="PingFang SC"/>
                        </a:rPr>
                        <a:t>135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201930" algn="l" rtl="0" eaLnBrk="0">
                        <a:lnSpc>
                          <a:spcPct val="83000"/>
                        </a:lnSpc>
                        <a:spcBef>
                          <a:spcPts val="2"/>
                        </a:spcBef>
                        <a:tabLst/>
                      </a:pPr>
                      <a:r>
                        <a:rPr sz="900" kern="0" spc="-40" dirty="0">
                          <a:solidFill>
                            <a:srgbClr val="000000">
                              <a:alpha val="100000"/>
                            </a:srgbClr>
                          </a:solidFill>
                          <a:latin typeface="PingFang SC"/>
                          <a:ea typeface="PingFang SC"/>
                          <a:cs typeface="PingFang SC"/>
                        </a:rPr>
                        <a:t>137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200660" algn="l" rtl="0" eaLnBrk="0">
                        <a:lnSpc>
                          <a:spcPct val="83000"/>
                        </a:lnSpc>
                        <a:spcBef>
                          <a:spcPts val="2"/>
                        </a:spcBef>
                        <a:tabLst/>
                      </a:pPr>
                      <a:r>
                        <a:rPr sz="900" kern="0" spc="-50" dirty="0">
                          <a:solidFill>
                            <a:srgbClr val="000000">
                              <a:alpha val="100000"/>
                            </a:srgbClr>
                          </a:solidFill>
                          <a:latin typeface="PingFang SC"/>
                          <a:ea typeface="PingFang SC"/>
                          <a:cs typeface="PingFang SC"/>
                        </a:rPr>
                        <a:t>140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200660" algn="l" rtl="0" eaLnBrk="0">
                        <a:lnSpc>
                          <a:spcPct val="83000"/>
                        </a:lnSpc>
                        <a:spcBef>
                          <a:spcPts val="2"/>
                        </a:spcBef>
                        <a:tabLst/>
                      </a:pPr>
                      <a:r>
                        <a:rPr sz="900" kern="0" spc="-50" dirty="0">
                          <a:solidFill>
                            <a:srgbClr val="000000">
                              <a:alpha val="100000"/>
                            </a:srgbClr>
                          </a:solidFill>
                          <a:latin typeface="PingFang SC"/>
                          <a:ea typeface="PingFang SC"/>
                          <a:cs typeface="PingFang SC"/>
                        </a:rPr>
                        <a:t>142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202565" algn="l" rtl="0" eaLnBrk="0">
                        <a:lnSpc>
                          <a:spcPct val="83000"/>
                        </a:lnSpc>
                        <a:spcBef>
                          <a:spcPts val="2"/>
                        </a:spcBef>
                        <a:tabLst/>
                      </a:pPr>
                      <a:r>
                        <a:rPr sz="900" kern="0" spc="-50" dirty="0">
                          <a:solidFill>
                            <a:srgbClr val="000000">
                              <a:alpha val="100000"/>
                            </a:srgbClr>
                          </a:solidFill>
                          <a:latin typeface="PingFang SC"/>
                          <a:ea typeface="PingFang SC"/>
                          <a:cs typeface="PingFang SC"/>
                        </a:rPr>
                        <a:t>145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202565" algn="l" rtl="0" eaLnBrk="0">
                        <a:lnSpc>
                          <a:spcPct val="83000"/>
                        </a:lnSpc>
                        <a:spcBef>
                          <a:spcPts val="2"/>
                        </a:spcBef>
                        <a:tabLst/>
                      </a:pPr>
                      <a:r>
                        <a:rPr sz="900" kern="0" spc="-40" dirty="0">
                          <a:solidFill>
                            <a:srgbClr val="000000">
                              <a:alpha val="100000"/>
                            </a:srgbClr>
                          </a:solidFill>
                          <a:latin typeface="PingFang SC"/>
                          <a:ea typeface="PingFang SC"/>
                          <a:cs typeface="PingFang SC"/>
                        </a:rPr>
                        <a:t>147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147955" algn="l" rtl="0" eaLnBrk="0">
                        <a:lnSpc>
                          <a:spcPct val="83000"/>
                        </a:lnSpc>
                        <a:spcBef>
                          <a:spcPts val="2"/>
                        </a:spcBef>
                        <a:tabLst/>
                      </a:pPr>
                      <a:r>
                        <a:rPr sz="900" kern="0" spc="0" dirty="0">
                          <a:solidFill>
                            <a:srgbClr val="000000">
                              <a:alpha val="100000"/>
                            </a:srgbClr>
                          </a:solidFill>
                          <a:latin typeface="PingFang SC"/>
                          <a:ea typeface="PingFang SC"/>
                          <a:cs typeface="PingFang SC"/>
                        </a:rPr>
                        <a:t>≥150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70" name="picture 70"/>
          <p:cNvPicPr>
            <a:picLocks noChangeAspect="1"/>
          </p:cNvPicPr>
          <p:nvPr/>
        </p:nvPicPr>
        <p:blipFill>
          <a:blip r:embed="rId2"/>
          <a:stretch>
            <a:fillRect/>
          </a:stretch>
        </p:blipFill>
        <p:spPr>
          <a:xfrm rot="21600000">
            <a:off x="2593721" y="3104134"/>
            <a:ext cx="2817875" cy="2010409"/>
          </a:xfrm>
          <a:prstGeom prst="rect">
            <a:avLst/>
          </a:prstGeom>
        </p:spPr>
      </p:pic>
      <p:pic>
        <p:nvPicPr>
          <p:cNvPr id="72" name="picture 72"/>
          <p:cNvPicPr>
            <a:picLocks noChangeAspect="1"/>
          </p:cNvPicPr>
          <p:nvPr/>
        </p:nvPicPr>
        <p:blipFill>
          <a:blip r:embed="rId3"/>
          <a:stretch>
            <a:fillRect/>
          </a:stretch>
        </p:blipFill>
        <p:spPr>
          <a:xfrm rot="21600000">
            <a:off x="1583055" y="6977889"/>
            <a:ext cx="4840605" cy="1678177"/>
          </a:xfrm>
          <a:prstGeom prst="rect">
            <a:avLst/>
          </a:prstGeom>
        </p:spPr>
      </p:pic>
      <p:sp>
        <p:nvSpPr>
          <p:cNvPr id="74" name="textbox 74"/>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76" name="textbox 76"/>
          <p:cNvSpPr/>
          <p:nvPr/>
        </p:nvSpPr>
        <p:spPr>
          <a:xfrm>
            <a:off x="2703130" y="9262732"/>
            <a:ext cx="2348865" cy="16002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2700" algn="l" rtl="0" eaLnBrk="0">
              <a:lnSpc>
                <a:spcPct val="88000"/>
              </a:lnSpc>
              <a:tabLst/>
            </a:pPr>
            <a:r>
              <a:rPr sz="1000" kern="0" spc="40" dirty="0">
                <a:solidFill>
                  <a:srgbClr val="000000">
                    <a:alpha val="100000"/>
                  </a:srgbClr>
                </a:solidFill>
                <a:latin typeface="PingFang SC"/>
                <a:ea typeface="PingFang SC"/>
                <a:cs typeface="PingFang SC"/>
              </a:rPr>
              <a:t>图A.2   胸宽评分</a:t>
            </a:r>
            <a:r>
              <a:rPr sz="1000" kern="0" spc="30" dirty="0">
                <a:solidFill>
                  <a:srgbClr val="000000">
                    <a:alpha val="100000"/>
                  </a:srgbClr>
                </a:solidFill>
                <a:latin typeface="PingFang SC"/>
                <a:ea typeface="PingFang SC"/>
                <a:cs typeface="PingFang SC"/>
              </a:rPr>
              <a:t>示意图与线性评分标准</a:t>
            </a:r>
            <a:endParaRPr sz="1000" dirty="0">
              <a:latin typeface="PingFang SC"/>
              <a:ea typeface="PingFang SC"/>
              <a:cs typeface="PingFang SC"/>
            </a:endParaRPr>
          </a:p>
        </p:txBody>
      </p:sp>
      <p:sp>
        <p:nvSpPr>
          <p:cNvPr id="78" name="textbox 78"/>
          <p:cNvSpPr/>
          <p:nvPr/>
        </p:nvSpPr>
        <p:spPr>
          <a:xfrm>
            <a:off x="5767248"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4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80" name="textbox 80"/>
          <p:cNvSpPr/>
          <p:nvPr/>
        </p:nvSpPr>
        <p:spPr>
          <a:xfrm>
            <a:off x="6620523" y="9846400"/>
            <a:ext cx="73660" cy="100965"/>
          </a:xfrm>
          <a:prstGeom prst="rect">
            <a:avLst/>
          </a:prstGeom>
          <a:noFill/>
          <a:ln w="0" cap="flat">
            <a:noFill/>
            <a:prstDash val="solid"/>
            <a:miter lim="0"/>
          </a:ln>
        </p:spPr>
        <p:txBody>
          <a:bodyPr vert="horz" wrap="square" lIns="0" tIns="0" rIns="0" bIns="0"/>
          <a:lstStyle/>
          <a:p>
            <a:pPr algn="l" rtl="0" eaLnBrk="0">
              <a:lnSpc>
                <a:spcPct val="84888"/>
              </a:lnSpc>
              <a:tabLst/>
            </a:pPr>
            <a:endParaRPr sz="100" dirty="0">
              <a:latin typeface="Arial"/>
              <a:ea typeface="Arial"/>
              <a:cs typeface="Arial"/>
            </a:endParaRPr>
          </a:p>
          <a:p>
            <a:pPr algn="r" rtl="0" eaLnBrk="0">
              <a:lnSpc>
                <a:spcPct val="82000"/>
              </a:lnSpc>
              <a:tabLst/>
            </a:pPr>
            <a:r>
              <a:rPr sz="600" kern="0" spc="0" dirty="0">
                <a:solidFill>
                  <a:srgbClr val="000000">
                    <a:alpha val="100000"/>
                  </a:srgbClr>
                </a:solidFill>
                <a:latin typeface="PingFang SC"/>
                <a:ea typeface="PingFang SC"/>
                <a:cs typeface="PingFang SC"/>
              </a:rPr>
              <a:t>3</a:t>
            </a:r>
            <a:endParaRPr sz="600" dirty="0">
              <a:latin typeface="PingFang SC"/>
              <a:ea typeface="PingFang SC"/>
              <a:cs typeface="PingFang S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 name="table 82"/>
          <p:cNvGraphicFramePr>
            <a:graphicFrameLocks noGrp="1"/>
          </p:cNvGraphicFramePr>
          <p:nvPr/>
        </p:nvGraphicFramePr>
        <p:xfrm>
          <a:off x="931468" y="3987419"/>
          <a:ext cx="5518785" cy="434340"/>
        </p:xfrm>
        <a:graphic>
          <a:graphicData uri="http://schemas.openxmlformats.org/drawingml/2006/table">
            <a:tbl>
              <a:tblPr/>
              <a:tblGrid>
                <a:gridCol w="603250"/>
                <a:gridCol w="545465"/>
                <a:gridCol w="546100"/>
                <a:gridCol w="545465"/>
                <a:gridCol w="545465"/>
                <a:gridCol w="544195"/>
                <a:gridCol w="545465"/>
                <a:gridCol w="545465"/>
                <a:gridCol w="546100"/>
                <a:gridCol w="551815"/>
              </a:tblGrid>
              <a:tr h="216534">
                <a:tc>
                  <a:txBody>
                    <a:bodyPr/>
                    <a:lstStyle/>
                    <a:p>
                      <a:pPr algn="l" rtl="0" eaLnBrk="0">
                        <a:lnSpc>
                          <a:spcPct val="118000"/>
                        </a:lnSpc>
                        <a:tabLst/>
                      </a:pPr>
                      <a:endParaRPr sz="300" dirty="0">
                        <a:latin typeface="Arial"/>
                        <a:ea typeface="Arial"/>
                        <a:cs typeface="Arial"/>
                      </a:endParaRPr>
                    </a:p>
                    <a:p>
                      <a:pPr marL="81915"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56540"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9555"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50190"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7650"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50825"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9555"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51459"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9555"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8920"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8000"/>
                        </a:lnSpc>
                        <a:tabLst/>
                      </a:pPr>
                      <a:endParaRPr sz="300" dirty="0">
                        <a:latin typeface="Arial"/>
                        <a:ea typeface="Arial"/>
                        <a:cs typeface="Arial"/>
                      </a:endParaRPr>
                    </a:p>
                    <a:p>
                      <a:pPr marL="194945" algn="l" rtl="0" eaLnBrk="0">
                        <a:lnSpc>
                          <a:spcPct val="86000"/>
                        </a:lnSpc>
                        <a:spcBef>
                          <a:spcPts val="1"/>
                        </a:spcBef>
                        <a:tabLst/>
                      </a:pPr>
                      <a:r>
                        <a:rPr sz="900" kern="0" spc="-20" dirty="0">
                          <a:solidFill>
                            <a:srgbClr val="000000">
                              <a:alpha val="100000"/>
                            </a:srgbClr>
                          </a:solidFill>
                          <a:latin typeface="PingFang SC"/>
                          <a:ea typeface="PingFang SC"/>
                          <a:cs typeface="PingFang SC"/>
                        </a:rPr>
                        <a:t>体深</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33350" algn="l" rtl="0" eaLnBrk="0">
                        <a:lnSpc>
                          <a:spcPct val="83000"/>
                        </a:lnSpc>
                        <a:spcBef>
                          <a:spcPts val="1"/>
                        </a:spcBef>
                        <a:tabLst/>
                      </a:pPr>
                      <a:r>
                        <a:rPr sz="900" kern="0" spc="-20" dirty="0">
                          <a:solidFill>
                            <a:srgbClr val="000000">
                              <a:alpha val="100000"/>
                            </a:srgbClr>
                          </a:solidFill>
                          <a:latin typeface="PingFang SC"/>
                          <a:ea typeface="PingFang SC"/>
                          <a:cs typeface="PingFang SC"/>
                        </a:rPr>
                        <a:t>40:60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3000"/>
                        </a:lnSpc>
                        <a:tabLst/>
                      </a:pPr>
                      <a:endParaRPr sz="600" dirty="0">
                        <a:latin typeface="Arial"/>
                        <a:ea typeface="Arial"/>
                        <a:cs typeface="Arial"/>
                      </a:endParaRPr>
                    </a:p>
                    <a:p>
                      <a:pPr marL="247650" algn="l" rtl="0" eaLnBrk="0">
                        <a:lnSpc>
                          <a:spcPts val="306"/>
                        </a:lnSpc>
                        <a:spcBef>
                          <a:spcPts val="5"/>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33350" algn="l" rtl="0" eaLnBrk="0">
                        <a:lnSpc>
                          <a:spcPct val="83000"/>
                        </a:lnSpc>
                        <a:spcBef>
                          <a:spcPts val="1"/>
                        </a:spcBef>
                        <a:tabLst/>
                      </a:pPr>
                      <a:r>
                        <a:rPr sz="900" kern="0" spc="-20" dirty="0">
                          <a:solidFill>
                            <a:srgbClr val="000000">
                              <a:alpha val="100000"/>
                            </a:srgbClr>
                          </a:solidFill>
                          <a:latin typeface="PingFang SC"/>
                          <a:ea typeface="PingFang SC"/>
                          <a:cs typeface="PingFang SC"/>
                        </a:rPr>
                        <a:t>45:55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3000"/>
                        </a:lnSpc>
                        <a:tabLst/>
                      </a:pPr>
                      <a:endParaRPr sz="600" dirty="0">
                        <a:latin typeface="Arial"/>
                        <a:ea typeface="Arial"/>
                        <a:cs typeface="Arial"/>
                      </a:endParaRPr>
                    </a:p>
                    <a:p>
                      <a:pPr marL="247650" algn="l" rtl="0" eaLnBrk="0">
                        <a:lnSpc>
                          <a:spcPts val="306"/>
                        </a:lnSpc>
                        <a:spcBef>
                          <a:spcPts val="5"/>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36525" algn="l" rtl="0" eaLnBrk="0">
                        <a:lnSpc>
                          <a:spcPct val="83000"/>
                        </a:lnSpc>
                        <a:spcBef>
                          <a:spcPts val="1"/>
                        </a:spcBef>
                        <a:tabLst/>
                      </a:pPr>
                      <a:r>
                        <a:rPr sz="900" kern="0" spc="-30" dirty="0">
                          <a:solidFill>
                            <a:srgbClr val="000000">
                              <a:alpha val="100000"/>
                            </a:srgbClr>
                          </a:solidFill>
                          <a:latin typeface="PingFang SC"/>
                          <a:ea typeface="PingFang SC"/>
                          <a:cs typeface="PingFang SC"/>
                        </a:rPr>
                        <a:t>50:50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3000"/>
                        </a:lnSpc>
                        <a:tabLst/>
                      </a:pPr>
                      <a:endParaRPr sz="600" dirty="0">
                        <a:latin typeface="Arial"/>
                        <a:ea typeface="Arial"/>
                        <a:cs typeface="Arial"/>
                      </a:endParaRPr>
                    </a:p>
                    <a:p>
                      <a:pPr marL="247650" algn="l" rtl="0" eaLnBrk="0">
                        <a:lnSpc>
                          <a:spcPts val="306"/>
                        </a:lnSpc>
                        <a:spcBef>
                          <a:spcPts val="5"/>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36525" algn="l" rtl="0" eaLnBrk="0">
                        <a:lnSpc>
                          <a:spcPct val="83000"/>
                        </a:lnSpc>
                        <a:spcBef>
                          <a:spcPts val="1"/>
                        </a:spcBef>
                        <a:tabLst/>
                      </a:pPr>
                      <a:r>
                        <a:rPr sz="900" kern="0" spc="-30" dirty="0">
                          <a:solidFill>
                            <a:srgbClr val="000000">
                              <a:alpha val="100000"/>
                            </a:srgbClr>
                          </a:solidFill>
                          <a:latin typeface="PingFang SC"/>
                          <a:ea typeface="PingFang SC"/>
                          <a:cs typeface="PingFang SC"/>
                        </a:rPr>
                        <a:t>55:45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3000"/>
                        </a:lnSpc>
                        <a:tabLst/>
                      </a:pPr>
                      <a:endParaRPr sz="600" dirty="0">
                        <a:latin typeface="Arial"/>
                        <a:ea typeface="Arial"/>
                        <a:cs typeface="Arial"/>
                      </a:endParaRPr>
                    </a:p>
                    <a:p>
                      <a:pPr marL="247650" algn="l" rtl="0" eaLnBrk="0">
                        <a:lnSpc>
                          <a:spcPts val="306"/>
                        </a:lnSpc>
                        <a:spcBef>
                          <a:spcPts val="5"/>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35255" algn="l" rtl="0" eaLnBrk="0">
                        <a:lnSpc>
                          <a:spcPct val="83000"/>
                        </a:lnSpc>
                        <a:spcBef>
                          <a:spcPts val="1"/>
                        </a:spcBef>
                        <a:tabLst/>
                      </a:pPr>
                      <a:r>
                        <a:rPr sz="900" kern="0" spc="-30" dirty="0">
                          <a:solidFill>
                            <a:srgbClr val="000000">
                              <a:alpha val="100000"/>
                            </a:srgbClr>
                          </a:solidFill>
                          <a:latin typeface="PingFang SC"/>
                          <a:ea typeface="PingFang SC"/>
                          <a:cs typeface="PingFang SC"/>
                        </a:rPr>
                        <a:t>60:40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84" name="textbox 84"/>
          <p:cNvSpPr/>
          <p:nvPr/>
        </p:nvSpPr>
        <p:spPr>
          <a:xfrm>
            <a:off x="708237" y="4540745"/>
            <a:ext cx="5969000" cy="155702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827529" algn="l" rtl="0" eaLnBrk="0">
              <a:lnSpc>
                <a:spcPct val="88000"/>
              </a:lnSpc>
              <a:tabLst/>
            </a:pPr>
            <a:r>
              <a:rPr sz="1000" kern="0" spc="40" dirty="0">
                <a:solidFill>
                  <a:srgbClr val="000000">
                    <a:alpha val="100000"/>
                  </a:srgbClr>
                </a:solidFill>
                <a:latin typeface="PingFang SC"/>
                <a:ea typeface="PingFang SC"/>
                <a:cs typeface="PingFang SC"/>
              </a:rPr>
              <a:t>图A.3   体深评分</a:t>
            </a:r>
            <a:r>
              <a:rPr sz="1000" kern="0" spc="30" dirty="0">
                <a:solidFill>
                  <a:srgbClr val="000000">
                    <a:alpha val="100000"/>
                  </a:srgbClr>
                </a:solidFill>
                <a:latin typeface="PingFang SC"/>
                <a:ea typeface="PingFang SC"/>
                <a:cs typeface="PingFang SC"/>
              </a:rPr>
              <a:t>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20" dirty="0">
                <a:solidFill>
                  <a:srgbClr val="000000">
                    <a:alpha val="100000"/>
                  </a:srgbClr>
                </a:solidFill>
                <a:latin typeface="PingFang SC"/>
                <a:ea typeface="PingFang SC"/>
                <a:cs typeface="PingFang SC"/>
              </a:rPr>
              <a:t>A.4   腰强度</a:t>
            </a:r>
            <a:endParaRPr sz="1000" dirty="0">
              <a:latin typeface="PingFang SC"/>
              <a:ea typeface="PingFang SC"/>
              <a:cs typeface="PingFang SC"/>
            </a:endParaRPr>
          </a:p>
          <a:p>
            <a:pPr algn="l" rtl="0" eaLnBrk="0">
              <a:lnSpc>
                <a:spcPct val="119000"/>
              </a:lnSpc>
              <a:tabLst/>
            </a:pPr>
            <a:endParaRPr sz="1000" dirty="0">
              <a:latin typeface="Arial"/>
              <a:ea typeface="Arial"/>
              <a:cs typeface="Arial"/>
            </a:endParaRPr>
          </a:p>
          <a:p>
            <a:pPr algn="l" rtl="0" eaLnBrk="0">
              <a:lnSpc>
                <a:spcPct val="129000"/>
              </a:lnSpc>
              <a:tabLst/>
            </a:pPr>
            <a:endParaRPr sz="200" dirty="0">
              <a:latin typeface="Arial"/>
              <a:ea typeface="Arial"/>
              <a:cs typeface="Arial"/>
            </a:endParaRPr>
          </a:p>
          <a:p>
            <a:pPr marL="16510" indent="265430" algn="l" rtl="0" eaLnBrk="0">
              <a:lnSpc>
                <a:spcPct val="128000"/>
              </a:lnSpc>
              <a:tabLst/>
            </a:pPr>
            <a:r>
              <a:rPr sz="1000" kern="0" spc="40" dirty="0">
                <a:solidFill>
                  <a:srgbClr val="000000">
                    <a:alpha val="100000"/>
                  </a:srgbClr>
                </a:solidFill>
                <a:latin typeface="PingFang SC"/>
                <a:ea typeface="PingFang SC"/>
                <a:cs typeface="PingFang SC"/>
              </a:rPr>
              <a:t>评定牛臀（十字部）与背之间脊椎骨的连接强度及腰椎横突发育状态。在牛只自然</a:t>
            </a:r>
            <a:r>
              <a:rPr sz="1000" kern="0" spc="30" dirty="0">
                <a:solidFill>
                  <a:srgbClr val="000000">
                    <a:alpha val="100000"/>
                  </a:srgbClr>
                </a:solidFill>
                <a:latin typeface="PingFang SC"/>
                <a:ea typeface="PingFang SC"/>
                <a:cs typeface="PingFang SC"/>
              </a:rPr>
              <a:t>状态站立下，极</a:t>
            </a:r>
            <a:r>
              <a:rPr sz="1000" kern="0" spc="40" dirty="0">
                <a:solidFill>
                  <a:srgbClr val="000000">
                    <a:alpha val="100000"/>
                  </a:srgbClr>
                </a:solidFill>
                <a:latin typeface="PingFang SC"/>
                <a:ea typeface="PingFang SC"/>
                <a:cs typeface="PingFang SC"/>
              </a:rPr>
              <a:t>强个体背部的脊椎骨微有隆起，</a:t>
            </a:r>
            <a:r>
              <a:rPr sz="1000" kern="0" spc="-80" dirty="0">
                <a:solidFill>
                  <a:srgbClr val="000000">
                    <a:alpha val="100000"/>
                  </a:srgbClr>
                </a:solidFill>
                <a:latin typeface="PingFang SC"/>
                <a:ea typeface="PingFang SC"/>
                <a:cs typeface="PingFang SC"/>
              </a:rPr>
              <a:t> </a:t>
            </a:r>
            <a:r>
              <a:rPr sz="1000" kern="0" spc="40" dirty="0">
                <a:solidFill>
                  <a:srgbClr val="000000">
                    <a:alpha val="100000"/>
                  </a:srgbClr>
                </a:solidFill>
                <a:latin typeface="PingFang SC"/>
                <a:ea typeface="PingFang SC"/>
                <a:cs typeface="PingFang SC"/>
              </a:rPr>
              <a:t>腰椎横突发育长而平，背部整体平直，评分不低于7分；</a:t>
            </a:r>
            <a:r>
              <a:rPr sz="1000" kern="0" spc="-200" dirty="0">
                <a:solidFill>
                  <a:srgbClr val="000000">
                    <a:alpha val="100000"/>
                  </a:srgbClr>
                </a:solidFill>
                <a:latin typeface="PingFang SC"/>
                <a:ea typeface="PingFang SC"/>
                <a:cs typeface="PingFang SC"/>
              </a:rPr>
              <a:t> </a:t>
            </a:r>
            <a:r>
              <a:rPr sz="1000" kern="0" spc="40" dirty="0">
                <a:solidFill>
                  <a:srgbClr val="000000">
                    <a:alpha val="100000"/>
                  </a:srgbClr>
                </a:solidFill>
                <a:latin typeface="PingFang SC"/>
                <a:ea typeface="PingFang SC"/>
                <a:cs typeface="PingFang SC"/>
              </a:rPr>
              <a:t>脊椎骨较为平</a:t>
            </a:r>
            <a:r>
              <a:rPr sz="1000" kern="0" spc="20" dirty="0">
                <a:solidFill>
                  <a:srgbClr val="000000">
                    <a:alpha val="100000"/>
                  </a:srgbClr>
                </a:solidFill>
                <a:latin typeface="PingFang SC"/>
                <a:ea typeface="PingFang SC"/>
                <a:cs typeface="PingFang SC"/>
              </a:rPr>
              <a:t>坦，腰椎横突发育均匀，背部呈塌腰下凹趋势，评分5-7分；极弱个体背部下凹，腰椎横突发育短而细，</a:t>
            </a:r>
            <a:r>
              <a:rPr sz="1000" kern="0" spc="40" dirty="0">
                <a:solidFill>
                  <a:srgbClr val="000000">
                    <a:alpha val="100000"/>
                  </a:srgbClr>
                </a:solidFill>
                <a:latin typeface="PingFang SC"/>
                <a:ea typeface="PingFang SC"/>
                <a:cs typeface="PingFang SC"/>
              </a:rPr>
              <a:t>呈明显塌腰状，</a:t>
            </a:r>
            <a:r>
              <a:rPr sz="1000" kern="0" spc="-220" dirty="0">
                <a:solidFill>
                  <a:srgbClr val="000000">
                    <a:alpha val="100000"/>
                  </a:srgbClr>
                </a:solidFill>
                <a:latin typeface="PingFang SC"/>
                <a:ea typeface="PingFang SC"/>
                <a:cs typeface="PingFang SC"/>
              </a:rPr>
              <a:t> </a:t>
            </a:r>
            <a:r>
              <a:rPr sz="1000" kern="0" spc="40" dirty="0">
                <a:solidFill>
                  <a:srgbClr val="000000">
                    <a:alpha val="100000"/>
                  </a:srgbClr>
                </a:solidFill>
                <a:latin typeface="PingFang SC"/>
                <a:ea typeface="PingFang SC"/>
                <a:cs typeface="PingFang SC"/>
              </a:rPr>
              <a:t>评分不高于</a:t>
            </a:r>
            <a:r>
              <a:rPr sz="1000" kern="0" spc="30" dirty="0">
                <a:solidFill>
                  <a:srgbClr val="000000">
                    <a:alpha val="100000"/>
                  </a:srgbClr>
                </a:solidFill>
                <a:latin typeface="PingFang SC"/>
                <a:ea typeface="PingFang SC"/>
                <a:cs typeface="PingFang SC"/>
              </a:rPr>
              <a:t>4分。</a:t>
            </a:r>
            <a:r>
              <a:rPr sz="1000" kern="0" spc="-200" dirty="0">
                <a:solidFill>
                  <a:srgbClr val="000000">
                    <a:alpha val="100000"/>
                  </a:srgbClr>
                </a:solidFill>
                <a:latin typeface="PingFang SC"/>
                <a:ea typeface="PingFang SC"/>
                <a:cs typeface="PingFang SC"/>
              </a:rPr>
              <a:t> </a:t>
            </a:r>
            <a:r>
              <a:rPr sz="1000" kern="0" spc="30" dirty="0">
                <a:solidFill>
                  <a:srgbClr val="000000">
                    <a:alpha val="100000"/>
                  </a:srgbClr>
                </a:solidFill>
                <a:latin typeface="PingFang SC"/>
                <a:ea typeface="PingFang SC"/>
                <a:cs typeface="PingFang SC"/>
              </a:rPr>
              <a:t>评定部位、评分与线性评分标准见图A.4。</a:t>
            </a:r>
            <a:endParaRPr sz="1000" dirty="0">
              <a:latin typeface="PingFang SC"/>
              <a:ea typeface="PingFang SC"/>
              <a:cs typeface="PingFang SC"/>
            </a:endParaRPr>
          </a:p>
        </p:txBody>
      </p:sp>
      <p:sp>
        <p:nvSpPr>
          <p:cNvPr id="86" name="textbox 86"/>
          <p:cNvSpPr/>
          <p:nvPr/>
        </p:nvSpPr>
        <p:spPr>
          <a:xfrm>
            <a:off x="708237" y="1233284"/>
            <a:ext cx="5969000" cy="77089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2700" algn="l" rtl="0" eaLnBrk="0">
              <a:lnSpc>
                <a:spcPct val="88000"/>
              </a:lnSpc>
              <a:tabLst/>
            </a:pPr>
            <a:r>
              <a:rPr sz="1000" kern="0" spc="20" dirty="0">
                <a:solidFill>
                  <a:srgbClr val="000000">
                    <a:alpha val="100000"/>
                  </a:srgbClr>
                </a:solidFill>
                <a:latin typeface="PingFang SC"/>
                <a:ea typeface="PingFang SC"/>
                <a:cs typeface="PingFang SC"/>
              </a:rPr>
              <a:t>A.3   体深</a:t>
            </a:r>
            <a:endParaRPr sz="1000" dirty="0">
              <a:latin typeface="PingFang SC"/>
              <a:ea typeface="PingFang SC"/>
              <a:cs typeface="PingFang SC"/>
            </a:endParaRPr>
          </a:p>
          <a:p>
            <a:pPr algn="l" rtl="0" eaLnBrk="0">
              <a:lnSpc>
                <a:spcPct val="119000"/>
              </a:lnSpc>
              <a:tabLst/>
            </a:pPr>
            <a:endParaRPr sz="1000" dirty="0">
              <a:latin typeface="Arial"/>
              <a:ea typeface="Arial"/>
              <a:cs typeface="Arial"/>
            </a:endParaRPr>
          </a:p>
          <a:p>
            <a:pPr algn="l" rtl="0" eaLnBrk="0">
              <a:lnSpc>
                <a:spcPct val="129000"/>
              </a:lnSpc>
              <a:tabLst/>
            </a:pPr>
            <a:endParaRPr sz="200" dirty="0">
              <a:latin typeface="Arial"/>
              <a:ea typeface="Arial"/>
              <a:cs typeface="Arial"/>
            </a:endParaRPr>
          </a:p>
          <a:p>
            <a:pPr marL="17780" indent="264795" algn="l" rtl="0" eaLnBrk="0">
              <a:lnSpc>
                <a:spcPct val="128000"/>
              </a:lnSpc>
              <a:spcBef>
                <a:spcPts val="2"/>
              </a:spcBef>
              <a:tabLst/>
            </a:pPr>
            <a:r>
              <a:rPr sz="1000" kern="0" spc="40" dirty="0">
                <a:solidFill>
                  <a:srgbClr val="000000">
                    <a:alpha val="100000"/>
                  </a:srgbClr>
                </a:solidFill>
                <a:latin typeface="PingFang SC"/>
                <a:ea typeface="PingFang SC"/>
                <a:cs typeface="PingFang SC"/>
              </a:rPr>
              <a:t>评定最后一根肋骨处腰椎至腹底部的垂直距离与腹底部至地面垂直距离的比例关系。</a:t>
            </a:r>
            <a:r>
              <a:rPr sz="1000" kern="0" spc="30" dirty="0">
                <a:solidFill>
                  <a:srgbClr val="000000">
                    <a:alpha val="100000"/>
                  </a:srgbClr>
                </a:solidFill>
                <a:latin typeface="PingFang SC"/>
                <a:ea typeface="PingFang SC"/>
                <a:cs typeface="PingFang SC"/>
              </a:rPr>
              <a:t>评定部位、评</a:t>
            </a:r>
            <a:r>
              <a:rPr sz="1000" kern="0" spc="30" dirty="0">
                <a:solidFill>
                  <a:srgbClr val="000000">
                    <a:alpha val="100000"/>
                  </a:srgbClr>
                </a:solidFill>
                <a:latin typeface="PingFang SC"/>
                <a:ea typeface="PingFang SC"/>
                <a:cs typeface="PingFang SC"/>
              </a:rPr>
              <a:t>分与线性评定标准见图A.3。</a:t>
            </a:r>
            <a:endParaRPr sz="1000" dirty="0">
              <a:latin typeface="PingFang SC"/>
              <a:ea typeface="PingFang SC"/>
              <a:cs typeface="PingFang SC"/>
            </a:endParaRPr>
          </a:p>
        </p:txBody>
      </p:sp>
      <p:sp>
        <p:nvSpPr>
          <p:cNvPr id="88" name="textbox 88"/>
          <p:cNvSpPr/>
          <p:nvPr/>
        </p:nvSpPr>
        <p:spPr>
          <a:xfrm>
            <a:off x="708237" y="8640941"/>
            <a:ext cx="5142865" cy="95250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760220" algn="l" rtl="0" eaLnBrk="0">
              <a:lnSpc>
                <a:spcPct val="88000"/>
              </a:lnSpc>
              <a:tabLst/>
            </a:pPr>
            <a:r>
              <a:rPr sz="1000" kern="0" spc="40" dirty="0">
                <a:solidFill>
                  <a:srgbClr val="000000">
                    <a:alpha val="100000"/>
                  </a:srgbClr>
                </a:solidFill>
                <a:latin typeface="PingFang SC"/>
                <a:ea typeface="PingFang SC"/>
                <a:cs typeface="PingFang SC"/>
              </a:rPr>
              <a:t>图A.4   腰强度评分</a:t>
            </a:r>
            <a:r>
              <a:rPr sz="1000" kern="0" spc="30" dirty="0">
                <a:solidFill>
                  <a:srgbClr val="000000">
                    <a:alpha val="100000"/>
                  </a:srgbClr>
                </a:solidFill>
                <a:latin typeface="PingFang SC"/>
                <a:ea typeface="PingFang SC"/>
                <a:cs typeface="PingFang SC"/>
              </a:rPr>
              <a:t>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20" dirty="0">
                <a:solidFill>
                  <a:srgbClr val="000000">
                    <a:alpha val="100000"/>
                  </a:srgbClr>
                </a:solidFill>
                <a:latin typeface="PingFang SC"/>
                <a:ea typeface="PingFang SC"/>
                <a:cs typeface="PingFang SC"/>
              </a:rPr>
              <a:t>A.5   尻角度</a:t>
            </a:r>
            <a:endParaRPr sz="1000" dirty="0">
              <a:latin typeface="PingFang SC"/>
              <a:ea typeface="PingFang SC"/>
              <a:cs typeface="PingFang SC"/>
            </a:endParaRPr>
          </a:p>
          <a:p>
            <a:pPr algn="l" rtl="0" eaLnBrk="0">
              <a:lnSpc>
                <a:spcPct val="146000"/>
              </a:lnSpc>
              <a:tabLst/>
            </a:pPr>
            <a:endParaRPr sz="1000" dirty="0">
              <a:latin typeface="Arial"/>
              <a:ea typeface="Arial"/>
              <a:cs typeface="Arial"/>
            </a:endParaRPr>
          </a:p>
          <a:p>
            <a:pPr algn="l" rtl="0" eaLnBrk="0">
              <a:lnSpc>
                <a:spcPct val="129000"/>
              </a:lnSpc>
              <a:tabLst/>
            </a:pPr>
            <a:endParaRPr sz="200" dirty="0">
              <a:latin typeface="Arial"/>
              <a:ea typeface="Arial"/>
              <a:cs typeface="Arial"/>
            </a:endParaRPr>
          </a:p>
          <a:p>
            <a:pPr algn="r" rtl="0" eaLnBrk="0">
              <a:lnSpc>
                <a:spcPct val="88000"/>
              </a:lnSpc>
              <a:spcBef>
                <a:spcPts val="2"/>
              </a:spcBef>
              <a:tabLst/>
            </a:pPr>
            <a:r>
              <a:rPr sz="1000" kern="0" spc="30" dirty="0">
                <a:solidFill>
                  <a:srgbClr val="000000">
                    <a:alpha val="100000"/>
                  </a:srgbClr>
                </a:solidFill>
                <a:latin typeface="PingFang SC"/>
                <a:ea typeface="PingFang SC"/>
                <a:cs typeface="PingFang SC"/>
              </a:rPr>
              <a:t>髋结节最高点和坐骨结节最高点的高度差。评定部位、评分与线性评分标准</a:t>
            </a:r>
            <a:r>
              <a:rPr sz="1000" kern="0" spc="20" dirty="0">
                <a:solidFill>
                  <a:srgbClr val="000000">
                    <a:alpha val="100000"/>
                  </a:srgbClr>
                </a:solidFill>
                <a:latin typeface="PingFang SC"/>
                <a:ea typeface="PingFang SC"/>
                <a:cs typeface="PingFang SC"/>
              </a:rPr>
              <a:t>见A.5。</a:t>
            </a:r>
            <a:endParaRPr sz="1000" dirty="0">
              <a:latin typeface="PingFang SC"/>
              <a:ea typeface="PingFang SC"/>
              <a:cs typeface="PingFang SC"/>
            </a:endParaRPr>
          </a:p>
        </p:txBody>
      </p:sp>
      <p:pic>
        <p:nvPicPr>
          <p:cNvPr id="90" name="picture 90"/>
          <p:cNvPicPr>
            <a:picLocks noChangeAspect="1"/>
          </p:cNvPicPr>
          <p:nvPr/>
        </p:nvPicPr>
        <p:blipFill>
          <a:blip r:embed="rId2"/>
          <a:stretch>
            <a:fillRect/>
          </a:stretch>
        </p:blipFill>
        <p:spPr>
          <a:xfrm rot="21600000">
            <a:off x="2727579" y="2091309"/>
            <a:ext cx="2192020" cy="1805178"/>
          </a:xfrm>
          <a:prstGeom prst="rect">
            <a:avLst/>
          </a:prstGeom>
        </p:spPr>
      </p:pic>
      <p:pic>
        <p:nvPicPr>
          <p:cNvPr id="92" name="picture 92"/>
          <p:cNvPicPr>
            <a:picLocks noChangeAspect="1"/>
          </p:cNvPicPr>
          <p:nvPr/>
        </p:nvPicPr>
        <p:blipFill>
          <a:blip r:embed="rId3"/>
          <a:stretch>
            <a:fillRect/>
          </a:stretch>
        </p:blipFill>
        <p:spPr>
          <a:xfrm rot="21600000">
            <a:off x="1280414" y="6160643"/>
            <a:ext cx="4818507" cy="1870075"/>
          </a:xfrm>
          <a:prstGeom prst="rect">
            <a:avLst/>
          </a:prstGeom>
        </p:spPr>
      </p:pic>
      <p:graphicFrame>
        <p:nvGraphicFramePr>
          <p:cNvPr id="94" name="table 94"/>
          <p:cNvGraphicFramePr>
            <a:graphicFrameLocks noGrp="1"/>
          </p:cNvGraphicFramePr>
          <p:nvPr/>
        </p:nvGraphicFramePr>
        <p:xfrm>
          <a:off x="846124" y="8087233"/>
          <a:ext cx="5689600" cy="434339"/>
        </p:xfrm>
        <a:graphic>
          <a:graphicData uri="http://schemas.openxmlformats.org/drawingml/2006/table">
            <a:tbl>
              <a:tblPr/>
              <a:tblGrid>
                <a:gridCol w="630555"/>
                <a:gridCol w="561975"/>
                <a:gridCol w="561340"/>
                <a:gridCol w="560705"/>
                <a:gridCol w="562610"/>
                <a:gridCol w="560705"/>
                <a:gridCol w="560705"/>
                <a:gridCol w="562610"/>
                <a:gridCol w="561340"/>
                <a:gridCol w="567055"/>
              </a:tblGrid>
              <a:tr h="216534">
                <a:tc>
                  <a:txBody>
                    <a:bodyPr/>
                    <a:lstStyle/>
                    <a:p>
                      <a:pPr algn="l" rtl="0" eaLnBrk="0">
                        <a:lnSpc>
                          <a:spcPct val="118000"/>
                        </a:lnSpc>
                        <a:tabLst/>
                      </a:pPr>
                      <a:endParaRPr sz="300" dirty="0">
                        <a:latin typeface="Arial"/>
                        <a:ea typeface="Arial"/>
                        <a:cs typeface="Arial"/>
                      </a:endParaRPr>
                    </a:p>
                    <a:p>
                      <a:pPr marL="95250"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64160"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55905"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58445"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55905"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56540"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57175"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59080"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55905"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56540"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9000"/>
                        </a:lnSpc>
                        <a:tabLst/>
                      </a:pPr>
                      <a:endParaRPr sz="300" dirty="0">
                        <a:latin typeface="Arial"/>
                        <a:ea typeface="Arial"/>
                        <a:cs typeface="Arial"/>
                      </a:endParaRPr>
                    </a:p>
                    <a:p>
                      <a:pPr marL="149860" algn="l" rtl="0" eaLnBrk="0">
                        <a:lnSpc>
                          <a:spcPct val="86000"/>
                        </a:lnSpc>
                        <a:spcBef>
                          <a:spcPts val="1"/>
                        </a:spcBef>
                        <a:tabLst/>
                      </a:pPr>
                      <a:r>
                        <a:rPr sz="900" kern="0" spc="-20" dirty="0">
                          <a:solidFill>
                            <a:srgbClr val="000000">
                              <a:alpha val="100000"/>
                            </a:srgbClr>
                          </a:solidFill>
                          <a:latin typeface="PingFang SC"/>
                          <a:ea typeface="PingFang SC"/>
                          <a:cs typeface="PingFang SC"/>
                        </a:rPr>
                        <a:t>腰强度</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300" dirty="0">
                        <a:latin typeface="Arial"/>
                        <a:ea typeface="Arial"/>
                        <a:cs typeface="Arial"/>
                      </a:endParaRPr>
                    </a:p>
                    <a:p>
                      <a:pPr marL="172085" algn="l" rtl="0" eaLnBrk="0">
                        <a:lnSpc>
                          <a:spcPct val="86000"/>
                        </a:lnSpc>
                        <a:spcBef>
                          <a:spcPts val="3"/>
                        </a:spcBef>
                        <a:tabLst/>
                      </a:pPr>
                      <a:r>
                        <a:rPr sz="900" kern="0" spc="-20" dirty="0">
                          <a:solidFill>
                            <a:srgbClr val="000000">
                              <a:alpha val="100000"/>
                            </a:srgbClr>
                          </a:solidFill>
                          <a:latin typeface="PingFang SC"/>
                          <a:ea typeface="PingFang SC"/>
                          <a:cs typeface="PingFang SC"/>
                        </a:rPr>
                        <a:t>极弱</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4000"/>
                        </a:lnSpc>
                        <a:tabLst/>
                      </a:pPr>
                      <a:endParaRPr sz="600" dirty="0">
                        <a:latin typeface="Arial"/>
                        <a:ea typeface="Arial"/>
                        <a:cs typeface="Arial"/>
                      </a:endParaRPr>
                    </a:p>
                    <a:p>
                      <a:pPr marL="254000" algn="l" rtl="0" eaLnBrk="0">
                        <a:lnSpc>
                          <a:spcPts val="306"/>
                        </a:lnSpc>
                        <a:spcBef>
                          <a:spcPts val="1"/>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29234" algn="l" rtl="0" eaLnBrk="0">
                        <a:lnSpc>
                          <a:spcPct val="83000"/>
                        </a:lnSpc>
                        <a:spcBef>
                          <a:spcPts val="1"/>
                        </a:spcBef>
                        <a:tabLst/>
                      </a:pPr>
                      <a:r>
                        <a:rPr sz="900" kern="0" spc="-10" dirty="0">
                          <a:solidFill>
                            <a:srgbClr val="000000">
                              <a:alpha val="100000"/>
                            </a:srgbClr>
                          </a:solidFill>
                          <a:latin typeface="PingFang SC"/>
                          <a:ea typeface="PingFang SC"/>
                          <a:cs typeface="PingFang SC"/>
                        </a:rPr>
                        <a:t>弱</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4000"/>
                        </a:lnSpc>
                        <a:tabLst/>
                      </a:pPr>
                      <a:endParaRPr sz="600" dirty="0">
                        <a:latin typeface="Arial"/>
                        <a:ea typeface="Arial"/>
                        <a:cs typeface="Arial"/>
                      </a:endParaRPr>
                    </a:p>
                    <a:p>
                      <a:pPr marL="255270" algn="l" rtl="0" eaLnBrk="0">
                        <a:lnSpc>
                          <a:spcPts val="306"/>
                        </a:lnSpc>
                        <a:spcBef>
                          <a:spcPts val="1"/>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79705" algn="l" rtl="0" eaLnBrk="0">
                        <a:lnSpc>
                          <a:spcPct val="86000"/>
                        </a:lnSpc>
                        <a:spcBef>
                          <a:spcPts val="2"/>
                        </a:spcBef>
                        <a:tabLst/>
                      </a:pPr>
                      <a:r>
                        <a:rPr sz="900" kern="0" spc="-40" dirty="0">
                          <a:solidFill>
                            <a:srgbClr val="000000">
                              <a:alpha val="100000"/>
                            </a:srgbClr>
                          </a:solidFill>
                          <a:latin typeface="PingFang SC"/>
                          <a:ea typeface="PingFang SC"/>
                          <a:cs typeface="PingFang SC"/>
                        </a:rPr>
                        <a:t>中等</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4000"/>
                        </a:lnSpc>
                        <a:tabLst/>
                      </a:pPr>
                      <a:endParaRPr sz="600" dirty="0">
                        <a:latin typeface="Arial"/>
                        <a:ea typeface="Arial"/>
                        <a:cs typeface="Arial"/>
                      </a:endParaRPr>
                    </a:p>
                    <a:p>
                      <a:pPr marL="255270" algn="l" rtl="0" eaLnBrk="0">
                        <a:lnSpc>
                          <a:spcPts val="306"/>
                        </a:lnSpc>
                        <a:spcBef>
                          <a:spcPts val="1"/>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30505" algn="l" rtl="0" eaLnBrk="0">
                        <a:lnSpc>
                          <a:spcPct val="83000"/>
                        </a:lnSpc>
                        <a:spcBef>
                          <a:spcPts val="1"/>
                        </a:spcBef>
                        <a:tabLst/>
                      </a:pPr>
                      <a:r>
                        <a:rPr sz="900" kern="0" spc="-10" dirty="0">
                          <a:solidFill>
                            <a:srgbClr val="000000">
                              <a:alpha val="100000"/>
                            </a:srgbClr>
                          </a:solidFill>
                          <a:latin typeface="PingFang SC"/>
                          <a:ea typeface="PingFang SC"/>
                          <a:cs typeface="PingFang SC"/>
                        </a:rPr>
                        <a:t>强</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4000"/>
                        </a:lnSpc>
                        <a:tabLst/>
                      </a:pPr>
                      <a:endParaRPr sz="600" dirty="0">
                        <a:latin typeface="Arial"/>
                        <a:ea typeface="Arial"/>
                        <a:cs typeface="Arial"/>
                      </a:endParaRPr>
                    </a:p>
                    <a:p>
                      <a:pPr marL="254000" algn="l" rtl="0" eaLnBrk="0">
                        <a:lnSpc>
                          <a:spcPts val="306"/>
                        </a:lnSpc>
                        <a:spcBef>
                          <a:spcPts val="1"/>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300" dirty="0">
                        <a:latin typeface="Arial"/>
                        <a:ea typeface="Arial"/>
                        <a:cs typeface="Arial"/>
                      </a:endParaRPr>
                    </a:p>
                    <a:p>
                      <a:pPr marL="172085" algn="l" rtl="0" eaLnBrk="0">
                        <a:lnSpc>
                          <a:spcPct val="86000"/>
                        </a:lnSpc>
                        <a:spcBef>
                          <a:spcPts val="3"/>
                        </a:spcBef>
                        <a:tabLst/>
                      </a:pPr>
                      <a:r>
                        <a:rPr sz="900" kern="0" spc="-20" dirty="0">
                          <a:solidFill>
                            <a:srgbClr val="000000">
                              <a:alpha val="100000"/>
                            </a:srgbClr>
                          </a:solidFill>
                          <a:latin typeface="PingFang SC"/>
                          <a:ea typeface="PingFang SC"/>
                          <a:cs typeface="PingFang SC"/>
                        </a:rPr>
                        <a:t>极强</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96" name="textbox 96"/>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98" name="textbox 98"/>
          <p:cNvSpPr/>
          <p:nvPr/>
        </p:nvSpPr>
        <p:spPr>
          <a:xfrm>
            <a:off x="712394"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5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100" name="textbox 100"/>
          <p:cNvSpPr/>
          <p:nvPr/>
        </p:nvSpPr>
        <p:spPr>
          <a:xfrm>
            <a:off x="876173" y="9845485"/>
            <a:ext cx="77470" cy="105410"/>
          </a:xfrm>
          <a:prstGeom prst="rect">
            <a:avLst/>
          </a:prstGeom>
          <a:noFill/>
          <a:ln w="0" cap="flat">
            <a:noFill/>
            <a:prstDash val="solid"/>
            <a:miter lim="0"/>
          </a:ln>
        </p:spPr>
        <p:txBody>
          <a:bodyPr vert="horz" wrap="square" lIns="0" tIns="0" rIns="0" bIns="0"/>
          <a:lstStyle/>
          <a:p>
            <a:pPr algn="l" rtl="0" eaLnBrk="0">
              <a:lnSpc>
                <a:spcPct val="81008"/>
              </a:lnSpc>
              <a:tabLst/>
            </a:pPr>
            <a:endParaRPr sz="100" dirty="0">
              <a:latin typeface="Arial"/>
              <a:ea typeface="Arial"/>
              <a:cs typeface="Arial"/>
            </a:endParaRPr>
          </a:p>
          <a:p>
            <a:pPr algn="r" rtl="0" eaLnBrk="0">
              <a:lnSpc>
                <a:spcPct val="75000"/>
              </a:lnSpc>
              <a:tabLst/>
            </a:pPr>
            <a:r>
              <a:rPr sz="700" kern="0" spc="-30" dirty="0">
                <a:solidFill>
                  <a:srgbClr val="000000">
                    <a:alpha val="100000"/>
                  </a:srgbClr>
                </a:solidFill>
                <a:latin typeface="PingFang SC"/>
                <a:ea typeface="PingFang SC"/>
                <a:cs typeface="PingFang SC"/>
              </a:rPr>
              <a:t>4</a:t>
            </a:r>
            <a:endParaRPr sz="700" dirty="0">
              <a:latin typeface="PingFang SC"/>
              <a:ea typeface="PingFang SC"/>
              <a:cs typeface="PingFang S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 name="table 102"/>
          <p:cNvGraphicFramePr>
            <a:graphicFrameLocks noGrp="1"/>
          </p:cNvGraphicFramePr>
          <p:nvPr/>
        </p:nvGraphicFramePr>
        <p:xfrm>
          <a:off x="1111300" y="6106033"/>
          <a:ext cx="5518785" cy="434340"/>
        </p:xfrm>
        <a:graphic>
          <a:graphicData uri="http://schemas.openxmlformats.org/drawingml/2006/table">
            <a:tbl>
              <a:tblPr/>
              <a:tblGrid>
                <a:gridCol w="719455"/>
                <a:gridCol w="532130"/>
                <a:gridCol w="532130"/>
                <a:gridCol w="531495"/>
                <a:gridCol w="533400"/>
                <a:gridCol w="532130"/>
                <a:gridCol w="533400"/>
                <a:gridCol w="533400"/>
                <a:gridCol w="532130"/>
                <a:gridCol w="539115"/>
              </a:tblGrid>
              <a:tr h="216534">
                <a:tc>
                  <a:txBody>
                    <a:bodyPr/>
                    <a:lstStyle/>
                    <a:p>
                      <a:pPr algn="l" rtl="0" eaLnBrk="0">
                        <a:lnSpc>
                          <a:spcPct val="118000"/>
                        </a:lnSpc>
                        <a:tabLst/>
                      </a:pPr>
                      <a:endParaRPr sz="300" dirty="0">
                        <a:latin typeface="Arial"/>
                        <a:ea typeface="Arial"/>
                        <a:cs typeface="Arial"/>
                      </a:endParaRPr>
                    </a:p>
                    <a:p>
                      <a:pPr marL="139700"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8920"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1934"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2570"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1300"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4475"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2570"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4475"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1300"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42570"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9000"/>
                        </a:lnSpc>
                        <a:tabLst/>
                      </a:pPr>
                      <a:endParaRPr sz="300" dirty="0">
                        <a:latin typeface="Arial"/>
                        <a:ea typeface="Arial"/>
                        <a:cs typeface="Arial"/>
                      </a:endParaRPr>
                    </a:p>
                    <a:p>
                      <a:pPr marL="80645" algn="l" rtl="0" eaLnBrk="0">
                        <a:lnSpc>
                          <a:spcPct val="86000"/>
                        </a:lnSpc>
                        <a:spcBef>
                          <a:spcPts val="3"/>
                        </a:spcBef>
                        <a:tabLst/>
                      </a:pPr>
                      <a:r>
                        <a:rPr sz="900" kern="0" spc="-70" dirty="0">
                          <a:solidFill>
                            <a:srgbClr val="000000">
                              <a:alpha val="100000"/>
                            </a:srgbClr>
                          </a:solidFill>
                          <a:latin typeface="PingFang SC"/>
                          <a:ea typeface="PingFang SC"/>
                          <a:cs typeface="PingFang SC"/>
                        </a:rPr>
                        <a:t>尻宽（cm）</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62560" algn="l" rtl="0" eaLnBrk="0">
                        <a:lnSpc>
                          <a:spcPct val="83000"/>
                        </a:lnSpc>
                        <a:spcBef>
                          <a:spcPts val="1"/>
                        </a:spcBef>
                        <a:tabLst/>
                      </a:pPr>
                      <a:r>
                        <a:rPr sz="900" kern="0" spc="20" dirty="0">
                          <a:solidFill>
                            <a:srgbClr val="000000">
                              <a:alpha val="100000"/>
                            </a:srgbClr>
                          </a:solidFill>
                          <a:latin typeface="PingFang SC"/>
                          <a:ea typeface="PingFang SC"/>
                          <a:cs typeface="PingFang SC"/>
                        </a:rPr>
                        <a:t>≤10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21615" algn="l" rtl="0" eaLnBrk="0">
                        <a:lnSpc>
                          <a:spcPct val="83000"/>
                        </a:lnSpc>
                        <a:spcBef>
                          <a:spcPts val="1"/>
                        </a:spcBef>
                        <a:tabLst/>
                      </a:pPr>
                      <a:r>
                        <a:rPr sz="900" kern="0" spc="-30" dirty="0">
                          <a:solidFill>
                            <a:srgbClr val="000000">
                              <a:alpha val="100000"/>
                            </a:srgbClr>
                          </a:solidFill>
                          <a:latin typeface="PingFang SC"/>
                          <a:ea typeface="PingFang SC"/>
                          <a:cs typeface="PingFang SC"/>
                        </a:rPr>
                        <a:t>12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20980" algn="l" rtl="0" eaLnBrk="0">
                        <a:lnSpc>
                          <a:spcPct val="83000"/>
                        </a:lnSpc>
                        <a:spcBef>
                          <a:spcPts val="1"/>
                        </a:spcBef>
                        <a:tabLst/>
                      </a:pPr>
                      <a:r>
                        <a:rPr sz="900" kern="0" spc="-30" dirty="0">
                          <a:solidFill>
                            <a:srgbClr val="000000">
                              <a:alpha val="100000"/>
                            </a:srgbClr>
                          </a:solidFill>
                          <a:latin typeface="PingFang SC"/>
                          <a:ea typeface="PingFang SC"/>
                          <a:cs typeface="PingFang SC"/>
                        </a:rPr>
                        <a:t>14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21615" algn="l" rtl="0" eaLnBrk="0">
                        <a:lnSpc>
                          <a:spcPct val="83000"/>
                        </a:lnSpc>
                        <a:spcBef>
                          <a:spcPts val="1"/>
                        </a:spcBef>
                        <a:tabLst/>
                      </a:pPr>
                      <a:r>
                        <a:rPr sz="900" kern="0" spc="-30" dirty="0">
                          <a:solidFill>
                            <a:srgbClr val="000000">
                              <a:alpha val="100000"/>
                            </a:srgbClr>
                          </a:solidFill>
                          <a:latin typeface="PingFang SC"/>
                          <a:ea typeface="PingFang SC"/>
                          <a:cs typeface="PingFang SC"/>
                        </a:rPr>
                        <a:t>16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21615" algn="l" rtl="0" eaLnBrk="0">
                        <a:lnSpc>
                          <a:spcPct val="83000"/>
                        </a:lnSpc>
                        <a:spcBef>
                          <a:spcPts val="1"/>
                        </a:spcBef>
                        <a:tabLst/>
                      </a:pPr>
                      <a:r>
                        <a:rPr sz="900" kern="0" spc="-30" dirty="0">
                          <a:solidFill>
                            <a:srgbClr val="000000">
                              <a:alpha val="100000"/>
                            </a:srgbClr>
                          </a:solidFill>
                          <a:latin typeface="PingFang SC"/>
                          <a:ea typeface="PingFang SC"/>
                          <a:cs typeface="PingFang SC"/>
                        </a:rPr>
                        <a:t>18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300" dirty="0">
                        <a:latin typeface="Arial"/>
                        <a:ea typeface="Arial"/>
                        <a:cs typeface="Arial"/>
                      </a:endParaRPr>
                    </a:p>
                    <a:p>
                      <a:pPr marL="214630" algn="l" rtl="0" eaLnBrk="0">
                        <a:lnSpc>
                          <a:spcPct val="94000"/>
                        </a:lnSpc>
                        <a:spcBef>
                          <a:spcPts val="2"/>
                        </a:spcBef>
                        <a:tabLst/>
                      </a:pPr>
                      <a:r>
                        <a:rPr sz="800" kern="0" spc="0" dirty="0">
                          <a:solidFill>
                            <a:srgbClr val="000000">
                              <a:alpha val="100000"/>
                            </a:srgbClr>
                          </a:solidFill>
                          <a:latin typeface="PingFang SC"/>
                          <a:ea typeface="PingFang SC"/>
                          <a:cs typeface="PingFang SC"/>
                        </a:rPr>
                        <a:t>20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300" dirty="0">
                        <a:latin typeface="Arial"/>
                        <a:ea typeface="Arial"/>
                        <a:cs typeface="Arial"/>
                      </a:endParaRPr>
                    </a:p>
                    <a:p>
                      <a:pPr marL="214630" algn="l" rtl="0" eaLnBrk="0">
                        <a:lnSpc>
                          <a:spcPct val="94000"/>
                        </a:lnSpc>
                        <a:spcBef>
                          <a:spcPts val="2"/>
                        </a:spcBef>
                        <a:tabLst/>
                      </a:pPr>
                      <a:r>
                        <a:rPr sz="800" kern="0" spc="0" dirty="0">
                          <a:solidFill>
                            <a:srgbClr val="000000">
                              <a:alpha val="100000"/>
                            </a:srgbClr>
                          </a:solidFill>
                          <a:latin typeface="PingFang SC"/>
                          <a:ea typeface="PingFang SC"/>
                          <a:cs typeface="PingFang SC"/>
                        </a:rPr>
                        <a:t>22</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300" dirty="0">
                        <a:latin typeface="Arial"/>
                        <a:ea typeface="Arial"/>
                        <a:cs typeface="Arial"/>
                      </a:endParaRPr>
                    </a:p>
                    <a:p>
                      <a:pPr marL="213359" algn="l" rtl="0" eaLnBrk="0">
                        <a:lnSpc>
                          <a:spcPct val="94000"/>
                        </a:lnSpc>
                        <a:spcBef>
                          <a:spcPts val="2"/>
                        </a:spcBef>
                        <a:tabLst/>
                      </a:pPr>
                      <a:r>
                        <a:rPr sz="800" kern="0" spc="0" dirty="0">
                          <a:solidFill>
                            <a:srgbClr val="000000">
                              <a:alpha val="100000"/>
                            </a:srgbClr>
                          </a:solidFill>
                          <a:latin typeface="PingFang SC"/>
                          <a:ea typeface="PingFang SC"/>
                          <a:cs typeface="PingFang SC"/>
                        </a:rPr>
                        <a:t>24</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67640" algn="l" rtl="0" eaLnBrk="0">
                        <a:lnSpc>
                          <a:spcPct val="83000"/>
                        </a:lnSpc>
                        <a:spcBef>
                          <a:spcPts val="1"/>
                        </a:spcBef>
                        <a:tabLst/>
                      </a:pPr>
                      <a:r>
                        <a:rPr sz="900" kern="0" spc="-20" dirty="0">
                          <a:solidFill>
                            <a:srgbClr val="000000">
                              <a:alpha val="100000"/>
                            </a:srgbClr>
                          </a:solidFill>
                          <a:latin typeface="PingFang SC"/>
                          <a:ea typeface="PingFang SC"/>
                          <a:cs typeface="PingFang SC"/>
                        </a:rPr>
                        <a:t>≥26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104" name="table 104"/>
          <p:cNvGraphicFramePr>
            <a:graphicFrameLocks noGrp="1"/>
          </p:cNvGraphicFramePr>
          <p:nvPr/>
        </p:nvGraphicFramePr>
        <p:xfrm>
          <a:off x="1111300" y="2798319"/>
          <a:ext cx="5518784" cy="433705"/>
        </p:xfrm>
        <a:graphic>
          <a:graphicData uri="http://schemas.openxmlformats.org/drawingml/2006/table">
            <a:tbl>
              <a:tblPr/>
              <a:tblGrid>
                <a:gridCol w="902335"/>
                <a:gridCol w="512444"/>
                <a:gridCol w="511810"/>
                <a:gridCol w="513715"/>
                <a:gridCol w="512444"/>
                <a:gridCol w="511810"/>
                <a:gridCol w="511810"/>
                <a:gridCol w="511810"/>
                <a:gridCol w="511175"/>
                <a:gridCol w="519430"/>
              </a:tblGrid>
              <a:tr h="215900">
                <a:tc>
                  <a:txBody>
                    <a:bodyPr/>
                    <a:lstStyle/>
                    <a:p>
                      <a:pPr algn="l" rtl="0" eaLnBrk="0">
                        <a:lnSpc>
                          <a:spcPct val="118000"/>
                        </a:lnSpc>
                        <a:tabLst/>
                      </a:pPr>
                      <a:endParaRPr sz="300" dirty="0">
                        <a:latin typeface="Arial"/>
                        <a:ea typeface="Arial"/>
                        <a:cs typeface="Arial"/>
                      </a:endParaRPr>
                    </a:p>
                    <a:p>
                      <a:pPr marL="229234"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39395"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32409"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33680"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30505"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33045"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30505"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34315"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32409"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31775"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11000"/>
                        </a:lnSpc>
                        <a:tabLst/>
                      </a:pPr>
                      <a:endParaRPr sz="300" dirty="0">
                        <a:latin typeface="Arial"/>
                        <a:ea typeface="Arial"/>
                        <a:cs typeface="Arial"/>
                      </a:endParaRPr>
                    </a:p>
                    <a:p>
                      <a:pPr marL="114300" algn="l" rtl="0" eaLnBrk="0">
                        <a:lnSpc>
                          <a:spcPct val="86000"/>
                        </a:lnSpc>
                        <a:tabLst/>
                      </a:pPr>
                      <a:r>
                        <a:rPr sz="900" kern="0" spc="-60" dirty="0">
                          <a:solidFill>
                            <a:srgbClr val="000000">
                              <a:alpha val="100000"/>
                            </a:srgbClr>
                          </a:solidFill>
                          <a:latin typeface="PingFang SC"/>
                          <a:ea typeface="PingFang SC"/>
                          <a:cs typeface="PingFang SC"/>
                        </a:rPr>
                        <a:t>尻角度（cm）</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53670" algn="l" rtl="0" eaLnBrk="0">
                        <a:lnSpc>
                          <a:spcPct val="83000"/>
                        </a:lnSpc>
                        <a:spcBef>
                          <a:spcPts val="3"/>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01295" algn="l" rtl="0" eaLnBrk="0">
                        <a:lnSpc>
                          <a:spcPct val="94000"/>
                        </a:lnSpc>
                        <a:tabLst/>
                      </a:pPr>
                      <a:r>
                        <a:rPr sz="800" kern="0" spc="-10" dirty="0">
                          <a:solidFill>
                            <a:srgbClr val="000000">
                              <a:alpha val="100000"/>
                            </a:srgbClr>
                          </a:solidFill>
                          <a:latin typeface="PingFang SC"/>
                          <a:ea typeface="PingFang SC"/>
                          <a:cs typeface="PingFang SC"/>
                        </a:rPr>
                        <a:t>-2</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32409" algn="l" rtl="0" eaLnBrk="0">
                        <a:lnSpc>
                          <a:spcPct val="83000"/>
                        </a:lnSpc>
                        <a:spcBef>
                          <a:spcPts val="3"/>
                        </a:spcBef>
                        <a:tabLst/>
                      </a:pPr>
                      <a:r>
                        <a:rPr sz="900" kern="0" spc="-10" dirty="0">
                          <a:solidFill>
                            <a:srgbClr val="000000">
                              <a:alpha val="100000"/>
                            </a:srgbClr>
                          </a:solidFill>
                          <a:latin typeface="PingFang SC"/>
                          <a:ea typeface="PingFang SC"/>
                          <a:cs typeface="PingFang SC"/>
                        </a:rPr>
                        <a:t>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32409" algn="l" rtl="0" eaLnBrk="0">
                        <a:lnSpc>
                          <a:spcPct val="83000"/>
                        </a:lnSpc>
                        <a:spcBef>
                          <a:spcPts val="3"/>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30505" algn="l" rtl="0" eaLnBrk="0">
                        <a:lnSpc>
                          <a:spcPct val="83000"/>
                        </a:lnSpc>
                        <a:spcBef>
                          <a:spcPts val="3"/>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73990" algn="l" rtl="0" eaLnBrk="0">
                        <a:lnSpc>
                          <a:spcPct val="83000"/>
                        </a:lnSpc>
                        <a:spcBef>
                          <a:spcPts val="3"/>
                        </a:spcBef>
                        <a:tabLst/>
                      </a:pPr>
                      <a:r>
                        <a:rPr sz="900" kern="0" spc="-10" dirty="0">
                          <a:solidFill>
                            <a:srgbClr val="000000">
                              <a:alpha val="100000"/>
                            </a:srgbClr>
                          </a:solidFill>
                          <a:latin typeface="PingFang SC"/>
                          <a:ea typeface="PingFang SC"/>
                          <a:cs typeface="PingFang SC"/>
                        </a:rPr>
                        <a:t>5.5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34315" algn="l" rtl="0" eaLnBrk="0">
                        <a:lnSpc>
                          <a:spcPct val="83000"/>
                        </a:lnSpc>
                        <a:spcBef>
                          <a:spcPts val="3"/>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74625" algn="l" rtl="0" eaLnBrk="0">
                        <a:lnSpc>
                          <a:spcPct val="83000"/>
                        </a:lnSpc>
                        <a:spcBef>
                          <a:spcPts val="3"/>
                        </a:spcBef>
                        <a:tabLst/>
                      </a:pPr>
                      <a:r>
                        <a:rPr sz="900" kern="0" spc="-10" dirty="0">
                          <a:solidFill>
                            <a:srgbClr val="000000">
                              <a:alpha val="100000"/>
                            </a:srgbClr>
                          </a:solidFill>
                          <a:latin typeface="PingFang SC"/>
                          <a:ea typeface="PingFang SC"/>
                          <a:cs typeface="PingFang SC"/>
                        </a:rPr>
                        <a:t>8.5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57480" algn="l" rtl="0" eaLnBrk="0">
                        <a:lnSpc>
                          <a:spcPct val="83000"/>
                        </a:lnSpc>
                        <a:spcBef>
                          <a:spcPts val="3"/>
                        </a:spcBef>
                        <a:tabLst/>
                      </a:pPr>
                      <a:r>
                        <a:rPr sz="900" kern="0" spc="10" dirty="0">
                          <a:solidFill>
                            <a:srgbClr val="000000">
                              <a:alpha val="100000"/>
                            </a:srgbClr>
                          </a:solidFill>
                          <a:latin typeface="PingFang SC"/>
                          <a:ea typeface="PingFang SC"/>
                          <a:cs typeface="PingFang SC"/>
                        </a:rPr>
                        <a:t>≥10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106" name="textbox 106"/>
          <p:cNvSpPr/>
          <p:nvPr/>
        </p:nvSpPr>
        <p:spPr>
          <a:xfrm>
            <a:off x="888374" y="3351644"/>
            <a:ext cx="5276850" cy="95250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760220" algn="l" rtl="0" eaLnBrk="0">
              <a:lnSpc>
                <a:spcPct val="88000"/>
              </a:lnSpc>
              <a:tabLst/>
            </a:pPr>
            <a:r>
              <a:rPr sz="1000" kern="0" spc="40" dirty="0">
                <a:solidFill>
                  <a:srgbClr val="000000">
                    <a:alpha val="100000"/>
                  </a:srgbClr>
                </a:solidFill>
                <a:latin typeface="PingFang SC"/>
                <a:ea typeface="PingFang SC"/>
                <a:cs typeface="PingFang SC"/>
              </a:rPr>
              <a:t>图A.5   尻角度评分</a:t>
            </a:r>
            <a:r>
              <a:rPr sz="1000" kern="0" spc="30" dirty="0">
                <a:solidFill>
                  <a:srgbClr val="000000">
                    <a:alpha val="100000"/>
                  </a:srgbClr>
                </a:solidFill>
                <a:latin typeface="PingFang SC"/>
                <a:ea typeface="PingFang SC"/>
                <a:cs typeface="PingFang SC"/>
              </a:rPr>
              <a:t>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3"/>
              </a:spcBef>
              <a:tabLst/>
            </a:pPr>
            <a:r>
              <a:rPr sz="1000" kern="0" spc="20" dirty="0">
                <a:solidFill>
                  <a:srgbClr val="000000">
                    <a:alpha val="100000"/>
                  </a:srgbClr>
                </a:solidFill>
                <a:latin typeface="PingFang SC"/>
                <a:ea typeface="PingFang SC"/>
                <a:cs typeface="PingFang SC"/>
              </a:rPr>
              <a:t>A.6   尻宽</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algn="l" rtl="0" eaLnBrk="0">
              <a:lnSpc>
                <a:spcPct val="125000"/>
              </a:lnSpc>
              <a:tabLst/>
            </a:pPr>
            <a:endParaRPr sz="200" dirty="0">
              <a:latin typeface="Arial"/>
              <a:ea typeface="Arial"/>
              <a:cs typeface="Arial"/>
            </a:endParaRPr>
          </a:p>
          <a:p>
            <a:pPr algn="r" rtl="0" eaLnBrk="0">
              <a:lnSpc>
                <a:spcPct val="88000"/>
              </a:lnSpc>
              <a:tabLst/>
            </a:pPr>
            <a:r>
              <a:rPr sz="1000" kern="0" spc="20" dirty="0">
                <a:solidFill>
                  <a:srgbClr val="000000">
                    <a:alpha val="100000"/>
                  </a:srgbClr>
                </a:solidFill>
                <a:latin typeface="PingFang SC"/>
                <a:ea typeface="PingFang SC"/>
                <a:cs typeface="PingFang SC"/>
              </a:rPr>
              <a:t>测定两坐骨结节突出点（臀角） 间的宽度。评定部位、评分及线性评分标准见图A.6。</a:t>
            </a:r>
            <a:endParaRPr sz="1000" dirty="0">
              <a:latin typeface="PingFang SC"/>
              <a:ea typeface="PingFang SC"/>
              <a:cs typeface="PingFang SC"/>
            </a:endParaRPr>
          </a:p>
        </p:txBody>
      </p:sp>
      <p:graphicFrame>
        <p:nvGraphicFramePr>
          <p:cNvPr id="108" name="table 108"/>
          <p:cNvGraphicFramePr>
            <a:graphicFrameLocks noGrp="1"/>
          </p:cNvGraphicFramePr>
          <p:nvPr/>
        </p:nvGraphicFramePr>
        <p:xfrm>
          <a:off x="1163116" y="8819135"/>
          <a:ext cx="5414010" cy="433705"/>
        </p:xfrm>
        <a:graphic>
          <a:graphicData uri="http://schemas.openxmlformats.org/drawingml/2006/table">
            <a:tbl>
              <a:tblPr/>
              <a:tblGrid>
                <a:gridCol w="990600"/>
                <a:gridCol w="490855"/>
                <a:gridCol w="490854"/>
                <a:gridCol w="490854"/>
                <a:gridCol w="490855"/>
                <a:gridCol w="490854"/>
                <a:gridCol w="490854"/>
                <a:gridCol w="490854"/>
                <a:gridCol w="490855"/>
                <a:gridCol w="496569"/>
              </a:tblGrid>
              <a:tr h="215900">
                <a:tc>
                  <a:txBody>
                    <a:bodyPr/>
                    <a:lstStyle/>
                    <a:p>
                      <a:pPr algn="l" rtl="0" eaLnBrk="0">
                        <a:lnSpc>
                          <a:spcPct val="118000"/>
                        </a:lnSpc>
                        <a:tabLst/>
                      </a:pPr>
                      <a:endParaRPr sz="300" dirty="0">
                        <a:latin typeface="Arial"/>
                        <a:ea typeface="Arial"/>
                        <a:cs typeface="Arial"/>
                      </a:endParaRPr>
                    </a:p>
                    <a:p>
                      <a:pPr marL="276860"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9234"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2250"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8440"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0345"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2884"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1615"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2884"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0980"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3359"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8000"/>
                        </a:lnSpc>
                        <a:tabLst/>
                      </a:pPr>
                      <a:endParaRPr sz="300" dirty="0">
                        <a:latin typeface="Arial"/>
                        <a:ea typeface="Arial"/>
                        <a:cs typeface="Arial"/>
                      </a:endParaRPr>
                    </a:p>
                    <a:p>
                      <a:pPr marL="163195" algn="l" rtl="0" eaLnBrk="0">
                        <a:lnSpc>
                          <a:spcPct val="87000"/>
                        </a:lnSpc>
                        <a:spcBef>
                          <a:spcPts val="3"/>
                        </a:spcBef>
                        <a:tabLst/>
                      </a:pPr>
                      <a:r>
                        <a:rPr sz="900" kern="0" spc="140" dirty="0">
                          <a:solidFill>
                            <a:srgbClr val="000000">
                              <a:alpha val="100000"/>
                            </a:srgbClr>
                          </a:solidFill>
                          <a:latin typeface="PingFang SC"/>
                          <a:ea typeface="PingFang SC"/>
                          <a:cs typeface="PingFang SC"/>
                        </a:rPr>
                        <a:t>蹄角度(</a:t>
                      </a:r>
                      <a:r>
                        <a:rPr sz="900" kern="0" spc="-10" dirty="0">
                          <a:solidFill>
                            <a:srgbClr val="000000">
                              <a:alpha val="100000"/>
                            </a:srgbClr>
                          </a:solidFill>
                          <a:latin typeface="PingFang SC"/>
                          <a:ea typeface="PingFang SC"/>
                          <a:cs typeface="PingFang SC"/>
                        </a:rPr>
                        <a:t> </a:t>
                      </a:r>
                      <a:r>
                        <a:rPr sz="900" kern="0" spc="140" dirty="0">
                          <a:solidFill>
                            <a:srgbClr val="000000">
                              <a:alpha val="100000"/>
                            </a:srgbClr>
                          </a:solidFill>
                          <a:latin typeface="PingFang SC"/>
                          <a:ea typeface="PingFang SC"/>
                          <a:cs typeface="PingFang SC"/>
                        </a:rPr>
                        <a:t>°</a:t>
                      </a:r>
                      <a:r>
                        <a:rPr sz="900" kern="0" spc="-170" dirty="0">
                          <a:solidFill>
                            <a:srgbClr val="000000">
                              <a:alpha val="100000"/>
                            </a:srgbClr>
                          </a:solidFill>
                          <a:latin typeface="PingFang SC"/>
                          <a:ea typeface="PingFang SC"/>
                          <a:cs typeface="PingFang SC"/>
                        </a:rPr>
                        <a:t> </a:t>
                      </a:r>
                      <a:r>
                        <a:rPr sz="900" kern="0" spc="14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42875" algn="l" rtl="0" eaLnBrk="0">
                        <a:lnSpc>
                          <a:spcPct val="83000"/>
                        </a:lnSpc>
                        <a:spcBef>
                          <a:spcPts val="3"/>
                        </a:spcBef>
                        <a:tabLst/>
                      </a:pPr>
                      <a:r>
                        <a:rPr sz="900" kern="0" spc="-10" dirty="0">
                          <a:solidFill>
                            <a:srgbClr val="000000">
                              <a:alpha val="100000"/>
                            </a:srgbClr>
                          </a:solidFill>
                          <a:latin typeface="PingFang SC"/>
                          <a:ea typeface="PingFang SC"/>
                          <a:cs typeface="PingFang SC"/>
                        </a:rPr>
                        <a:t>≤20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94310" algn="l" rtl="0" eaLnBrk="0">
                        <a:lnSpc>
                          <a:spcPct val="94000"/>
                        </a:lnSpc>
                        <a:tabLst/>
                      </a:pPr>
                      <a:r>
                        <a:rPr sz="800" kern="0" spc="-10" dirty="0">
                          <a:solidFill>
                            <a:srgbClr val="000000">
                              <a:alpha val="100000"/>
                            </a:srgbClr>
                          </a:solidFill>
                          <a:latin typeface="PingFang SC"/>
                          <a:ea typeface="PingFang SC"/>
                          <a:cs typeface="PingFang SC"/>
                        </a:rPr>
                        <a:t>30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93675" algn="l" rtl="0" eaLnBrk="0">
                        <a:lnSpc>
                          <a:spcPct val="94000"/>
                        </a:lnSpc>
                        <a:tabLst/>
                      </a:pPr>
                      <a:r>
                        <a:rPr sz="800" kern="0" spc="-10" dirty="0">
                          <a:solidFill>
                            <a:srgbClr val="000000">
                              <a:alpha val="100000"/>
                            </a:srgbClr>
                          </a:solidFill>
                          <a:latin typeface="PingFang SC"/>
                          <a:ea typeface="PingFang SC"/>
                          <a:cs typeface="PingFang SC"/>
                        </a:rPr>
                        <a:t>35</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91135" algn="l" rtl="0" eaLnBrk="0">
                        <a:lnSpc>
                          <a:spcPct val="94000"/>
                        </a:lnSpc>
                        <a:tabLst/>
                      </a:pPr>
                      <a:r>
                        <a:rPr sz="800" kern="0" spc="0" dirty="0">
                          <a:solidFill>
                            <a:srgbClr val="000000">
                              <a:alpha val="100000"/>
                            </a:srgbClr>
                          </a:solidFill>
                          <a:latin typeface="PingFang SC"/>
                          <a:ea typeface="PingFang SC"/>
                          <a:cs typeface="PingFang SC"/>
                        </a:rPr>
                        <a:t>40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91135" algn="l" rtl="0" eaLnBrk="0">
                        <a:lnSpc>
                          <a:spcPct val="94000"/>
                        </a:lnSpc>
                        <a:tabLst/>
                      </a:pPr>
                      <a:r>
                        <a:rPr sz="800" kern="0" spc="0" dirty="0">
                          <a:solidFill>
                            <a:srgbClr val="000000">
                              <a:alpha val="100000"/>
                            </a:srgbClr>
                          </a:solidFill>
                          <a:latin typeface="PingFang SC"/>
                          <a:ea typeface="PingFang SC"/>
                          <a:cs typeface="PingFang SC"/>
                        </a:rPr>
                        <a:t>45</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93675" algn="l" rtl="0" eaLnBrk="0">
                        <a:lnSpc>
                          <a:spcPct val="94000"/>
                        </a:lnSpc>
                        <a:tabLst/>
                      </a:pPr>
                      <a:r>
                        <a:rPr sz="800" kern="0" spc="-10" dirty="0">
                          <a:solidFill>
                            <a:srgbClr val="000000">
                              <a:alpha val="100000"/>
                            </a:srgbClr>
                          </a:solidFill>
                          <a:latin typeface="PingFang SC"/>
                          <a:ea typeface="PingFang SC"/>
                          <a:cs typeface="PingFang SC"/>
                        </a:rPr>
                        <a:t>50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93675" algn="l" rtl="0" eaLnBrk="0">
                        <a:lnSpc>
                          <a:spcPct val="94000"/>
                        </a:lnSpc>
                        <a:tabLst/>
                      </a:pPr>
                      <a:r>
                        <a:rPr sz="800" kern="0" spc="-10" dirty="0">
                          <a:solidFill>
                            <a:srgbClr val="000000">
                              <a:alpha val="100000"/>
                            </a:srgbClr>
                          </a:solidFill>
                          <a:latin typeface="PingFang SC"/>
                          <a:ea typeface="PingFang SC"/>
                          <a:cs typeface="PingFang SC"/>
                        </a:rPr>
                        <a:t>55</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92405" algn="l" rtl="0" eaLnBrk="0">
                        <a:lnSpc>
                          <a:spcPct val="94000"/>
                        </a:lnSpc>
                        <a:tabLst/>
                      </a:pPr>
                      <a:r>
                        <a:rPr sz="800" kern="0" spc="0" dirty="0">
                          <a:solidFill>
                            <a:srgbClr val="000000">
                              <a:alpha val="100000"/>
                            </a:srgbClr>
                          </a:solidFill>
                          <a:latin typeface="PingFang SC"/>
                          <a:ea typeface="PingFang SC"/>
                          <a:cs typeface="PingFang SC"/>
                        </a:rPr>
                        <a:t>60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46050" algn="l" rtl="0" eaLnBrk="0">
                        <a:lnSpc>
                          <a:spcPct val="83000"/>
                        </a:lnSpc>
                        <a:spcBef>
                          <a:spcPts val="3"/>
                        </a:spcBef>
                        <a:tabLst/>
                      </a:pPr>
                      <a:r>
                        <a:rPr sz="900" kern="0" spc="-10" dirty="0">
                          <a:solidFill>
                            <a:srgbClr val="000000">
                              <a:alpha val="100000"/>
                            </a:srgbClr>
                          </a:solidFill>
                          <a:latin typeface="PingFang SC"/>
                          <a:ea typeface="PingFang SC"/>
                          <a:cs typeface="PingFang SC"/>
                        </a:rPr>
                        <a:t>≥70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110" name="textbox 110"/>
          <p:cNvSpPr/>
          <p:nvPr/>
        </p:nvSpPr>
        <p:spPr>
          <a:xfrm>
            <a:off x="888374" y="6659359"/>
            <a:ext cx="5142865" cy="95250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826895" algn="l" rtl="0" eaLnBrk="0">
              <a:lnSpc>
                <a:spcPct val="88000"/>
              </a:lnSpc>
              <a:tabLst/>
            </a:pPr>
            <a:r>
              <a:rPr sz="1000" kern="0" spc="40" dirty="0">
                <a:solidFill>
                  <a:srgbClr val="000000">
                    <a:alpha val="100000"/>
                  </a:srgbClr>
                </a:solidFill>
                <a:latin typeface="PingFang SC"/>
                <a:ea typeface="PingFang SC"/>
                <a:cs typeface="PingFang SC"/>
              </a:rPr>
              <a:t>图A.6   尻宽评分</a:t>
            </a:r>
            <a:r>
              <a:rPr sz="1000" kern="0" spc="30" dirty="0">
                <a:solidFill>
                  <a:srgbClr val="000000">
                    <a:alpha val="100000"/>
                  </a:srgbClr>
                </a:solidFill>
                <a:latin typeface="PingFang SC"/>
                <a:ea typeface="PingFang SC"/>
                <a:cs typeface="PingFang SC"/>
              </a:rPr>
              <a:t>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30" dirty="0">
                <a:solidFill>
                  <a:srgbClr val="000000">
                    <a:alpha val="100000"/>
                  </a:srgbClr>
                </a:solidFill>
                <a:latin typeface="PingFang SC"/>
                <a:ea typeface="PingFang SC"/>
                <a:cs typeface="PingFang SC"/>
              </a:rPr>
              <a:t>A.7   蹄角度</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algn="l" rtl="0" eaLnBrk="0">
              <a:lnSpc>
                <a:spcPct val="125000"/>
              </a:lnSpc>
              <a:tabLst/>
            </a:pPr>
            <a:endParaRPr sz="200" dirty="0">
              <a:latin typeface="Arial"/>
              <a:ea typeface="Arial"/>
              <a:cs typeface="Arial"/>
            </a:endParaRPr>
          </a:p>
          <a:p>
            <a:pPr algn="r" rtl="0" eaLnBrk="0">
              <a:lnSpc>
                <a:spcPct val="88000"/>
              </a:lnSpc>
              <a:tabLst/>
            </a:pPr>
            <a:r>
              <a:rPr sz="1000" kern="0" spc="30" dirty="0">
                <a:solidFill>
                  <a:srgbClr val="000000">
                    <a:alpha val="100000"/>
                  </a:srgbClr>
                </a:solidFill>
                <a:latin typeface="PingFang SC"/>
                <a:ea typeface="PingFang SC"/>
                <a:cs typeface="PingFang SC"/>
              </a:rPr>
              <a:t>测定健康后蹄壁前沿与地面所形成的夹角。评定部位、评分与线性评分标准见A.7。</a:t>
            </a:r>
            <a:endParaRPr sz="1000" dirty="0">
              <a:latin typeface="PingFang SC"/>
              <a:ea typeface="PingFang SC"/>
              <a:cs typeface="PingFang SC"/>
            </a:endParaRPr>
          </a:p>
        </p:txBody>
      </p:sp>
      <p:pic>
        <p:nvPicPr>
          <p:cNvPr id="112" name="picture 112"/>
          <p:cNvPicPr>
            <a:picLocks noChangeAspect="1"/>
          </p:cNvPicPr>
          <p:nvPr/>
        </p:nvPicPr>
        <p:blipFill>
          <a:blip r:embed="rId2"/>
          <a:stretch>
            <a:fillRect/>
          </a:stretch>
        </p:blipFill>
        <p:spPr>
          <a:xfrm rot="21600000">
            <a:off x="1422146" y="1258443"/>
            <a:ext cx="5155819" cy="1494155"/>
          </a:xfrm>
          <a:prstGeom prst="rect">
            <a:avLst/>
          </a:prstGeom>
        </p:spPr>
      </p:pic>
      <p:pic>
        <p:nvPicPr>
          <p:cNvPr id="114" name="picture 114"/>
          <p:cNvPicPr>
            <a:picLocks noChangeAspect="1"/>
          </p:cNvPicPr>
          <p:nvPr/>
        </p:nvPicPr>
        <p:blipFill>
          <a:blip r:embed="rId3"/>
          <a:stretch>
            <a:fillRect/>
          </a:stretch>
        </p:blipFill>
        <p:spPr>
          <a:xfrm rot="21600000">
            <a:off x="1479296" y="4363593"/>
            <a:ext cx="5039868" cy="1699895"/>
          </a:xfrm>
          <a:prstGeom prst="rect">
            <a:avLst/>
          </a:prstGeom>
        </p:spPr>
      </p:pic>
      <p:pic>
        <p:nvPicPr>
          <p:cNvPr id="116" name="picture 116"/>
          <p:cNvPicPr>
            <a:picLocks noChangeAspect="1"/>
          </p:cNvPicPr>
          <p:nvPr/>
        </p:nvPicPr>
        <p:blipFill>
          <a:blip r:embed="rId4"/>
          <a:stretch>
            <a:fillRect/>
          </a:stretch>
        </p:blipFill>
        <p:spPr>
          <a:xfrm rot="21600000">
            <a:off x="1166495" y="7717282"/>
            <a:ext cx="5751703" cy="1012189"/>
          </a:xfrm>
          <a:prstGeom prst="rect">
            <a:avLst/>
          </a:prstGeom>
        </p:spPr>
      </p:pic>
      <p:sp>
        <p:nvSpPr>
          <p:cNvPr id="118" name="textbox 118"/>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120" name="textbox 120"/>
          <p:cNvSpPr/>
          <p:nvPr/>
        </p:nvSpPr>
        <p:spPr>
          <a:xfrm>
            <a:off x="2636074" y="9372409"/>
            <a:ext cx="2481580" cy="16002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2700" algn="l" rtl="0" eaLnBrk="0">
              <a:lnSpc>
                <a:spcPct val="88000"/>
              </a:lnSpc>
              <a:tabLst/>
            </a:pPr>
            <a:r>
              <a:rPr sz="1000" kern="0" spc="40" dirty="0">
                <a:solidFill>
                  <a:srgbClr val="000000">
                    <a:alpha val="100000"/>
                  </a:srgbClr>
                </a:solidFill>
                <a:latin typeface="PingFang SC"/>
                <a:ea typeface="PingFang SC"/>
                <a:cs typeface="PingFang SC"/>
              </a:rPr>
              <a:t>图A.7   蹄角度评分示意图与线</a:t>
            </a:r>
            <a:r>
              <a:rPr sz="1000" kern="0" spc="30" dirty="0">
                <a:solidFill>
                  <a:srgbClr val="000000">
                    <a:alpha val="100000"/>
                  </a:srgbClr>
                </a:solidFill>
                <a:latin typeface="PingFang SC"/>
                <a:ea typeface="PingFang SC"/>
                <a:cs typeface="PingFang SC"/>
              </a:rPr>
              <a:t>性评分标准</a:t>
            </a:r>
            <a:endParaRPr sz="1000" dirty="0">
              <a:latin typeface="PingFang SC"/>
              <a:ea typeface="PingFang SC"/>
              <a:cs typeface="PingFang SC"/>
            </a:endParaRPr>
          </a:p>
        </p:txBody>
      </p:sp>
      <p:sp>
        <p:nvSpPr>
          <p:cNvPr id="122" name="textbox 122"/>
          <p:cNvSpPr/>
          <p:nvPr/>
        </p:nvSpPr>
        <p:spPr>
          <a:xfrm>
            <a:off x="5767248"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4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124" name="textbox 124"/>
          <p:cNvSpPr/>
          <p:nvPr/>
        </p:nvSpPr>
        <p:spPr>
          <a:xfrm>
            <a:off x="6621894" y="9843999"/>
            <a:ext cx="72390" cy="103504"/>
          </a:xfrm>
          <a:prstGeom prst="rect">
            <a:avLst/>
          </a:prstGeom>
          <a:noFill/>
          <a:ln w="0" cap="flat">
            <a:noFill/>
            <a:prstDash val="solid"/>
            <a:miter lim="0"/>
          </a:ln>
        </p:spPr>
        <p:txBody>
          <a:bodyPr vert="horz" wrap="square" lIns="0" tIns="0" rIns="0" bIns="0"/>
          <a:lstStyle/>
          <a:p>
            <a:pPr algn="l" rtl="0" eaLnBrk="0">
              <a:lnSpc>
                <a:spcPct val="82639"/>
              </a:lnSpc>
              <a:tabLst/>
            </a:pPr>
            <a:endParaRPr sz="100" dirty="0">
              <a:latin typeface="Arial"/>
              <a:ea typeface="Arial"/>
              <a:cs typeface="Arial"/>
            </a:endParaRPr>
          </a:p>
          <a:p>
            <a:pPr algn="r" rtl="0" eaLnBrk="0">
              <a:lnSpc>
                <a:spcPct val="85000"/>
              </a:lnSpc>
              <a:tabLst/>
            </a:pPr>
            <a:r>
              <a:rPr sz="600" kern="0" spc="-10" dirty="0">
                <a:solidFill>
                  <a:srgbClr val="000000">
                    <a:alpha val="100000"/>
                  </a:srgbClr>
                </a:solidFill>
                <a:latin typeface="PingFang SC"/>
                <a:ea typeface="PingFang SC"/>
                <a:cs typeface="PingFang SC"/>
              </a:rPr>
              <a:t>5</a:t>
            </a:r>
            <a:endParaRPr sz="600" dirty="0">
              <a:latin typeface="PingFang SC"/>
              <a:ea typeface="PingFang SC"/>
              <a:cs typeface="PingFang S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6" name="table 126"/>
          <p:cNvGraphicFramePr>
            <a:graphicFrameLocks noGrp="1"/>
          </p:cNvGraphicFramePr>
          <p:nvPr/>
        </p:nvGraphicFramePr>
        <p:xfrm>
          <a:off x="969568" y="7294754"/>
          <a:ext cx="5442585" cy="433704"/>
        </p:xfrm>
        <a:graphic>
          <a:graphicData uri="http://schemas.openxmlformats.org/drawingml/2006/table">
            <a:tbl>
              <a:tblPr/>
              <a:tblGrid>
                <a:gridCol w="720725"/>
                <a:gridCol w="1082040"/>
                <a:gridCol w="361315"/>
                <a:gridCol w="359410"/>
                <a:gridCol w="269875"/>
                <a:gridCol w="451485"/>
                <a:gridCol w="359410"/>
                <a:gridCol w="359410"/>
                <a:gridCol w="361315"/>
                <a:gridCol w="1117600"/>
              </a:tblGrid>
              <a:tr h="215900">
                <a:tc>
                  <a:txBody>
                    <a:bodyPr/>
                    <a:lstStyle/>
                    <a:p>
                      <a:pPr algn="l" rtl="0" eaLnBrk="0">
                        <a:lnSpc>
                          <a:spcPct val="118000"/>
                        </a:lnSpc>
                        <a:tabLst/>
                      </a:pPr>
                      <a:endParaRPr sz="300" dirty="0">
                        <a:latin typeface="Arial"/>
                        <a:ea typeface="Arial"/>
                        <a:cs typeface="Arial"/>
                      </a:endParaRPr>
                    </a:p>
                    <a:p>
                      <a:pPr marL="139700"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524510"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156845"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157480"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111125"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01930"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156210"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158115"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156210"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531495"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8000"/>
                        </a:lnSpc>
                        <a:tabLst/>
                      </a:pPr>
                      <a:endParaRPr sz="300" dirty="0">
                        <a:latin typeface="Arial"/>
                        <a:ea typeface="Arial"/>
                        <a:cs typeface="Arial"/>
                      </a:endParaRPr>
                    </a:p>
                    <a:p>
                      <a:pPr marL="196850" algn="l" rtl="0" eaLnBrk="0">
                        <a:lnSpc>
                          <a:spcPct val="86000"/>
                        </a:lnSpc>
                        <a:spcBef>
                          <a:spcPts val="2"/>
                        </a:spcBef>
                        <a:tabLst/>
                      </a:pPr>
                      <a:r>
                        <a:rPr sz="900" kern="0" spc="-20" dirty="0">
                          <a:solidFill>
                            <a:srgbClr val="000000">
                              <a:alpha val="100000"/>
                            </a:srgbClr>
                          </a:solidFill>
                          <a:latin typeface="PingFang SC"/>
                          <a:ea typeface="PingFang SC"/>
                          <a:cs typeface="PingFang SC"/>
                        </a:rPr>
                        <a:t>骨质地</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46050" algn="l" rtl="0" eaLnBrk="0">
                        <a:lnSpc>
                          <a:spcPct val="86000"/>
                        </a:lnSpc>
                        <a:spcBef>
                          <a:spcPts val="2"/>
                        </a:spcBef>
                        <a:tabLst/>
                      </a:pPr>
                      <a:r>
                        <a:rPr sz="900" kern="0" spc="-10" dirty="0">
                          <a:solidFill>
                            <a:srgbClr val="000000">
                              <a:alpha val="100000"/>
                            </a:srgbClr>
                          </a:solidFill>
                          <a:latin typeface="PingFang SC"/>
                          <a:ea typeface="PingFang SC"/>
                          <a:cs typeface="PingFang SC"/>
                        </a:rPr>
                        <a:t>极粗、圆、疏松</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4000"/>
                        </a:lnSpc>
                        <a:tabLst/>
                      </a:pPr>
                      <a:endParaRPr sz="600" dirty="0">
                        <a:latin typeface="Arial"/>
                        <a:ea typeface="Arial"/>
                        <a:cs typeface="Arial"/>
                      </a:endParaRPr>
                    </a:p>
                    <a:p>
                      <a:pPr marL="154305" algn="l" rtl="0" eaLnBrk="0">
                        <a:lnSpc>
                          <a:spcPts val="306"/>
                        </a:lnSpc>
                        <a:spcBef>
                          <a:spcPts val="3"/>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4000"/>
                        </a:lnSpc>
                        <a:tabLst/>
                      </a:pPr>
                      <a:endParaRPr sz="600" dirty="0">
                        <a:latin typeface="Arial"/>
                        <a:ea typeface="Arial"/>
                        <a:cs typeface="Arial"/>
                      </a:endParaRPr>
                    </a:p>
                    <a:p>
                      <a:pPr marL="154305" algn="l" rtl="0" eaLnBrk="0">
                        <a:lnSpc>
                          <a:spcPts val="306"/>
                        </a:lnSpc>
                        <a:spcBef>
                          <a:spcPts val="3"/>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4000"/>
                        </a:lnSpc>
                        <a:tabLst/>
                      </a:pPr>
                      <a:endParaRPr sz="600" dirty="0">
                        <a:latin typeface="Arial"/>
                        <a:ea typeface="Arial"/>
                        <a:cs typeface="Arial"/>
                      </a:endParaRPr>
                    </a:p>
                    <a:p>
                      <a:pPr marL="110490" algn="l" rtl="0" eaLnBrk="0">
                        <a:lnSpc>
                          <a:spcPts val="306"/>
                        </a:lnSpc>
                        <a:spcBef>
                          <a:spcPts val="3"/>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25095" algn="l" rtl="0" eaLnBrk="0">
                        <a:lnSpc>
                          <a:spcPct val="86000"/>
                        </a:lnSpc>
                        <a:tabLst/>
                      </a:pPr>
                      <a:r>
                        <a:rPr sz="900" kern="0" spc="-40" dirty="0">
                          <a:solidFill>
                            <a:srgbClr val="000000">
                              <a:alpha val="100000"/>
                            </a:srgbClr>
                          </a:solidFill>
                          <a:latin typeface="PingFang SC"/>
                          <a:ea typeface="PingFang SC"/>
                          <a:cs typeface="PingFang SC"/>
                        </a:rPr>
                        <a:t>中等</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4000"/>
                        </a:lnSpc>
                        <a:tabLst/>
                      </a:pPr>
                      <a:endParaRPr sz="600" dirty="0">
                        <a:latin typeface="Arial"/>
                        <a:ea typeface="Arial"/>
                        <a:cs typeface="Arial"/>
                      </a:endParaRPr>
                    </a:p>
                    <a:p>
                      <a:pPr marL="154305" algn="l" rtl="0" eaLnBrk="0">
                        <a:lnSpc>
                          <a:spcPts val="306"/>
                        </a:lnSpc>
                        <a:spcBef>
                          <a:spcPts val="3"/>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4000"/>
                        </a:lnSpc>
                        <a:tabLst/>
                      </a:pPr>
                      <a:endParaRPr sz="600" dirty="0">
                        <a:latin typeface="Arial"/>
                        <a:ea typeface="Arial"/>
                        <a:cs typeface="Arial"/>
                      </a:endParaRPr>
                    </a:p>
                    <a:p>
                      <a:pPr marL="154940" algn="l" rtl="0" eaLnBrk="0">
                        <a:lnSpc>
                          <a:spcPts val="306"/>
                        </a:lnSpc>
                        <a:spcBef>
                          <a:spcPts val="3"/>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4000"/>
                        </a:lnSpc>
                        <a:tabLst/>
                      </a:pPr>
                      <a:endParaRPr sz="600" dirty="0">
                        <a:latin typeface="Arial"/>
                        <a:ea typeface="Arial"/>
                        <a:cs typeface="Arial"/>
                      </a:endParaRPr>
                    </a:p>
                    <a:p>
                      <a:pPr marL="154940" algn="l" rtl="0" eaLnBrk="0">
                        <a:lnSpc>
                          <a:spcPts val="306"/>
                        </a:lnSpc>
                        <a:spcBef>
                          <a:spcPts val="3"/>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8000"/>
                        </a:lnSpc>
                        <a:tabLst/>
                      </a:pPr>
                      <a:endParaRPr sz="300" dirty="0">
                        <a:latin typeface="Arial"/>
                        <a:ea typeface="Arial"/>
                        <a:cs typeface="Arial"/>
                      </a:endParaRPr>
                    </a:p>
                    <a:p>
                      <a:pPr marL="103504" algn="l" rtl="0" eaLnBrk="0">
                        <a:lnSpc>
                          <a:spcPct val="87000"/>
                        </a:lnSpc>
                        <a:spcBef>
                          <a:spcPts val="2"/>
                        </a:spcBef>
                        <a:tabLst/>
                      </a:pPr>
                      <a:r>
                        <a:rPr sz="900" kern="0" spc="-10" dirty="0">
                          <a:solidFill>
                            <a:srgbClr val="000000">
                              <a:alpha val="100000"/>
                            </a:srgbClr>
                          </a:solidFill>
                          <a:latin typeface="PingFang SC"/>
                          <a:ea typeface="PingFang SC"/>
                          <a:cs typeface="PingFang SC"/>
                        </a:rPr>
                        <a:t>极宽、扁平、细致</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128" name="table 128"/>
          <p:cNvGraphicFramePr>
            <a:graphicFrameLocks noGrp="1"/>
          </p:cNvGraphicFramePr>
          <p:nvPr/>
        </p:nvGraphicFramePr>
        <p:xfrm>
          <a:off x="983284" y="3590874"/>
          <a:ext cx="5414010" cy="434340"/>
        </p:xfrm>
        <a:graphic>
          <a:graphicData uri="http://schemas.openxmlformats.org/drawingml/2006/table">
            <a:tbl>
              <a:tblPr/>
              <a:tblGrid>
                <a:gridCol w="990600"/>
                <a:gridCol w="490855"/>
                <a:gridCol w="490854"/>
                <a:gridCol w="490854"/>
                <a:gridCol w="490854"/>
                <a:gridCol w="490855"/>
                <a:gridCol w="490854"/>
                <a:gridCol w="490854"/>
                <a:gridCol w="490855"/>
                <a:gridCol w="496569"/>
              </a:tblGrid>
              <a:tr h="216534">
                <a:tc>
                  <a:txBody>
                    <a:bodyPr/>
                    <a:lstStyle/>
                    <a:p>
                      <a:pPr algn="l" rtl="0" eaLnBrk="0">
                        <a:lnSpc>
                          <a:spcPct val="119000"/>
                        </a:lnSpc>
                        <a:tabLst/>
                      </a:pPr>
                      <a:endParaRPr sz="300" dirty="0">
                        <a:latin typeface="Arial"/>
                        <a:ea typeface="Arial"/>
                        <a:cs typeface="Arial"/>
                      </a:endParaRPr>
                    </a:p>
                    <a:p>
                      <a:pPr marL="276860" algn="l" rtl="0" eaLnBrk="0">
                        <a:lnSpc>
                          <a:spcPct val="86000"/>
                        </a:lnSpc>
                        <a:spcBef>
                          <a:spcPts val="1"/>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0000"/>
                        </a:lnSpc>
                        <a:tabLst/>
                      </a:pPr>
                      <a:endParaRPr sz="300" dirty="0">
                        <a:latin typeface="Arial"/>
                        <a:ea typeface="Arial"/>
                        <a:cs typeface="Arial"/>
                      </a:endParaRPr>
                    </a:p>
                    <a:p>
                      <a:pPr marL="229234" algn="l" rtl="0" eaLnBrk="0">
                        <a:lnSpc>
                          <a:spcPct val="83000"/>
                        </a:lnSpc>
                        <a:spcBef>
                          <a:spcPts val="1"/>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0000"/>
                        </a:lnSpc>
                        <a:tabLst/>
                      </a:pPr>
                      <a:endParaRPr sz="300" dirty="0">
                        <a:latin typeface="Arial"/>
                        <a:ea typeface="Arial"/>
                        <a:cs typeface="Arial"/>
                      </a:endParaRPr>
                    </a:p>
                    <a:p>
                      <a:pPr marL="222250" algn="l" rtl="0" eaLnBrk="0">
                        <a:lnSpc>
                          <a:spcPct val="83000"/>
                        </a:lnSpc>
                        <a:spcBef>
                          <a:spcPts val="1"/>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0000"/>
                        </a:lnSpc>
                        <a:tabLst/>
                      </a:pPr>
                      <a:endParaRPr sz="300" dirty="0">
                        <a:latin typeface="Arial"/>
                        <a:ea typeface="Arial"/>
                        <a:cs typeface="Arial"/>
                      </a:endParaRPr>
                    </a:p>
                    <a:p>
                      <a:pPr marL="222884" algn="l" rtl="0" eaLnBrk="0">
                        <a:lnSpc>
                          <a:spcPct val="83000"/>
                        </a:lnSpc>
                        <a:spcBef>
                          <a:spcPts val="1"/>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0000"/>
                        </a:lnSpc>
                        <a:tabLst/>
                      </a:pPr>
                      <a:endParaRPr sz="300" dirty="0">
                        <a:latin typeface="Arial"/>
                        <a:ea typeface="Arial"/>
                        <a:cs typeface="Arial"/>
                      </a:endParaRPr>
                    </a:p>
                    <a:p>
                      <a:pPr marL="220345" algn="l" rtl="0" eaLnBrk="0">
                        <a:lnSpc>
                          <a:spcPct val="83000"/>
                        </a:lnSpc>
                        <a:spcBef>
                          <a:spcPts val="1"/>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0000"/>
                        </a:lnSpc>
                        <a:tabLst/>
                      </a:pPr>
                      <a:endParaRPr sz="300" dirty="0">
                        <a:latin typeface="Arial"/>
                        <a:ea typeface="Arial"/>
                        <a:cs typeface="Arial"/>
                      </a:endParaRPr>
                    </a:p>
                    <a:p>
                      <a:pPr marL="222884" algn="l" rtl="0" eaLnBrk="0">
                        <a:lnSpc>
                          <a:spcPct val="83000"/>
                        </a:lnSpc>
                        <a:spcBef>
                          <a:spcPts val="1"/>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0000"/>
                        </a:lnSpc>
                        <a:tabLst/>
                      </a:pPr>
                      <a:endParaRPr sz="300" dirty="0">
                        <a:latin typeface="Arial"/>
                        <a:ea typeface="Arial"/>
                        <a:cs typeface="Arial"/>
                      </a:endParaRPr>
                    </a:p>
                    <a:p>
                      <a:pPr marL="221615" algn="l" rtl="0" eaLnBrk="0">
                        <a:lnSpc>
                          <a:spcPct val="83000"/>
                        </a:lnSpc>
                        <a:spcBef>
                          <a:spcPts val="1"/>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0000"/>
                        </a:lnSpc>
                        <a:tabLst/>
                      </a:pPr>
                      <a:endParaRPr sz="300" dirty="0">
                        <a:latin typeface="Arial"/>
                        <a:ea typeface="Arial"/>
                        <a:cs typeface="Arial"/>
                      </a:endParaRPr>
                    </a:p>
                    <a:p>
                      <a:pPr marL="222884" algn="l" rtl="0" eaLnBrk="0">
                        <a:lnSpc>
                          <a:spcPct val="83000"/>
                        </a:lnSpc>
                        <a:spcBef>
                          <a:spcPts val="1"/>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0000"/>
                        </a:lnSpc>
                        <a:tabLst/>
                      </a:pPr>
                      <a:endParaRPr sz="300" dirty="0">
                        <a:latin typeface="Arial"/>
                        <a:ea typeface="Arial"/>
                        <a:cs typeface="Arial"/>
                      </a:endParaRPr>
                    </a:p>
                    <a:p>
                      <a:pPr marL="220980" algn="l" rtl="0" eaLnBrk="0">
                        <a:lnSpc>
                          <a:spcPct val="83000"/>
                        </a:lnSpc>
                        <a:spcBef>
                          <a:spcPts val="1"/>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20000"/>
                        </a:lnSpc>
                        <a:tabLst/>
                      </a:pPr>
                      <a:endParaRPr sz="300" dirty="0">
                        <a:latin typeface="Arial"/>
                        <a:ea typeface="Arial"/>
                        <a:cs typeface="Arial"/>
                      </a:endParaRPr>
                    </a:p>
                    <a:p>
                      <a:pPr marL="220980" algn="l" rtl="0" eaLnBrk="0">
                        <a:lnSpc>
                          <a:spcPct val="83000"/>
                        </a:lnSpc>
                        <a:spcBef>
                          <a:spcPts val="1"/>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10000"/>
                        </a:lnSpc>
                        <a:tabLst/>
                      </a:pPr>
                      <a:endParaRPr sz="300" dirty="0">
                        <a:latin typeface="Arial"/>
                        <a:ea typeface="Arial"/>
                        <a:cs typeface="Arial"/>
                      </a:endParaRPr>
                    </a:p>
                    <a:p>
                      <a:pPr marL="104775" algn="l" rtl="0" eaLnBrk="0">
                        <a:lnSpc>
                          <a:spcPct val="86000"/>
                        </a:lnSpc>
                        <a:spcBef>
                          <a:spcPts val="1"/>
                        </a:spcBef>
                        <a:tabLst/>
                      </a:pPr>
                      <a:r>
                        <a:rPr sz="900" kern="0" spc="-60" dirty="0">
                          <a:solidFill>
                            <a:srgbClr val="000000">
                              <a:alpha val="100000"/>
                            </a:srgbClr>
                          </a:solidFill>
                          <a:latin typeface="PingFang SC"/>
                          <a:ea typeface="PingFang SC"/>
                          <a:cs typeface="PingFang SC"/>
                        </a:rPr>
                        <a:t>蹄踵深度（cm）</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14300" algn="l" rtl="0" eaLnBrk="0">
                        <a:lnSpc>
                          <a:spcPct val="83000"/>
                        </a:lnSpc>
                        <a:tabLst/>
                      </a:pPr>
                      <a:r>
                        <a:rPr sz="900" kern="0" spc="30" dirty="0">
                          <a:solidFill>
                            <a:srgbClr val="000000">
                              <a:alpha val="100000"/>
                            </a:srgbClr>
                          </a:solidFill>
                          <a:latin typeface="PingFang SC"/>
                          <a:ea typeface="PingFang SC"/>
                          <a:cs typeface="PingFang SC"/>
                        </a:rPr>
                        <a:t>≤0.5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29234" algn="l" rtl="0" eaLnBrk="0">
                        <a:lnSpc>
                          <a:spcPct val="83000"/>
                        </a:lnSpc>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71450" algn="l" rtl="0" eaLnBrk="0">
                        <a:lnSpc>
                          <a:spcPct val="83000"/>
                        </a:lnSpc>
                        <a:tabLst/>
                      </a:pPr>
                      <a:r>
                        <a:rPr sz="900" kern="0" spc="30" dirty="0">
                          <a:solidFill>
                            <a:srgbClr val="000000">
                              <a:alpha val="100000"/>
                            </a:srgbClr>
                          </a:solidFill>
                          <a:latin typeface="PingFang SC"/>
                          <a:ea typeface="PingFang SC"/>
                          <a:cs typeface="PingFang SC"/>
                        </a:rPr>
                        <a:t>1.5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21615" algn="l" rtl="0" eaLnBrk="0">
                        <a:lnSpc>
                          <a:spcPct val="83000"/>
                        </a:lnSpc>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63830" algn="l" rtl="0" eaLnBrk="0">
                        <a:lnSpc>
                          <a:spcPct val="83000"/>
                        </a:lnSpc>
                        <a:tabLst/>
                      </a:pPr>
                      <a:r>
                        <a:rPr sz="900" kern="0" spc="-10" dirty="0">
                          <a:solidFill>
                            <a:srgbClr val="000000">
                              <a:alpha val="100000"/>
                            </a:srgbClr>
                          </a:solidFill>
                          <a:latin typeface="PingFang SC"/>
                          <a:ea typeface="PingFang SC"/>
                          <a:cs typeface="PingFang SC"/>
                        </a:rPr>
                        <a:t>2.5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22884" algn="l" rtl="0" eaLnBrk="0">
                        <a:lnSpc>
                          <a:spcPct val="83000"/>
                        </a:lnSpc>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64465" algn="l" rtl="0" eaLnBrk="0">
                        <a:lnSpc>
                          <a:spcPct val="83000"/>
                        </a:lnSpc>
                        <a:tabLst/>
                      </a:pPr>
                      <a:r>
                        <a:rPr sz="900" kern="0" spc="-10" dirty="0">
                          <a:solidFill>
                            <a:srgbClr val="000000">
                              <a:alpha val="100000"/>
                            </a:srgbClr>
                          </a:solidFill>
                          <a:latin typeface="PingFang SC"/>
                          <a:ea typeface="PingFang SC"/>
                          <a:cs typeface="PingFang SC"/>
                        </a:rPr>
                        <a:t>3.5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19709" algn="l" rtl="0" eaLnBrk="0">
                        <a:lnSpc>
                          <a:spcPct val="83000"/>
                        </a:lnSpc>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17475" algn="l" rtl="0" eaLnBrk="0">
                        <a:lnSpc>
                          <a:spcPct val="83000"/>
                        </a:lnSpc>
                        <a:tabLst/>
                      </a:pPr>
                      <a:r>
                        <a:rPr sz="900" kern="0" spc="20" dirty="0">
                          <a:solidFill>
                            <a:srgbClr val="000000">
                              <a:alpha val="100000"/>
                            </a:srgbClr>
                          </a:solidFill>
                          <a:latin typeface="PingFang SC"/>
                          <a:ea typeface="PingFang SC"/>
                          <a:cs typeface="PingFang SC"/>
                        </a:rPr>
                        <a:t>≥4.5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130" name="textbox 130"/>
          <p:cNvSpPr/>
          <p:nvPr/>
        </p:nvSpPr>
        <p:spPr>
          <a:xfrm>
            <a:off x="708237" y="1233284"/>
            <a:ext cx="5276850" cy="55626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2700" algn="l" rtl="0" eaLnBrk="0">
              <a:lnSpc>
                <a:spcPct val="88000"/>
              </a:lnSpc>
              <a:tabLst/>
            </a:pPr>
            <a:r>
              <a:rPr sz="1000" kern="0" spc="20" dirty="0">
                <a:solidFill>
                  <a:srgbClr val="000000">
                    <a:alpha val="100000"/>
                  </a:srgbClr>
                </a:solidFill>
                <a:latin typeface="PingFang SC"/>
                <a:ea typeface="PingFang SC"/>
                <a:cs typeface="PingFang SC"/>
              </a:rPr>
              <a:t>A.8   蹄踵深度</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algn="l" rtl="0" eaLnBrk="0">
              <a:lnSpc>
                <a:spcPct val="125000"/>
              </a:lnSpc>
              <a:tabLst/>
            </a:pPr>
            <a:endParaRPr sz="200" dirty="0">
              <a:latin typeface="Arial"/>
              <a:ea typeface="Arial"/>
              <a:cs typeface="Arial"/>
            </a:endParaRPr>
          </a:p>
          <a:p>
            <a:pPr algn="r" rtl="0" eaLnBrk="0">
              <a:lnSpc>
                <a:spcPct val="88000"/>
              </a:lnSpc>
              <a:tabLst/>
            </a:pPr>
            <a:r>
              <a:rPr sz="1000" kern="0" spc="30" dirty="0">
                <a:solidFill>
                  <a:srgbClr val="000000">
                    <a:alpha val="100000"/>
                  </a:srgbClr>
                </a:solidFill>
                <a:latin typeface="PingFang SC"/>
                <a:ea typeface="PingFang SC"/>
                <a:cs typeface="PingFang SC"/>
              </a:rPr>
              <a:t>测定健康后蹄的蹄踵上沿与地面之间的距离。评定部位、评分与线性评分标准见A.</a:t>
            </a:r>
            <a:r>
              <a:rPr sz="1000" kern="0" spc="20" dirty="0">
                <a:solidFill>
                  <a:srgbClr val="000000">
                    <a:alpha val="100000"/>
                  </a:srgbClr>
                </a:solidFill>
                <a:latin typeface="PingFang SC"/>
                <a:ea typeface="PingFang SC"/>
                <a:cs typeface="PingFang SC"/>
              </a:rPr>
              <a:t>8。</a:t>
            </a:r>
            <a:endParaRPr sz="1000" dirty="0">
              <a:latin typeface="PingFang SC"/>
              <a:ea typeface="PingFang SC"/>
              <a:cs typeface="PingFang SC"/>
            </a:endParaRPr>
          </a:p>
        </p:txBody>
      </p:sp>
      <p:sp>
        <p:nvSpPr>
          <p:cNvPr id="132" name="textbox 132"/>
          <p:cNvSpPr/>
          <p:nvPr/>
        </p:nvSpPr>
        <p:spPr>
          <a:xfrm>
            <a:off x="708237" y="4144505"/>
            <a:ext cx="5969000" cy="1160145"/>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692910" algn="l" rtl="0" eaLnBrk="0">
              <a:lnSpc>
                <a:spcPct val="88000"/>
              </a:lnSpc>
              <a:tabLst/>
            </a:pPr>
            <a:r>
              <a:rPr sz="1000" kern="0" spc="40" dirty="0">
                <a:solidFill>
                  <a:srgbClr val="000000">
                    <a:alpha val="100000"/>
                  </a:srgbClr>
                </a:solidFill>
                <a:latin typeface="PingFang SC"/>
                <a:ea typeface="PingFang SC"/>
                <a:cs typeface="PingFang SC"/>
              </a:rPr>
              <a:t>图A.8   蹄踵深度评分示意</a:t>
            </a:r>
            <a:r>
              <a:rPr sz="1000" kern="0" spc="30" dirty="0">
                <a:solidFill>
                  <a:srgbClr val="000000">
                    <a:alpha val="100000"/>
                  </a:srgbClr>
                </a:solidFill>
                <a:latin typeface="PingFang SC"/>
                <a:ea typeface="PingFang SC"/>
                <a:cs typeface="PingFang SC"/>
              </a:rPr>
              <a:t>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20" dirty="0">
                <a:solidFill>
                  <a:srgbClr val="000000">
                    <a:alpha val="100000"/>
                  </a:srgbClr>
                </a:solidFill>
                <a:latin typeface="PingFang SC"/>
                <a:ea typeface="PingFang SC"/>
                <a:cs typeface="PingFang SC"/>
              </a:rPr>
              <a:t>A.9</a:t>
            </a:r>
            <a:r>
              <a:rPr sz="1000" kern="0" spc="30" dirty="0">
                <a:solidFill>
                  <a:srgbClr val="000000">
                    <a:alpha val="100000"/>
                  </a:srgbClr>
                </a:solidFill>
                <a:latin typeface="PingFang SC"/>
                <a:ea typeface="PingFang SC"/>
                <a:cs typeface="PingFang SC"/>
              </a:rPr>
              <a:t>   </a:t>
            </a:r>
            <a:r>
              <a:rPr sz="1000" kern="0" spc="20" dirty="0">
                <a:solidFill>
                  <a:srgbClr val="000000">
                    <a:alpha val="100000"/>
                  </a:srgbClr>
                </a:solidFill>
                <a:latin typeface="PingFang SC"/>
                <a:ea typeface="PingFang SC"/>
                <a:cs typeface="PingFang SC"/>
              </a:rPr>
              <a:t>骨质地</a:t>
            </a:r>
            <a:endParaRPr sz="1000" dirty="0">
              <a:latin typeface="PingFang SC"/>
              <a:ea typeface="PingFang SC"/>
              <a:cs typeface="PingFang SC"/>
            </a:endParaRPr>
          </a:p>
          <a:p>
            <a:pPr algn="l" rtl="0" eaLnBrk="0">
              <a:lnSpc>
                <a:spcPct val="119000"/>
              </a:lnSpc>
              <a:tabLst/>
            </a:pPr>
            <a:endParaRPr sz="1000" dirty="0">
              <a:latin typeface="Arial"/>
              <a:ea typeface="Arial"/>
              <a:cs typeface="Arial"/>
            </a:endParaRPr>
          </a:p>
          <a:p>
            <a:pPr algn="l" rtl="0" eaLnBrk="0">
              <a:lnSpc>
                <a:spcPct val="128000"/>
              </a:lnSpc>
              <a:tabLst/>
            </a:pPr>
            <a:endParaRPr sz="200" dirty="0">
              <a:latin typeface="Arial"/>
              <a:ea typeface="Arial"/>
              <a:cs typeface="Arial"/>
            </a:endParaRPr>
          </a:p>
          <a:p>
            <a:pPr marL="15875" indent="266065" algn="l" rtl="0" eaLnBrk="0">
              <a:lnSpc>
                <a:spcPct val="126000"/>
              </a:lnSpc>
              <a:tabLst/>
            </a:pPr>
            <a:r>
              <a:rPr sz="1000" kern="0" spc="40" dirty="0">
                <a:solidFill>
                  <a:srgbClr val="000000">
                    <a:alpha val="100000"/>
                  </a:srgbClr>
                </a:solidFill>
                <a:latin typeface="PingFang SC"/>
                <a:ea typeface="PingFang SC"/>
                <a:cs typeface="PingFang SC"/>
              </a:rPr>
              <a:t>评定后肢骨骼的细致程度与结实程度。骨骼粗圆疏松，评分越低；后肢上部呈扇状</a:t>
            </a:r>
            <a:r>
              <a:rPr sz="1000" kern="0" spc="30" dirty="0">
                <a:solidFill>
                  <a:srgbClr val="000000">
                    <a:alpha val="100000"/>
                  </a:srgbClr>
                </a:solidFill>
                <a:latin typeface="PingFang SC"/>
                <a:ea typeface="PingFang SC"/>
                <a:cs typeface="PingFang SC"/>
              </a:rPr>
              <a:t>且开张越大，骨</a:t>
            </a:r>
            <a:r>
              <a:rPr sz="1000" kern="0" spc="50" dirty="0">
                <a:solidFill>
                  <a:srgbClr val="000000">
                    <a:alpha val="100000"/>
                  </a:srgbClr>
                </a:solidFill>
                <a:latin typeface="PingFang SC"/>
                <a:ea typeface="PingFang SC"/>
                <a:cs typeface="PingFang SC"/>
              </a:rPr>
              <a:t>骼扁平清晰结实，飞节连接清</a:t>
            </a:r>
            <a:r>
              <a:rPr sz="1000" kern="0" spc="40" dirty="0">
                <a:solidFill>
                  <a:srgbClr val="000000">
                    <a:alpha val="100000"/>
                  </a:srgbClr>
                </a:solidFill>
                <a:latin typeface="PingFang SC"/>
                <a:ea typeface="PingFang SC"/>
                <a:cs typeface="PingFang SC"/>
              </a:rPr>
              <a:t>晰结实，评分越高。</a:t>
            </a:r>
            <a:r>
              <a:rPr sz="1000" kern="0" spc="-220" dirty="0">
                <a:solidFill>
                  <a:srgbClr val="000000">
                    <a:alpha val="100000"/>
                  </a:srgbClr>
                </a:solidFill>
                <a:latin typeface="PingFang SC"/>
                <a:ea typeface="PingFang SC"/>
                <a:cs typeface="PingFang SC"/>
              </a:rPr>
              <a:t> </a:t>
            </a:r>
            <a:r>
              <a:rPr sz="1000" kern="0" spc="40" dirty="0">
                <a:solidFill>
                  <a:srgbClr val="000000">
                    <a:alpha val="100000"/>
                  </a:srgbClr>
                </a:solidFill>
                <a:latin typeface="PingFang SC"/>
                <a:ea typeface="PingFang SC"/>
                <a:cs typeface="PingFang SC"/>
              </a:rPr>
              <a:t>评定部位、评分与线性评分标准见图A.9。</a:t>
            </a:r>
            <a:endParaRPr sz="1000" dirty="0">
              <a:latin typeface="PingFang SC"/>
              <a:ea typeface="PingFang SC"/>
              <a:cs typeface="PingFang SC"/>
            </a:endParaRPr>
          </a:p>
        </p:txBody>
      </p:sp>
      <p:sp>
        <p:nvSpPr>
          <p:cNvPr id="134" name="textbox 134"/>
          <p:cNvSpPr/>
          <p:nvPr/>
        </p:nvSpPr>
        <p:spPr>
          <a:xfrm>
            <a:off x="707700" y="7848079"/>
            <a:ext cx="5967730" cy="116713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760854" algn="l" rtl="0" eaLnBrk="0">
              <a:lnSpc>
                <a:spcPct val="88000"/>
              </a:lnSpc>
              <a:tabLst/>
            </a:pPr>
            <a:r>
              <a:rPr sz="1000" kern="0" spc="40" dirty="0">
                <a:solidFill>
                  <a:srgbClr val="000000">
                    <a:alpha val="100000"/>
                  </a:srgbClr>
                </a:solidFill>
                <a:latin typeface="PingFang SC"/>
                <a:ea typeface="PingFang SC"/>
                <a:cs typeface="PingFang SC"/>
              </a:rPr>
              <a:t>图A.9   骨质地评分</a:t>
            </a:r>
            <a:r>
              <a:rPr sz="1000" kern="0" spc="30" dirty="0">
                <a:solidFill>
                  <a:srgbClr val="000000">
                    <a:alpha val="100000"/>
                  </a:srgbClr>
                </a:solidFill>
                <a:latin typeface="PingFang SC"/>
                <a:ea typeface="PingFang SC"/>
                <a:cs typeface="PingFang SC"/>
              </a:rPr>
              <a:t>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30" dirty="0">
                <a:solidFill>
                  <a:srgbClr val="000000">
                    <a:alpha val="100000"/>
                  </a:srgbClr>
                </a:solidFill>
                <a:latin typeface="PingFang SC"/>
                <a:ea typeface="PingFang SC"/>
                <a:cs typeface="PingFang SC"/>
              </a:rPr>
              <a:t>A.10   后肢侧视</a:t>
            </a:r>
            <a:endParaRPr sz="1000" dirty="0">
              <a:latin typeface="PingFang SC"/>
              <a:ea typeface="PingFang SC"/>
              <a:cs typeface="PingFang SC"/>
            </a:endParaRPr>
          </a:p>
          <a:p>
            <a:pPr algn="l" rtl="0" eaLnBrk="0">
              <a:lnSpc>
                <a:spcPct val="120000"/>
              </a:lnSpc>
              <a:tabLst/>
            </a:pPr>
            <a:endParaRPr sz="1000" dirty="0">
              <a:latin typeface="Arial"/>
              <a:ea typeface="Arial"/>
              <a:cs typeface="Arial"/>
            </a:endParaRPr>
          </a:p>
          <a:p>
            <a:pPr algn="l" rtl="0" eaLnBrk="0">
              <a:lnSpc>
                <a:spcPct val="126000"/>
              </a:lnSpc>
              <a:tabLst/>
            </a:pPr>
            <a:endParaRPr sz="200" dirty="0">
              <a:latin typeface="Arial"/>
              <a:ea typeface="Arial"/>
              <a:cs typeface="Arial"/>
            </a:endParaRPr>
          </a:p>
          <a:p>
            <a:pPr marL="12700" indent="271145" algn="l" rtl="0" eaLnBrk="0">
              <a:lnSpc>
                <a:spcPct val="128000"/>
              </a:lnSpc>
              <a:tabLst/>
            </a:pPr>
            <a:r>
              <a:rPr sz="1000" kern="0" spc="40" dirty="0">
                <a:solidFill>
                  <a:srgbClr val="000000">
                    <a:alpha val="100000"/>
                  </a:srgbClr>
                </a:solidFill>
                <a:latin typeface="PingFang SC"/>
                <a:ea typeface="PingFang SC"/>
                <a:cs typeface="PingFang SC"/>
              </a:rPr>
              <a:t>测定健康后肢飞节处的弯曲程度，胫骨与跗骨之间的体夹角。评定部位、评分与</a:t>
            </a:r>
            <a:r>
              <a:rPr sz="1000" kern="0" spc="30" dirty="0">
                <a:solidFill>
                  <a:srgbClr val="000000">
                    <a:alpha val="100000"/>
                  </a:srgbClr>
                </a:solidFill>
                <a:latin typeface="PingFang SC"/>
                <a:ea typeface="PingFang SC"/>
                <a:cs typeface="PingFang SC"/>
              </a:rPr>
              <a:t>线性评分标准见图</a:t>
            </a:r>
            <a:r>
              <a:rPr sz="1000" kern="0" spc="30" dirty="0">
                <a:solidFill>
                  <a:srgbClr val="000000">
                    <a:alpha val="100000"/>
                  </a:srgbClr>
                </a:solidFill>
                <a:latin typeface="PingFang SC"/>
                <a:ea typeface="PingFang SC"/>
                <a:cs typeface="PingFang SC"/>
              </a:rPr>
              <a:t>A.10。</a:t>
            </a:r>
            <a:endParaRPr sz="1000" dirty="0">
              <a:latin typeface="PingFang SC"/>
              <a:ea typeface="PingFang SC"/>
              <a:cs typeface="PingFang SC"/>
            </a:endParaRPr>
          </a:p>
        </p:txBody>
      </p:sp>
      <p:pic>
        <p:nvPicPr>
          <p:cNvPr id="136" name="picture 136"/>
          <p:cNvPicPr>
            <a:picLocks noChangeAspect="1"/>
          </p:cNvPicPr>
          <p:nvPr/>
        </p:nvPicPr>
        <p:blipFill>
          <a:blip r:embed="rId2"/>
          <a:stretch>
            <a:fillRect/>
          </a:stretch>
        </p:blipFill>
        <p:spPr>
          <a:xfrm rot="21600000">
            <a:off x="1537589" y="1888363"/>
            <a:ext cx="4564888" cy="1621155"/>
          </a:xfrm>
          <a:prstGeom prst="rect">
            <a:avLst/>
          </a:prstGeom>
        </p:spPr>
      </p:pic>
      <p:pic>
        <p:nvPicPr>
          <p:cNvPr id="138" name="picture 138"/>
          <p:cNvPicPr>
            <a:picLocks noChangeAspect="1"/>
          </p:cNvPicPr>
          <p:nvPr/>
        </p:nvPicPr>
        <p:blipFill>
          <a:blip r:embed="rId3"/>
          <a:stretch>
            <a:fillRect/>
          </a:stretch>
        </p:blipFill>
        <p:spPr>
          <a:xfrm rot="21600000">
            <a:off x="1393190" y="5331587"/>
            <a:ext cx="4860290" cy="1935479"/>
          </a:xfrm>
          <a:prstGeom prst="rect">
            <a:avLst/>
          </a:prstGeom>
        </p:spPr>
      </p:pic>
      <p:sp>
        <p:nvSpPr>
          <p:cNvPr id="140" name="textbox 140"/>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142" name="textbox 142"/>
          <p:cNvSpPr/>
          <p:nvPr/>
        </p:nvSpPr>
        <p:spPr>
          <a:xfrm>
            <a:off x="712394"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5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144" name="textbox 144"/>
          <p:cNvSpPr/>
          <p:nvPr/>
        </p:nvSpPr>
        <p:spPr>
          <a:xfrm>
            <a:off x="881545" y="9847200"/>
            <a:ext cx="70485" cy="100330"/>
          </a:xfrm>
          <a:prstGeom prst="rect">
            <a:avLst/>
          </a:prstGeom>
          <a:noFill/>
          <a:ln w="0" cap="flat">
            <a:noFill/>
            <a:prstDash val="solid"/>
            <a:miter lim="0"/>
          </a:ln>
        </p:spPr>
        <p:txBody>
          <a:bodyPr vert="horz" wrap="square" lIns="0" tIns="0" rIns="0" bIns="0"/>
          <a:lstStyle/>
          <a:p>
            <a:pPr algn="l" rtl="0" eaLnBrk="0">
              <a:lnSpc>
                <a:spcPct val="82638"/>
              </a:lnSpc>
              <a:tabLst/>
            </a:pPr>
            <a:endParaRPr sz="100" dirty="0">
              <a:latin typeface="Arial"/>
              <a:ea typeface="Arial"/>
              <a:cs typeface="Arial"/>
            </a:endParaRPr>
          </a:p>
          <a:p>
            <a:pPr algn="r" rtl="0" eaLnBrk="0">
              <a:lnSpc>
                <a:spcPct val="82000"/>
              </a:lnSpc>
              <a:tabLst/>
            </a:pPr>
            <a:r>
              <a:rPr sz="600" kern="0" spc="-20" dirty="0">
                <a:solidFill>
                  <a:srgbClr val="000000">
                    <a:alpha val="100000"/>
                  </a:srgbClr>
                </a:solidFill>
                <a:latin typeface="PingFang SC"/>
                <a:ea typeface="PingFang SC"/>
                <a:cs typeface="PingFang SC"/>
              </a:rPr>
              <a:t>6</a:t>
            </a:r>
            <a:endParaRPr sz="600" dirty="0">
              <a:latin typeface="PingFang SC"/>
              <a:ea typeface="PingFang SC"/>
              <a:cs typeface="PingFang S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6" name="table 146"/>
          <p:cNvGraphicFramePr>
            <a:graphicFrameLocks noGrp="1"/>
          </p:cNvGraphicFramePr>
          <p:nvPr/>
        </p:nvGraphicFramePr>
        <p:xfrm>
          <a:off x="1149400" y="5511420"/>
          <a:ext cx="5442585" cy="433704"/>
        </p:xfrm>
        <a:graphic>
          <a:graphicData uri="http://schemas.openxmlformats.org/drawingml/2006/table">
            <a:tbl>
              <a:tblPr/>
              <a:tblGrid>
                <a:gridCol w="990600"/>
                <a:gridCol w="494030"/>
                <a:gridCol w="494029"/>
                <a:gridCol w="493394"/>
                <a:gridCol w="494030"/>
                <a:gridCol w="494029"/>
                <a:gridCol w="493394"/>
                <a:gridCol w="494029"/>
                <a:gridCol w="495300"/>
                <a:gridCol w="499744"/>
              </a:tblGrid>
              <a:tr h="215900">
                <a:tc>
                  <a:txBody>
                    <a:bodyPr/>
                    <a:lstStyle/>
                    <a:p>
                      <a:pPr algn="l" rtl="0" eaLnBrk="0">
                        <a:lnSpc>
                          <a:spcPct val="118000"/>
                        </a:lnSpc>
                        <a:tabLst/>
                      </a:pPr>
                      <a:endParaRPr sz="300" dirty="0">
                        <a:latin typeface="Arial"/>
                        <a:ea typeface="Arial"/>
                        <a:cs typeface="Arial"/>
                      </a:endParaRPr>
                    </a:p>
                    <a:p>
                      <a:pPr marL="274955"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30505"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3520"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4155"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1615"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4790"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2884"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5425"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2884"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1615"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8000"/>
                        </a:lnSpc>
                        <a:tabLst/>
                      </a:pPr>
                      <a:endParaRPr sz="300" dirty="0">
                        <a:latin typeface="Arial"/>
                        <a:ea typeface="Arial"/>
                        <a:cs typeface="Arial"/>
                      </a:endParaRPr>
                    </a:p>
                    <a:p>
                      <a:pPr marL="102870" algn="l" rtl="0" eaLnBrk="0">
                        <a:lnSpc>
                          <a:spcPct val="87000"/>
                        </a:lnSpc>
                        <a:spcBef>
                          <a:spcPts val="3"/>
                        </a:spcBef>
                        <a:tabLst/>
                      </a:pPr>
                      <a:r>
                        <a:rPr sz="900" kern="0" spc="120" dirty="0">
                          <a:solidFill>
                            <a:srgbClr val="000000">
                              <a:alpha val="100000"/>
                            </a:srgbClr>
                          </a:solidFill>
                          <a:latin typeface="PingFang SC"/>
                          <a:ea typeface="PingFang SC"/>
                          <a:cs typeface="PingFang SC"/>
                        </a:rPr>
                        <a:t>后肢侧视(</a:t>
                      </a:r>
                      <a:r>
                        <a:rPr sz="900" kern="0" spc="0" dirty="0">
                          <a:solidFill>
                            <a:srgbClr val="000000">
                              <a:alpha val="100000"/>
                            </a:srgbClr>
                          </a:solidFill>
                          <a:latin typeface="PingFang SC"/>
                          <a:ea typeface="PingFang SC"/>
                          <a:cs typeface="PingFang SC"/>
                        </a:rPr>
                        <a:t> </a:t>
                      </a:r>
                      <a:r>
                        <a:rPr sz="900" kern="0" spc="120" dirty="0">
                          <a:solidFill>
                            <a:srgbClr val="000000">
                              <a:alpha val="100000"/>
                            </a:srgbClr>
                          </a:solidFill>
                          <a:latin typeface="PingFang SC"/>
                          <a:ea typeface="PingFang SC"/>
                          <a:cs typeface="PingFang SC"/>
                        </a:rPr>
                        <a:t>°</a:t>
                      </a:r>
                      <a:r>
                        <a:rPr sz="900" kern="0" spc="-170" dirty="0">
                          <a:solidFill>
                            <a:srgbClr val="000000">
                              <a:alpha val="100000"/>
                            </a:srgbClr>
                          </a:solidFill>
                          <a:latin typeface="PingFang SC"/>
                          <a:ea typeface="PingFang SC"/>
                          <a:cs typeface="PingFang SC"/>
                        </a:rPr>
                        <a:t> </a:t>
                      </a:r>
                      <a:r>
                        <a:rPr sz="900" kern="0" spc="1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47955" algn="l" rtl="0" eaLnBrk="0">
                        <a:lnSpc>
                          <a:spcPct val="83000"/>
                        </a:lnSpc>
                        <a:spcBef>
                          <a:spcPts val="3"/>
                        </a:spcBef>
                        <a:tabLst/>
                      </a:pPr>
                      <a:r>
                        <a:rPr sz="900" kern="0" spc="-20" dirty="0">
                          <a:solidFill>
                            <a:srgbClr val="000000">
                              <a:alpha val="100000"/>
                            </a:srgbClr>
                          </a:solidFill>
                          <a:latin typeface="PingFang SC"/>
                          <a:ea typeface="PingFang SC"/>
                          <a:cs typeface="PingFang SC"/>
                        </a:rPr>
                        <a:t>≥90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93675" algn="l" rtl="0" eaLnBrk="0">
                        <a:lnSpc>
                          <a:spcPct val="94000"/>
                        </a:lnSpc>
                        <a:tabLst/>
                      </a:pPr>
                      <a:r>
                        <a:rPr sz="800" kern="0" spc="0" dirty="0">
                          <a:solidFill>
                            <a:srgbClr val="000000">
                              <a:alpha val="100000"/>
                            </a:srgbClr>
                          </a:solidFill>
                          <a:latin typeface="PingFang SC"/>
                          <a:ea typeface="PingFang SC"/>
                          <a:cs typeface="PingFang SC"/>
                        </a:rPr>
                        <a:t>80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93675" algn="l" rtl="0" eaLnBrk="0">
                        <a:lnSpc>
                          <a:spcPct val="94000"/>
                        </a:lnSpc>
                        <a:tabLst/>
                      </a:pPr>
                      <a:r>
                        <a:rPr sz="800" kern="0" spc="0" dirty="0">
                          <a:solidFill>
                            <a:srgbClr val="000000">
                              <a:alpha val="100000"/>
                            </a:srgbClr>
                          </a:solidFill>
                          <a:latin typeface="PingFang SC"/>
                          <a:ea typeface="PingFang SC"/>
                          <a:cs typeface="PingFang SC"/>
                        </a:rPr>
                        <a:t>60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95580" algn="l" rtl="0" eaLnBrk="0">
                        <a:lnSpc>
                          <a:spcPct val="94000"/>
                        </a:lnSpc>
                        <a:tabLst/>
                      </a:pPr>
                      <a:r>
                        <a:rPr sz="800" kern="0" spc="-10" dirty="0">
                          <a:solidFill>
                            <a:srgbClr val="000000">
                              <a:alpha val="100000"/>
                            </a:srgbClr>
                          </a:solidFill>
                          <a:latin typeface="PingFang SC"/>
                          <a:ea typeface="PingFang SC"/>
                          <a:cs typeface="PingFang SC"/>
                        </a:rPr>
                        <a:t>50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93040" algn="l" rtl="0" eaLnBrk="0">
                        <a:lnSpc>
                          <a:spcPct val="94000"/>
                        </a:lnSpc>
                        <a:tabLst/>
                      </a:pPr>
                      <a:r>
                        <a:rPr sz="800" kern="0" spc="0" dirty="0">
                          <a:solidFill>
                            <a:srgbClr val="000000">
                              <a:alpha val="100000"/>
                            </a:srgbClr>
                          </a:solidFill>
                          <a:latin typeface="PingFang SC"/>
                          <a:ea typeface="PingFang SC"/>
                          <a:cs typeface="PingFang SC"/>
                        </a:rPr>
                        <a:t>40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95580" algn="l" rtl="0" eaLnBrk="0">
                        <a:lnSpc>
                          <a:spcPct val="94000"/>
                        </a:lnSpc>
                        <a:tabLst/>
                      </a:pPr>
                      <a:r>
                        <a:rPr sz="800" kern="0" spc="-10" dirty="0">
                          <a:solidFill>
                            <a:srgbClr val="000000">
                              <a:alpha val="100000"/>
                            </a:srgbClr>
                          </a:solidFill>
                          <a:latin typeface="PingFang SC"/>
                          <a:ea typeface="PingFang SC"/>
                          <a:cs typeface="PingFang SC"/>
                        </a:rPr>
                        <a:t>30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94945" algn="l" rtl="0" eaLnBrk="0">
                        <a:lnSpc>
                          <a:spcPct val="94000"/>
                        </a:lnSpc>
                        <a:tabLst/>
                      </a:pPr>
                      <a:r>
                        <a:rPr sz="800" kern="0" spc="0" dirty="0">
                          <a:solidFill>
                            <a:srgbClr val="000000">
                              <a:alpha val="100000"/>
                            </a:srgbClr>
                          </a:solidFill>
                          <a:latin typeface="PingFang SC"/>
                          <a:ea typeface="PingFang SC"/>
                          <a:cs typeface="PingFang SC"/>
                        </a:rPr>
                        <a:t>20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01930" algn="l" rtl="0" eaLnBrk="0">
                        <a:lnSpc>
                          <a:spcPct val="83000"/>
                        </a:lnSpc>
                        <a:spcBef>
                          <a:spcPts val="3"/>
                        </a:spcBef>
                        <a:tabLst/>
                      </a:pPr>
                      <a:r>
                        <a:rPr sz="900" kern="0" spc="-30" dirty="0">
                          <a:solidFill>
                            <a:srgbClr val="000000">
                              <a:alpha val="100000"/>
                            </a:srgbClr>
                          </a:solidFill>
                          <a:latin typeface="PingFang SC"/>
                          <a:ea typeface="PingFang SC"/>
                          <a:cs typeface="PingFang SC"/>
                        </a:rPr>
                        <a:t>10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21615" algn="l" rtl="0" eaLnBrk="0">
                        <a:lnSpc>
                          <a:spcPct val="83000"/>
                        </a:lnSpc>
                        <a:spcBef>
                          <a:spcPts val="3"/>
                        </a:spcBef>
                        <a:tabLst/>
                      </a:pPr>
                      <a:r>
                        <a:rPr sz="900" kern="0" spc="-10" dirty="0">
                          <a:solidFill>
                            <a:srgbClr val="000000">
                              <a:alpha val="100000"/>
                            </a:srgbClr>
                          </a:solidFill>
                          <a:latin typeface="PingFang SC"/>
                          <a:ea typeface="PingFang SC"/>
                          <a:cs typeface="PingFang SC"/>
                        </a:rPr>
                        <a:t>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148" name="table 148"/>
          <p:cNvGraphicFramePr>
            <a:graphicFrameLocks noGrp="1"/>
          </p:cNvGraphicFramePr>
          <p:nvPr/>
        </p:nvGraphicFramePr>
        <p:xfrm>
          <a:off x="1149400" y="2600198"/>
          <a:ext cx="5442585" cy="433705"/>
        </p:xfrm>
        <a:graphic>
          <a:graphicData uri="http://schemas.openxmlformats.org/drawingml/2006/table">
            <a:tbl>
              <a:tblPr/>
              <a:tblGrid>
                <a:gridCol w="990600"/>
                <a:gridCol w="494030"/>
                <a:gridCol w="494029"/>
                <a:gridCol w="493394"/>
                <a:gridCol w="494030"/>
                <a:gridCol w="494029"/>
                <a:gridCol w="493394"/>
                <a:gridCol w="494029"/>
                <a:gridCol w="495300"/>
                <a:gridCol w="499744"/>
              </a:tblGrid>
              <a:tr h="215900">
                <a:tc>
                  <a:txBody>
                    <a:bodyPr/>
                    <a:lstStyle/>
                    <a:p>
                      <a:pPr algn="l" rtl="0" eaLnBrk="0">
                        <a:lnSpc>
                          <a:spcPct val="118000"/>
                        </a:lnSpc>
                        <a:tabLst/>
                      </a:pPr>
                      <a:endParaRPr sz="300" dirty="0">
                        <a:latin typeface="Arial"/>
                        <a:ea typeface="Arial"/>
                        <a:cs typeface="Arial"/>
                      </a:endParaRPr>
                    </a:p>
                    <a:p>
                      <a:pPr marL="274955"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30505"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3520"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4155"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1615"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4790"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2884"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5425"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2884"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1615"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8000"/>
                        </a:lnSpc>
                        <a:tabLst/>
                      </a:pPr>
                      <a:endParaRPr sz="300" dirty="0">
                        <a:latin typeface="Arial"/>
                        <a:ea typeface="Arial"/>
                        <a:cs typeface="Arial"/>
                      </a:endParaRPr>
                    </a:p>
                    <a:p>
                      <a:pPr marL="102870" algn="l" rtl="0" eaLnBrk="0">
                        <a:lnSpc>
                          <a:spcPct val="87000"/>
                        </a:lnSpc>
                        <a:spcBef>
                          <a:spcPts val="3"/>
                        </a:spcBef>
                        <a:tabLst/>
                      </a:pPr>
                      <a:r>
                        <a:rPr sz="900" kern="0" spc="120" dirty="0">
                          <a:solidFill>
                            <a:srgbClr val="000000">
                              <a:alpha val="100000"/>
                            </a:srgbClr>
                          </a:solidFill>
                          <a:latin typeface="PingFang SC"/>
                          <a:ea typeface="PingFang SC"/>
                          <a:cs typeface="PingFang SC"/>
                        </a:rPr>
                        <a:t>后肢侧视(</a:t>
                      </a:r>
                      <a:r>
                        <a:rPr sz="900" kern="0" spc="0" dirty="0">
                          <a:solidFill>
                            <a:srgbClr val="000000">
                              <a:alpha val="100000"/>
                            </a:srgbClr>
                          </a:solidFill>
                          <a:latin typeface="PingFang SC"/>
                          <a:ea typeface="PingFang SC"/>
                          <a:cs typeface="PingFang SC"/>
                        </a:rPr>
                        <a:t> </a:t>
                      </a:r>
                      <a:r>
                        <a:rPr sz="900" kern="0" spc="120" dirty="0">
                          <a:solidFill>
                            <a:srgbClr val="000000">
                              <a:alpha val="100000"/>
                            </a:srgbClr>
                          </a:solidFill>
                          <a:latin typeface="PingFang SC"/>
                          <a:ea typeface="PingFang SC"/>
                          <a:cs typeface="PingFang SC"/>
                        </a:rPr>
                        <a:t>°</a:t>
                      </a:r>
                      <a:r>
                        <a:rPr sz="900" kern="0" spc="-170" dirty="0">
                          <a:solidFill>
                            <a:srgbClr val="000000">
                              <a:alpha val="100000"/>
                            </a:srgbClr>
                          </a:solidFill>
                          <a:latin typeface="PingFang SC"/>
                          <a:ea typeface="PingFang SC"/>
                          <a:cs typeface="PingFang SC"/>
                        </a:rPr>
                        <a:t> </a:t>
                      </a:r>
                      <a:r>
                        <a:rPr sz="900" kern="0" spc="1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18745" algn="l" rtl="0" eaLnBrk="0">
                        <a:lnSpc>
                          <a:spcPct val="83000"/>
                        </a:lnSpc>
                        <a:spcBef>
                          <a:spcPts val="3"/>
                        </a:spcBef>
                        <a:tabLst/>
                      </a:pPr>
                      <a:r>
                        <a:rPr sz="900" kern="0" spc="0" dirty="0">
                          <a:solidFill>
                            <a:srgbClr val="000000">
                              <a:alpha val="100000"/>
                            </a:srgbClr>
                          </a:solidFill>
                          <a:latin typeface="PingFang SC"/>
                          <a:ea typeface="PingFang SC"/>
                          <a:cs typeface="PingFang SC"/>
                        </a:rPr>
                        <a:t>≥165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72720" algn="l" rtl="0" eaLnBrk="0">
                        <a:lnSpc>
                          <a:spcPct val="83000"/>
                        </a:lnSpc>
                        <a:spcBef>
                          <a:spcPts val="3"/>
                        </a:spcBef>
                        <a:tabLst/>
                      </a:pPr>
                      <a:r>
                        <a:rPr sz="900" kern="0" spc="-50" dirty="0">
                          <a:solidFill>
                            <a:srgbClr val="000000">
                              <a:alpha val="100000"/>
                            </a:srgbClr>
                          </a:solidFill>
                          <a:latin typeface="PingFang SC"/>
                          <a:ea typeface="PingFang SC"/>
                          <a:cs typeface="PingFang SC"/>
                        </a:rPr>
                        <a:t>160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72720" algn="l" rtl="0" eaLnBrk="0">
                        <a:lnSpc>
                          <a:spcPct val="83000"/>
                        </a:lnSpc>
                        <a:spcBef>
                          <a:spcPts val="3"/>
                        </a:spcBef>
                        <a:tabLst/>
                      </a:pPr>
                      <a:r>
                        <a:rPr sz="900" kern="0" spc="-50" dirty="0">
                          <a:solidFill>
                            <a:srgbClr val="000000">
                              <a:alpha val="100000"/>
                            </a:srgbClr>
                          </a:solidFill>
                          <a:latin typeface="PingFang SC"/>
                          <a:ea typeface="PingFang SC"/>
                          <a:cs typeface="PingFang SC"/>
                        </a:rPr>
                        <a:t>155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72720" algn="l" rtl="0" eaLnBrk="0">
                        <a:lnSpc>
                          <a:spcPct val="83000"/>
                        </a:lnSpc>
                        <a:spcBef>
                          <a:spcPts val="3"/>
                        </a:spcBef>
                        <a:tabLst/>
                      </a:pPr>
                      <a:r>
                        <a:rPr sz="900" kern="0" spc="-50" dirty="0">
                          <a:solidFill>
                            <a:srgbClr val="000000">
                              <a:alpha val="100000"/>
                            </a:srgbClr>
                          </a:solidFill>
                          <a:latin typeface="PingFang SC"/>
                          <a:ea typeface="PingFang SC"/>
                          <a:cs typeface="PingFang SC"/>
                        </a:rPr>
                        <a:t>150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72720" algn="l" rtl="0" eaLnBrk="0">
                        <a:lnSpc>
                          <a:spcPct val="83000"/>
                        </a:lnSpc>
                        <a:spcBef>
                          <a:spcPts val="3"/>
                        </a:spcBef>
                        <a:tabLst/>
                      </a:pPr>
                      <a:r>
                        <a:rPr sz="900" kern="0" spc="-50" dirty="0">
                          <a:solidFill>
                            <a:srgbClr val="000000">
                              <a:alpha val="100000"/>
                            </a:srgbClr>
                          </a:solidFill>
                          <a:latin typeface="PingFang SC"/>
                          <a:ea typeface="PingFang SC"/>
                          <a:cs typeface="PingFang SC"/>
                        </a:rPr>
                        <a:t>145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72720" algn="l" rtl="0" eaLnBrk="0">
                        <a:lnSpc>
                          <a:spcPct val="83000"/>
                        </a:lnSpc>
                        <a:spcBef>
                          <a:spcPts val="3"/>
                        </a:spcBef>
                        <a:tabLst/>
                      </a:pPr>
                      <a:r>
                        <a:rPr sz="900" kern="0" spc="-50" dirty="0">
                          <a:solidFill>
                            <a:srgbClr val="000000">
                              <a:alpha val="100000"/>
                            </a:srgbClr>
                          </a:solidFill>
                          <a:latin typeface="PingFang SC"/>
                          <a:ea typeface="PingFang SC"/>
                          <a:cs typeface="PingFang SC"/>
                        </a:rPr>
                        <a:t>140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72720" algn="l" rtl="0" eaLnBrk="0">
                        <a:lnSpc>
                          <a:spcPct val="83000"/>
                        </a:lnSpc>
                        <a:spcBef>
                          <a:spcPts val="3"/>
                        </a:spcBef>
                        <a:tabLst/>
                      </a:pPr>
                      <a:r>
                        <a:rPr sz="900" kern="0" spc="-50" dirty="0">
                          <a:solidFill>
                            <a:srgbClr val="000000">
                              <a:alpha val="100000"/>
                            </a:srgbClr>
                          </a:solidFill>
                          <a:latin typeface="PingFang SC"/>
                          <a:ea typeface="PingFang SC"/>
                          <a:cs typeface="PingFang SC"/>
                        </a:rPr>
                        <a:t>135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73355" algn="l" rtl="0" eaLnBrk="0">
                        <a:lnSpc>
                          <a:spcPct val="83000"/>
                        </a:lnSpc>
                        <a:spcBef>
                          <a:spcPts val="3"/>
                        </a:spcBef>
                        <a:tabLst/>
                      </a:pPr>
                      <a:r>
                        <a:rPr sz="900" kern="0" spc="-50" dirty="0">
                          <a:solidFill>
                            <a:srgbClr val="000000">
                              <a:alpha val="100000"/>
                            </a:srgbClr>
                          </a:solidFill>
                          <a:latin typeface="PingFang SC"/>
                          <a:ea typeface="PingFang SC"/>
                          <a:cs typeface="PingFang SC"/>
                        </a:rPr>
                        <a:t>130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79375" algn="l" rtl="0" eaLnBrk="0">
                        <a:lnSpc>
                          <a:spcPct val="83000"/>
                        </a:lnSpc>
                        <a:spcBef>
                          <a:spcPts val="3"/>
                        </a:spcBef>
                        <a:tabLst/>
                      </a:pPr>
                      <a:r>
                        <a:rPr sz="900" kern="0" spc="0" dirty="0">
                          <a:solidFill>
                            <a:srgbClr val="000000">
                              <a:alpha val="100000"/>
                            </a:srgbClr>
                          </a:solidFill>
                          <a:latin typeface="PingFang SC"/>
                          <a:ea typeface="PingFang SC"/>
                          <a:cs typeface="PingFang SC"/>
                        </a:rPr>
                        <a:t>≤125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150" name="table 150"/>
          <p:cNvGraphicFramePr>
            <a:graphicFrameLocks noGrp="1"/>
          </p:cNvGraphicFramePr>
          <p:nvPr/>
        </p:nvGraphicFramePr>
        <p:xfrm>
          <a:off x="1149400" y="8422894"/>
          <a:ext cx="5442585" cy="434339"/>
        </p:xfrm>
        <a:graphic>
          <a:graphicData uri="http://schemas.openxmlformats.org/drawingml/2006/table">
            <a:tbl>
              <a:tblPr/>
              <a:tblGrid>
                <a:gridCol w="990600"/>
                <a:gridCol w="413385"/>
                <a:gridCol w="502919"/>
                <a:gridCol w="504190"/>
                <a:gridCol w="504825"/>
                <a:gridCol w="502919"/>
                <a:gridCol w="504190"/>
                <a:gridCol w="504190"/>
                <a:gridCol w="504825"/>
                <a:gridCol w="510540"/>
              </a:tblGrid>
              <a:tr h="216534">
                <a:tc>
                  <a:txBody>
                    <a:bodyPr/>
                    <a:lstStyle/>
                    <a:p>
                      <a:pPr algn="l" rtl="0" eaLnBrk="0">
                        <a:lnSpc>
                          <a:spcPct val="118000"/>
                        </a:lnSpc>
                        <a:tabLst/>
                      </a:pPr>
                      <a:endParaRPr sz="300" dirty="0">
                        <a:latin typeface="Arial"/>
                        <a:ea typeface="Arial"/>
                        <a:cs typeface="Arial"/>
                      </a:endParaRPr>
                    </a:p>
                    <a:p>
                      <a:pPr marL="274955"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189230"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7965"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8600"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6695"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9234"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7330"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9870"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7965"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7965"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7000"/>
                        </a:lnSpc>
                        <a:tabLst/>
                      </a:pPr>
                      <a:endParaRPr sz="300" dirty="0">
                        <a:latin typeface="Arial"/>
                        <a:ea typeface="Arial"/>
                        <a:cs typeface="Arial"/>
                      </a:endParaRPr>
                    </a:p>
                    <a:p>
                      <a:pPr marL="102870" algn="l" rtl="0" eaLnBrk="0">
                        <a:lnSpc>
                          <a:spcPct val="87000"/>
                        </a:lnSpc>
                        <a:spcBef>
                          <a:spcPts val="1"/>
                        </a:spcBef>
                        <a:tabLst/>
                      </a:pPr>
                      <a:r>
                        <a:rPr sz="900" kern="0" spc="-60" dirty="0">
                          <a:solidFill>
                            <a:srgbClr val="000000">
                              <a:alpha val="100000"/>
                            </a:srgbClr>
                          </a:solidFill>
                          <a:latin typeface="PingFang SC"/>
                          <a:ea typeface="PingFang SC"/>
                          <a:cs typeface="PingFang SC"/>
                        </a:rPr>
                        <a:t>乳房深度（cm）</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03504" algn="l" rtl="0" eaLnBrk="0">
                        <a:lnSpc>
                          <a:spcPct val="83000"/>
                        </a:lnSpc>
                        <a:spcBef>
                          <a:spcPts val="1"/>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27330" algn="l" rtl="0" eaLnBrk="0">
                        <a:lnSpc>
                          <a:spcPct val="83000"/>
                        </a:lnSpc>
                        <a:spcBef>
                          <a:spcPts val="1"/>
                        </a:spcBef>
                        <a:tabLst/>
                      </a:pPr>
                      <a:r>
                        <a:rPr sz="900" kern="0" spc="-10" dirty="0">
                          <a:solidFill>
                            <a:srgbClr val="000000">
                              <a:alpha val="100000"/>
                            </a:srgbClr>
                          </a:solidFill>
                          <a:latin typeface="PingFang SC"/>
                          <a:ea typeface="PingFang SC"/>
                          <a:cs typeface="PingFang SC"/>
                        </a:rPr>
                        <a:t>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26059" algn="l" rtl="0" eaLnBrk="0">
                        <a:lnSpc>
                          <a:spcPct val="83000"/>
                        </a:lnSpc>
                        <a:spcBef>
                          <a:spcPts val="1"/>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29870" algn="l" rtl="0" eaLnBrk="0">
                        <a:lnSpc>
                          <a:spcPct val="83000"/>
                        </a:lnSpc>
                        <a:spcBef>
                          <a:spcPts val="1"/>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06375" algn="l" rtl="0" eaLnBrk="0">
                        <a:lnSpc>
                          <a:spcPct val="83000"/>
                        </a:lnSpc>
                        <a:spcBef>
                          <a:spcPts val="1"/>
                        </a:spcBef>
                        <a:tabLst/>
                      </a:pPr>
                      <a:r>
                        <a:rPr sz="900" kern="0" spc="-30" dirty="0">
                          <a:solidFill>
                            <a:srgbClr val="000000">
                              <a:alpha val="100000"/>
                            </a:srgbClr>
                          </a:solidFill>
                          <a:latin typeface="PingFang SC"/>
                          <a:ea typeface="PingFang SC"/>
                          <a:cs typeface="PingFang SC"/>
                        </a:rPr>
                        <a:t>10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07645" algn="l" rtl="0" eaLnBrk="0">
                        <a:lnSpc>
                          <a:spcPct val="83000"/>
                        </a:lnSpc>
                        <a:spcBef>
                          <a:spcPts val="1"/>
                        </a:spcBef>
                        <a:tabLst/>
                      </a:pPr>
                      <a:r>
                        <a:rPr sz="900" kern="0" spc="-30" dirty="0">
                          <a:solidFill>
                            <a:srgbClr val="000000">
                              <a:alpha val="100000"/>
                            </a:srgbClr>
                          </a:solidFill>
                          <a:latin typeface="PingFang SC"/>
                          <a:ea typeface="PingFang SC"/>
                          <a:cs typeface="PingFang SC"/>
                        </a:rPr>
                        <a:t>12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08280" algn="l" rtl="0" eaLnBrk="0">
                        <a:lnSpc>
                          <a:spcPct val="83000"/>
                        </a:lnSpc>
                        <a:spcBef>
                          <a:spcPts val="1"/>
                        </a:spcBef>
                        <a:tabLst/>
                      </a:pPr>
                      <a:r>
                        <a:rPr sz="900" kern="0" spc="-30" dirty="0">
                          <a:solidFill>
                            <a:srgbClr val="000000">
                              <a:alpha val="100000"/>
                            </a:srgbClr>
                          </a:solidFill>
                          <a:latin typeface="PingFang SC"/>
                          <a:ea typeface="PingFang SC"/>
                          <a:cs typeface="PingFang SC"/>
                        </a:rPr>
                        <a:t>14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08915" algn="l" rtl="0" eaLnBrk="0">
                        <a:lnSpc>
                          <a:spcPct val="83000"/>
                        </a:lnSpc>
                        <a:spcBef>
                          <a:spcPts val="1"/>
                        </a:spcBef>
                        <a:tabLst/>
                      </a:pPr>
                      <a:r>
                        <a:rPr sz="900" kern="0" spc="-30" dirty="0">
                          <a:solidFill>
                            <a:srgbClr val="000000">
                              <a:alpha val="100000"/>
                            </a:srgbClr>
                          </a:solidFill>
                          <a:latin typeface="PingFang SC"/>
                          <a:ea typeface="PingFang SC"/>
                          <a:cs typeface="PingFang SC"/>
                        </a:rPr>
                        <a:t>16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53035" algn="l" rtl="0" eaLnBrk="0">
                        <a:lnSpc>
                          <a:spcPct val="83000"/>
                        </a:lnSpc>
                        <a:spcBef>
                          <a:spcPts val="1"/>
                        </a:spcBef>
                        <a:tabLst/>
                      </a:pPr>
                      <a:r>
                        <a:rPr sz="900" kern="0" spc="10" dirty="0">
                          <a:solidFill>
                            <a:srgbClr val="000000">
                              <a:alpha val="100000"/>
                            </a:srgbClr>
                          </a:solidFill>
                          <a:latin typeface="PingFang SC"/>
                          <a:ea typeface="PingFang SC"/>
                          <a:cs typeface="PingFang SC"/>
                        </a:rPr>
                        <a:t>≥18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152" name="textbox 152"/>
          <p:cNvSpPr/>
          <p:nvPr/>
        </p:nvSpPr>
        <p:spPr>
          <a:xfrm>
            <a:off x="888374" y="6064999"/>
            <a:ext cx="5075555" cy="95250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659254" algn="l" rtl="0" eaLnBrk="0">
              <a:lnSpc>
                <a:spcPct val="88000"/>
              </a:lnSpc>
              <a:tabLst/>
            </a:pPr>
            <a:r>
              <a:rPr sz="1000" kern="0" spc="50" dirty="0">
                <a:solidFill>
                  <a:srgbClr val="000000">
                    <a:alpha val="100000"/>
                  </a:srgbClr>
                </a:solidFill>
                <a:latin typeface="PingFang SC"/>
                <a:ea typeface="PingFang SC"/>
                <a:cs typeface="PingFang SC"/>
              </a:rPr>
              <a:t>图A.11</a:t>
            </a:r>
            <a:r>
              <a:rPr sz="1000" kern="0" spc="30" dirty="0">
                <a:solidFill>
                  <a:srgbClr val="000000">
                    <a:alpha val="100000"/>
                  </a:srgbClr>
                </a:solidFill>
                <a:latin typeface="PingFang SC"/>
                <a:ea typeface="PingFang SC"/>
                <a:cs typeface="PingFang SC"/>
              </a:rPr>
              <a:t>   </a:t>
            </a:r>
            <a:r>
              <a:rPr sz="1000" kern="0" spc="50" dirty="0">
                <a:solidFill>
                  <a:srgbClr val="000000">
                    <a:alpha val="100000"/>
                  </a:srgbClr>
                </a:solidFill>
                <a:latin typeface="PingFang SC"/>
                <a:ea typeface="PingFang SC"/>
                <a:cs typeface="PingFang SC"/>
              </a:rPr>
              <a:t>后肢后视评分示意图与线性评分标准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30" dirty="0">
                <a:solidFill>
                  <a:srgbClr val="000000">
                    <a:alpha val="100000"/>
                  </a:srgbClr>
                </a:solidFill>
                <a:latin typeface="PingFang SC"/>
                <a:ea typeface="PingFang SC"/>
                <a:cs typeface="PingFang SC"/>
              </a:rPr>
              <a:t>A.12   乳房深度</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algn="l" rtl="0" eaLnBrk="0">
              <a:lnSpc>
                <a:spcPct val="125000"/>
              </a:lnSpc>
              <a:tabLst/>
            </a:pPr>
            <a:endParaRPr sz="200" dirty="0">
              <a:latin typeface="Arial"/>
              <a:ea typeface="Arial"/>
              <a:cs typeface="Arial"/>
            </a:endParaRPr>
          </a:p>
          <a:p>
            <a:pPr algn="r" rtl="0" eaLnBrk="0">
              <a:lnSpc>
                <a:spcPct val="88000"/>
              </a:lnSpc>
              <a:tabLst/>
            </a:pPr>
            <a:r>
              <a:rPr sz="1000" kern="0" spc="30" dirty="0">
                <a:solidFill>
                  <a:srgbClr val="000000">
                    <a:alpha val="100000"/>
                  </a:srgbClr>
                </a:solidFill>
                <a:latin typeface="PingFang SC"/>
                <a:ea typeface="PingFang SC"/>
                <a:cs typeface="PingFang SC"/>
              </a:rPr>
              <a:t>测定健康乳房底部到飞节的垂直距离</a:t>
            </a:r>
            <a:r>
              <a:rPr sz="1000" kern="0" spc="-210" dirty="0">
                <a:solidFill>
                  <a:srgbClr val="000000">
                    <a:alpha val="100000"/>
                  </a:srgbClr>
                </a:solidFill>
                <a:latin typeface="PingFang SC"/>
                <a:ea typeface="PingFang SC"/>
                <a:cs typeface="PingFang SC"/>
              </a:rPr>
              <a:t> </a:t>
            </a:r>
            <a:r>
              <a:rPr sz="1000" kern="0" spc="30" dirty="0">
                <a:solidFill>
                  <a:srgbClr val="000000">
                    <a:alpha val="100000"/>
                  </a:srgbClr>
                </a:solidFill>
                <a:latin typeface="PingFang SC"/>
                <a:ea typeface="PingFang SC"/>
                <a:cs typeface="PingFang SC"/>
              </a:rPr>
              <a:t>。评定部位、评分与线性</a:t>
            </a:r>
            <a:r>
              <a:rPr sz="1000" kern="0" spc="20" dirty="0">
                <a:solidFill>
                  <a:srgbClr val="000000">
                    <a:alpha val="100000"/>
                  </a:srgbClr>
                </a:solidFill>
                <a:latin typeface="PingFang SC"/>
                <a:ea typeface="PingFang SC"/>
                <a:cs typeface="PingFang SC"/>
              </a:rPr>
              <a:t>评分标准见图A.12。</a:t>
            </a:r>
            <a:endParaRPr sz="1000" dirty="0">
              <a:latin typeface="PingFang SC"/>
              <a:ea typeface="PingFang SC"/>
              <a:cs typeface="PingFang SC"/>
            </a:endParaRPr>
          </a:p>
        </p:txBody>
      </p:sp>
      <p:sp>
        <p:nvSpPr>
          <p:cNvPr id="154" name="textbox 154"/>
          <p:cNvSpPr/>
          <p:nvPr/>
        </p:nvSpPr>
        <p:spPr>
          <a:xfrm>
            <a:off x="888374" y="3153524"/>
            <a:ext cx="5969000" cy="116713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659254" algn="l" rtl="0" eaLnBrk="0">
              <a:lnSpc>
                <a:spcPct val="88000"/>
              </a:lnSpc>
              <a:tabLst/>
            </a:pPr>
            <a:r>
              <a:rPr sz="1000" kern="0" spc="40" dirty="0">
                <a:solidFill>
                  <a:srgbClr val="000000">
                    <a:alpha val="100000"/>
                  </a:srgbClr>
                </a:solidFill>
                <a:latin typeface="PingFang SC"/>
                <a:ea typeface="PingFang SC"/>
                <a:cs typeface="PingFang SC"/>
              </a:rPr>
              <a:t>图A.10   后肢侧视评分示意图与线性评分标准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3"/>
              </a:spcBef>
              <a:tabLst/>
            </a:pPr>
            <a:r>
              <a:rPr sz="1000" kern="0" spc="60" dirty="0">
                <a:solidFill>
                  <a:srgbClr val="000000">
                    <a:alpha val="100000"/>
                  </a:srgbClr>
                </a:solidFill>
                <a:latin typeface="PingFang SC"/>
                <a:ea typeface="PingFang SC"/>
                <a:cs typeface="PingFang SC"/>
              </a:rPr>
              <a:t>A.11</a:t>
            </a:r>
            <a:r>
              <a:rPr sz="1000" kern="0" spc="40" dirty="0">
                <a:solidFill>
                  <a:srgbClr val="000000">
                    <a:alpha val="100000"/>
                  </a:srgbClr>
                </a:solidFill>
                <a:latin typeface="PingFang SC"/>
                <a:ea typeface="PingFang SC"/>
                <a:cs typeface="PingFang SC"/>
              </a:rPr>
              <a:t>   </a:t>
            </a:r>
            <a:r>
              <a:rPr sz="1000" kern="0" spc="60" dirty="0">
                <a:solidFill>
                  <a:srgbClr val="000000">
                    <a:alpha val="100000"/>
                  </a:srgbClr>
                </a:solidFill>
                <a:latin typeface="PingFang SC"/>
                <a:ea typeface="PingFang SC"/>
                <a:cs typeface="PingFang SC"/>
              </a:rPr>
              <a:t>后肢后视</a:t>
            </a:r>
            <a:endParaRPr sz="1000" dirty="0">
              <a:latin typeface="PingFang SC"/>
              <a:ea typeface="PingFang SC"/>
              <a:cs typeface="PingFang SC"/>
            </a:endParaRPr>
          </a:p>
          <a:p>
            <a:pPr algn="l" rtl="0" eaLnBrk="0">
              <a:lnSpc>
                <a:spcPct val="119000"/>
              </a:lnSpc>
              <a:tabLst/>
            </a:pPr>
            <a:endParaRPr sz="1000" dirty="0">
              <a:latin typeface="Arial"/>
              <a:ea typeface="Arial"/>
              <a:cs typeface="Arial"/>
            </a:endParaRPr>
          </a:p>
          <a:p>
            <a:pPr algn="l" rtl="0" eaLnBrk="0">
              <a:lnSpc>
                <a:spcPct val="129000"/>
              </a:lnSpc>
              <a:tabLst/>
            </a:pPr>
            <a:endParaRPr sz="200" dirty="0">
              <a:latin typeface="Arial"/>
              <a:ea typeface="Arial"/>
              <a:cs typeface="Arial"/>
            </a:endParaRPr>
          </a:p>
          <a:p>
            <a:pPr marL="19685" indent="263525" algn="l" rtl="0" eaLnBrk="0">
              <a:lnSpc>
                <a:spcPct val="128000"/>
              </a:lnSpc>
              <a:spcBef>
                <a:spcPts val="2"/>
              </a:spcBef>
              <a:tabLst/>
            </a:pPr>
            <a:r>
              <a:rPr sz="1000" kern="0" spc="40" dirty="0">
                <a:solidFill>
                  <a:srgbClr val="000000">
                    <a:alpha val="100000"/>
                  </a:srgbClr>
                </a:solidFill>
                <a:latin typeface="PingFang SC"/>
                <a:ea typeface="PingFang SC"/>
                <a:cs typeface="PingFang SC"/>
              </a:rPr>
              <a:t>测定后肢飞节部位的内向程度，具体以后肢飞节面向后延长所呈的夹角作参考，夹</a:t>
            </a:r>
            <a:r>
              <a:rPr sz="1000" kern="0" spc="30" dirty="0">
                <a:solidFill>
                  <a:srgbClr val="000000">
                    <a:alpha val="100000"/>
                  </a:srgbClr>
                </a:solidFill>
                <a:latin typeface="PingFang SC"/>
                <a:ea typeface="PingFang SC"/>
                <a:cs typeface="PingFang SC"/>
              </a:rPr>
              <a:t>角越小，评分越</a:t>
            </a:r>
            <a:r>
              <a:rPr sz="1000" kern="0" spc="50" dirty="0">
                <a:solidFill>
                  <a:srgbClr val="000000">
                    <a:alpha val="100000"/>
                  </a:srgbClr>
                </a:solidFill>
                <a:latin typeface="PingFang SC"/>
                <a:ea typeface="PingFang SC"/>
                <a:cs typeface="PingFang SC"/>
              </a:rPr>
              <a:t>高。评定部位、评分与线性评分标准见图A.11。</a:t>
            </a:r>
            <a:endParaRPr sz="1000" dirty="0">
              <a:latin typeface="PingFang SC"/>
              <a:ea typeface="PingFang SC"/>
              <a:cs typeface="PingFang SC"/>
            </a:endParaRPr>
          </a:p>
        </p:txBody>
      </p:sp>
      <p:pic>
        <p:nvPicPr>
          <p:cNvPr id="156" name="picture 156"/>
          <p:cNvPicPr>
            <a:picLocks noChangeAspect="1"/>
          </p:cNvPicPr>
          <p:nvPr/>
        </p:nvPicPr>
        <p:blipFill>
          <a:blip r:embed="rId2"/>
          <a:stretch>
            <a:fillRect/>
          </a:stretch>
        </p:blipFill>
        <p:spPr>
          <a:xfrm rot="21600000">
            <a:off x="1279271" y="4352164"/>
            <a:ext cx="5442458" cy="1128395"/>
          </a:xfrm>
          <a:prstGeom prst="rect">
            <a:avLst/>
          </a:prstGeom>
        </p:spPr>
      </p:pic>
      <p:pic>
        <p:nvPicPr>
          <p:cNvPr id="158" name="picture 158"/>
          <p:cNvPicPr>
            <a:picLocks noChangeAspect="1"/>
          </p:cNvPicPr>
          <p:nvPr/>
        </p:nvPicPr>
        <p:blipFill>
          <a:blip r:embed="rId3"/>
          <a:stretch>
            <a:fillRect/>
          </a:stretch>
        </p:blipFill>
        <p:spPr>
          <a:xfrm rot="21600000">
            <a:off x="2027936" y="7051802"/>
            <a:ext cx="3950334" cy="1348105"/>
          </a:xfrm>
          <a:prstGeom prst="rect">
            <a:avLst/>
          </a:prstGeom>
        </p:spPr>
      </p:pic>
      <p:pic>
        <p:nvPicPr>
          <p:cNvPr id="160" name="picture 160"/>
          <p:cNvPicPr>
            <a:picLocks noChangeAspect="1"/>
          </p:cNvPicPr>
          <p:nvPr/>
        </p:nvPicPr>
        <p:blipFill>
          <a:blip r:embed="rId4"/>
          <a:stretch>
            <a:fillRect/>
          </a:stretch>
        </p:blipFill>
        <p:spPr>
          <a:xfrm rot="21600000">
            <a:off x="1364996" y="1287399"/>
            <a:ext cx="5269483" cy="1238250"/>
          </a:xfrm>
          <a:prstGeom prst="rect">
            <a:avLst/>
          </a:prstGeom>
        </p:spPr>
      </p:pic>
      <p:sp>
        <p:nvSpPr>
          <p:cNvPr id="162" name="textbox 162"/>
          <p:cNvSpPr/>
          <p:nvPr/>
        </p:nvSpPr>
        <p:spPr>
          <a:xfrm>
            <a:off x="2535490" y="8976220"/>
            <a:ext cx="2682875" cy="160020"/>
          </a:xfrm>
          <a:prstGeom prst="rect">
            <a:avLst/>
          </a:prstGeom>
          <a:noFill/>
          <a:ln w="0" cap="flat">
            <a:noFill/>
            <a:prstDash val="solid"/>
            <a:miter lim="0"/>
          </a:ln>
        </p:spPr>
        <p:txBody>
          <a:bodyPr vert="horz" wrap="square" lIns="0" tIns="0" rIns="0" bIns="0"/>
          <a:lstStyle/>
          <a:p>
            <a:pPr algn="l" rtl="0" eaLnBrk="0">
              <a:lnSpc>
                <a:spcPct val="83425"/>
              </a:lnSpc>
              <a:tabLst/>
            </a:pPr>
            <a:endParaRPr sz="100" dirty="0">
              <a:latin typeface="Arial"/>
              <a:ea typeface="Arial"/>
              <a:cs typeface="Arial"/>
            </a:endParaRPr>
          </a:p>
          <a:p>
            <a:pPr marL="12700" algn="l" rtl="0" eaLnBrk="0">
              <a:lnSpc>
                <a:spcPct val="88000"/>
              </a:lnSpc>
              <a:tabLst/>
            </a:pPr>
            <a:r>
              <a:rPr sz="1000" kern="0" spc="40" dirty="0">
                <a:solidFill>
                  <a:srgbClr val="000000">
                    <a:alpha val="100000"/>
                  </a:srgbClr>
                </a:solidFill>
                <a:latin typeface="PingFang SC"/>
                <a:ea typeface="PingFang SC"/>
                <a:cs typeface="PingFang SC"/>
              </a:rPr>
              <a:t>图A.12   乳房深度评分示意图与线性评分标准</a:t>
            </a:r>
            <a:endParaRPr sz="1000" dirty="0">
              <a:latin typeface="PingFang SC"/>
              <a:ea typeface="PingFang SC"/>
              <a:cs typeface="PingFang SC"/>
            </a:endParaRPr>
          </a:p>
        </p:txBody>
      </p:sp>
      <p:sp>
        <p:nvSpPr>
          <p:cNvPr id="164" name="textbox 164"/>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166" name="textbox 166"/>
          <p:cNvSpPr/>
          <p:nvPr/>
        </p:nvSpPr>
        <p:spPr>
          <a:xfrm>
            <a:off x="5767248"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4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168" name="textbox 168"/>
          <p:cNvSpPr/>
          <p:nvPr/>
        </p:nvSpPr>
        <p:spPr>
          <a:xfrm>
            <a:off x="6619151" y="9848114"/>
            <a:ext cx="74930" cy="105410"/>
          </a:xfrm>
          <a:prstGeom prst="rect">
            <a:avLst/>
          </a:prstGeom>
          <a:noFill/>
          <a:ln w="0" cap="flat">
            <a:noFill/>
            <a:prstDash val="solid"/>
            <a:miter lim="0"/>
          </a:ln>
        </p:spPr>
        <p:txBody>
          <a:bodyPr vert="horz" wrap="square" lIns="0" tIns="0" rIns="0" bIns="0"/>
          <a:lstStyle/>
          <a:p>
            <a:pPr algn="l" rtl="0" eaLnBrk="0">
              <a:lnSpc>
                <a:spcPct val="81605"/>
              </a:lnSpc>
              <a:tabLst/>
            </a:pPr>
            <a:endParaRPr sz="100" dirty="0">
              <a:latin typeface="Arial"/>
              <a:ea typeface="Arial"/>
              <a:cs typeface="Arial"/>
            </a:endParaRPr>
          </a:p>
          <a:p>
            <a:pPr algn="r" rtl="0" eaLnBrk="0">
              <a:lnSpc>
                <a:spcPct val="75000"/>
              </a:lnSpc>
              <a:tabLst/>
            </a:pPr>
            <a:r>
              <a:rPr sz="700" kern="0" spc="-20" dirty="0">
                <a:solidFill>
                  <a:srgbClr val="000000">
                    <a:alpha val="100000"/>
                  </a:srgbClr>
                </a:solidFill>
                <a:latin typeface="PingFang SC"/>
                <a:ea typeface="PingFang SC"/>
                <a:cs typeface="PingFang SC"/>
              </a:rPr>
              <a:t>7</a:t>
            </a:r>
            <a:endParaRPr sz="700" dirty="0">
              <a:latin typeface="PingFang SC"/>
              <a:ea typeface="PingFang SC"/>
              <a:cs typeface="PingFang S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textbox 170"/>
          <p:cNvSpPr/>
          <p:nvPr/>
        </p:nvSpPr>
        <p:spPr>
          <a:xfrm>
            <a:off x="708237" y="1233284"/>
            <a:ext cx="5969000" cy="77089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2700" algn="l" rtl="0" eaLnBrk="0">
              <a:lnSpc>
                <a:spcPct val="88000"/>
              </a:lnSpc>
              <a:tabLst/>
            </a:pPr>
            <a:r>
              <a:rPr sz="1000" kern="0" spc="30" dirty="0">
                <a:solidFill>
                  <a:srgbClr val="000000">
                    <a:alpha val="100000"/>
                  </a:srgbClr>
                </a:solidFill>
                <a:latin typeface="PingFang SC"/>
                <a:ea typeface="PingFang SC"/>
                <a:cs typeface="PingFang SC"/>
              </a:rPr>
              <a:t>A.13</a:t>
            </a:r>
            <a:r>
              <a:rPr sz="1000" kern="0" spc="60" dirty="0">
                <a:solidFill>
                  <a:srgbClr val="000000">
                    <a:alpha val="100000"/>
                  </a:srgbClr>
                </a:solidFill>
                <a:latin typeface="PingFang SC"/>
                <a:ea typeface="PingFang SC"/>
                <a:cs typeface="PingFang SC"/>
              </a:rPr>
              <a:t>   </a:t>
            </a:r>
            <a:r>
              <a:rPr sz="1000" kern="0" spc="30" dirty="0">
                <a:solidFill>
                  <a:srgbClr val="000000">
                    <a:alpha val="100000"/>
                  </a:srgbClr>
                </a:solidFill>
                <a:latin typeface="PingFang SC"/>
                <a:ea typeface="PingFang SC"/>
                <a:cs typeface="PingFang SC"/>
              </a:rPr>
              <a:t>中央悬韧带</a:t>
            </a:r>
            <a:endParaRPr sz="1000" dirty="0">
              <a:latin typeface="PingFang SC"/>
              <a:ea typeface="PingFang SC"/>
              <a:cs typeface="PingFang SC"/>
            </a:endParaRPr>
          </a:p>
          <a:p>
            <a:pPr algn="l" rtl="0" eaLnBrk="0">
              <a:lnSpc>
                <a:spcPct val="119000"/>
              </a:lnSpc>
              <a:tabLst/>
            </a:pPr>
            <a:endParaRPr sz="1000" dirty="0">
              <a:latin typeface="Arial"/>
              <a:ea typeface="Arial"/>
              <a:cs typeface="Arial"/>
            </a:endParaRPr>
          </a:p>
          <a:p>
            <a:pPr algn="l" rtl="0" eaLnBrk="0">
              <a:lnSpc>
                <a:spcPct val="129000"/>
              </a:lnSpc>
              <a:tabLst/>
            </a:pPr>
            <a:endParaRPr sz="200" dirty="0">
              <a:latin typeface="Arial"/>
              <a:ea typeface="Arial"/>
              <a:cs typeface="Arial"/>
            </a:endParaRPr>
          </a:p>
          <a:p>
            <a:pPr marL="18415" indent="264795" algn="l" rtl="0" eaLnBrk="0">
              <a:lnSpc>
                <a:spcPct val="128000"/>
              </a:lnSpc>
              <a:spcBef>
                <a:spcPts val="2"/>
              </a:spcBef>
              <a:tabLst/>
            </a:pPr>
            <a:r>
              <a:rPr sz="1000" kern="0" spc="40" dirty="0">
                <a:solidFill>
                  <a:srgbClr val="000000">
                    <a:alpha val="100000"/>
                  </a:srgbClr>
                </a:solidFill>
                <a:latin typeface="PingFang SC"/>
                <a:ea typeface="PingFang SC"/>
                <a:cs typeface="PingFang SC"/>
              </a:rPr>
              <a:t>测定中央悬韧带基底部与乳房底部的垂直距离，推荐实践中以标尺测定距离为准。</a:t>
            </a:r>
            <a:r>
              <a:rPr sz="1000" kern="0" spc="30" dirty="0">
                <a:solidFill>
                  <a:srgbClr val="000000">
                    <a:alpha val="100000"/>
                  </a:srgbClr>
                </a:solidFill>
                <a:latin typeface="PingFang SC"/>
                <a:ea typeface="PingFang SC"/>
                <a:cs typeface="PingFang SC"/>
              </a:rPr>
              <a:t>评定部位、评分</a:t>
            </a:r>
            <a:r>
              <a:rPr sz="1000" kern="0" spc="40" dirty="0">
                <a:solidFill>
                  <a:srgbClr val="000000">
                    <a:alpha val="100000"/>
                  </a:srgbClr>
                </a:solidFill>
                <a:latin typeface="PingFang SC"/>
                <a:ea typeface="PingFang SC"/>
                <a:cs typeface="PingFang SC"/>
              </a:rPr>
              <a:t>与线性评分标准见图A.13。</a:t>
            </a:r>
            <a:endParaRPr sz="1000" dirty="0">
              <a:latin typeface="PingFang SC"/>
              <a:ea typeface="PingFang SC"/>
              <a:cs typeface="PingFang SC"/>
            </a:endParaRPr>
          </a:p>
        </p:txBody>
      </p:sp>
      <p:graphicFrame>
        <p:nvGraphicFramePr>
          <p:cNvPr id="172" name="table 172"/>
          <p:cNvGraphicFramePr>
            <a:graphicFrameLocks noGrp="1"/>
          </p:cNvGraphicFramePr>
          <p:nvPr/>
        </p:nvGraphicFramePr>
        <p:xfrm>
          <a:off x="940612" y="6502273"/>
          <a:ext cx="5499100" cy="434340"/>
        </p:xfrm>
        <a:graphic>
          <a:graphicData uri="http://schemas.openxmlformats.org/drawingml/2006/table">
            <a:tbl>
              <a:tblPr/>
              <a:tblGrid>
                <a:gridCol w="1172210"/>
                <a:gridCol w="451485"/>
                <a:gridCol w="359410"/>
                <a:gridCol w="429894"/>
                <a:gridCol w="502919"/>
                <a:gridCol w="502919"/>
                <a:gridCol w="504190"/>
                <a:gridCol w="502919"/>
                <a:gridCol w="504825"/>
                <a:gridCol w="568325"/>
              </a:tblGrid>
              <a:tr h="216534">
                <a:tc>
                  <a:txBody>
                    <a:bodyPr/>
                    <a:lstStyle/>
                    <a:p>
                      <a:pPr algn="l" rtl="0" eaLnBrk="0">
                        <a:lnSpc>
                          <a:spcPct val="118000"/>
                        </a:lnSpc>
                        <a:tabLst/>
                      </a:pPr>
                      <a:endParaRPr sz="300" dirty="0">
                        <a:latin typeface="Arial"/>
                        <a:ea typeface="Arial"/>
                        <a:cs typeface="Arial"/>
                      </a:endParaRPr>
                    </a:p>
                    <a:p>
                      <a:pPr marL="365125"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08915"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156210"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192405"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6059"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30505"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9234"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9870"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7330"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57809"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7000"/>
                        </a:lnSpc>
                        <a:tabLst/>
                      </a:pPr>
                      <a:endParaRPr sz="300" dirty="0">
                        <a:latin typeface="Arial"/>
                        <a:ea typeface="Arial"/>
                        <a:cs typeface="Arial"/>
                      </a:endParaRPr>
                    </a:p>
                    <a:p>
                      <a:pPr marL="137160" algn="l" rtl="0" eaLnBrk="0">
                        <a:lnSpc>
                          <a:spcPct val="87000"/>
                        </a:lnSpc>
                        <a:spcBef>
                          <a:spcPts val="3"/>
                        </a:spcBef>
                        <a:tabLst/>
                      </a:pPr>
                      <a:r>
                        <a:rPr sz="900" kern="0" spc="150" dirty="0">
                          <a:solidFill>
                            <a:srgbClr val="000000">
                              <a:alpha val="100000"/>
                            </a:srgbClr>
                          </a:solidFill>
                          <a:latin typeface="PingFang SC"/>
                          <a:ea typeface="PingFang SC"/>
                          <a:cs typeface="PingFang SC"/>
                        </a:rPr>
                        <a:t>前乳房附着(°)</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23190" algn="l" rtl="0" eaLnBrk="0">
                        <a:lnSpc>
                          <a:spcPct val="83000"/>
                        </a:lnSpc>
                        <a:spcBef>
                          <a:spcPts val="1"/>
                        </a:spcBef>
                        <a:tabLst/>
                      </a:pPr>
                      <a:r>
                        <a:rPr sz="900" kern="0" spc="0" dirty="0">
                          <a:solidFill>
                            <a:srgbClr val="000000">
                              <a:alpha val="100000"/>
                            </a:srgbClr>
                          </a:solidFill>
                          <a:latin typeface="PingFang SC"/>
                          <a:ea typeface="PingFang SC"/>
                          <a:cs typeface="PingFang SC"/>
                        </a:rPr>
                        <a:t>≤70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300" dirty="0">
                        <a:latin typeface="Arial"/>
                        <a:ea typeface="Arial"/>
                        <a:cs typeface="Arial"/>
                      </a:endParaRPr>
                    </a:p>
                    <a:p>
                      <a:pPr marL="126365" algn="l" rtl="0" eaLnBrk="0">
                        <a:lnSpc>
                          <a:spcPct val="94000"/>
                        </a:lnSpc>
                        <a:spcBef>
                          <a:spcPts val="2"/>
                        </a:spcBef>
                        <a:tabLst/>
                      </a:pPr>
                      <a:r>
                        <a:rPr sz="800" kern="0" spc="0" dirty="0">
                          <a:solidFill>
                            <a:srgbClr val="000000">
                              <a:alpha val="100000"/>
                            </a:srgbClr>
                          </a:solidFill>
                          <a:latin typeface="PingFang SC"/>
                          <a:ea typeface="PingFang SC"/>
                          <a:cs typeface="PingFang SC"/>
                        </a:rPr>
                        <a:t>80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300" dirty="0">
                        <a:latin typeface="Arial"/>
                        <a:ea typeface="Arial"/>
                        <a:cs typeface="Arial"/>
                      </a:endParaRPr>
                    </a:p>
                    <a:p>
                      <a:pPr marL="161290" algn="l" rtl="0" eaLnBrk="0">
                        <a:lnSpc>
                          <a:spcPct val="94000"/>
                        </a:lnSpc>
                        <a:spcBef>
                          <a:spcPts val="2"/>
                        </a:spcBef>
                        <a:tabLst/>
                      </a:pPr>
                      <a:r>
                        <a:rPr sz="800" kern="0" spc="0" dirty="0">
                          <a:solidFill>
                            <a:srgbClr val="000000">
                              <a:alpha val="100000"/>
                            </a:srgbClr>
                          </a:solidFill>
                          <a:latin typeface="PingFang SC"/>
                          <a:ea typeface="PingFang SC"/>
                          <a:cs typeface="PingFang SC"/>
                        </a:rPr>
                        <a:t>90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77165" algn="l" rtl="0" eaLnBrk="0">
                        <a:lnSpc>
                          <a:spcPct val="83000"/>
                        </a:lnSpc>
                        <a:spcBef>
                          <a:spcPts val="1"/>
                        </a:spcBef>
                        <a:tabLst/>
                      </a:pPr>
                      <a:r>
                        <a:rPr sz="900" kern="0" spc="-50" dirty="0">
                          <a:solidFill>
                            <a:srgbClr val="000000">
                              <a:alpha val="100000"/>
                            </a:srgbClr>
                          </a:solidFill>
                          <a:latin typeface="PingFang SC"/>
                          <a:ea typeface="PingFang SC"/>
                          <a:cs typeface="PingFang SC"/>
                        </a:rPr>
                        <a:t>100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78435" algn="l" rtl="0" eaLnBrk="0">
                        <a:lnSpc>
                          <a:spcPct val="83000"/>
                        </a:lnSpc>
                        <a:spcBef>
                          <a:spcPts val="1"/>
                        </a:spcBef>
                        <a:tabLst/>
                      </a:pPr>
                      <a:r>
                        <a:rPr sz="900" kern="0" spc="-10" dirty="0">
                          <a:solidFill>
                            <a:srgbClr val="000000">
                              <a:alpha val="100000"/>
                            </a:srgbClr>
                          </a:solidFill>
                          <a:latin typeface="PingFang SC"/>
                          <a:ea typeface="PingFang SC"/>
                          <a:cs typeface="PingFang SC"/>
                        </a:rPr>
                        <a:t>110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79070" algn="l" rtl="0" eaLnBrk="0">
                        <a:lnSpc>
                          <a:spcPct val="83000"/>
                        </a:lnSpc>
                        <a:spcBef>
                          <a:spcPts val="1"/>
                        </a:spcBef>
                        <a:tabLst/>
                      </a:pPr>
                      <a:r>
                        <a:rPr sz="900" kern="0" spc="-50" dirty="0">
                          <a:solidFill>
                            <a:srgbClr val="000000">
                              <a:alpha val="100000"/>
                            </a:srgbClr>
                          </a:solidFill>
                          <a:latin typeface="PingFang SC"/>
                          <a:ea typeface="PingFang SC"/>
                          <a:cs typeface="PingFang SC"/>
                        </a:rPr>
                        <a:t>120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77800" algn="l" rtl="0" eaLnBrk="0">
                        <a:lnSpc>
                          <a:spcPct val="83000"/>
                        </a:lnSpc>
                        <a:spcBef>
                          <a:spcPts val="1"/>
                        </a:spcBef>
                        <a:tabLst/>
                      </a:pPr>
                      <a:r>
                        <a:rPr sz="900" kern="0" spc="-50" dirty="0">
                          <a:solidFill>
                            <a:srgbClr val="000000">
                              <a:alpha val="100000"/>
                            </a:srgbClr>
                          </a:solidFill>
                          <a:latin typeface="PingFang SC"/>
                          <a:ea typeface="PingFang SC"/>
                          <a:cs typeface="PingFang SC"/>
                        </a:rPr>
                        <a:t>130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77800" algn="l" rtl="0" eaLnBrk="0">
                        <a:lnSpc>
                          <a:spcPct val="83000"/>
                        </a:lnSpc>
                        <a:spcBef>
                          <a:spcPts val="1"/>
                        </a:spcBef>
                        <a:tabLst/>
                      </a:pPr>
                      <a:r>
                        <a:rPr sz="900" kern="0" spc="-50" dirty="0">
                          <a:solidFill>
                            <a:srgbClr val="000000">
                              <a:alpha val="100000"/>
                            </a:srgbClr>
                          </a:solidFill>
                          <a:latin typeface="PingFang SC"/>
                          <a:ea typeface="PingFang SC"/>
                          <a:cs typeface="PingFang SC"/>
                        </a:rPr>
                        <a:t>140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54305" algn="l" rtl="0" eaLnBrk="0">
                        <a:lnSpc>
                          <a:spcPct val="83000"/>
                        </a:lnSpc>
                        <a:spcBef>
                          <a:spcPts val="1"/>
                        </a:spcBef>
                        <a:tabLst/>
                      </a:pPr>
                      <a:r>
                        <a:rPr sz="900" kern="0" spc="0" dirty="0">
                          <a:solidFill>
                            <a:srgbClr val="000000">
                              <a:alpha val="100000"/>
                            </a:srgbClr>
                          </a:solidFill>
                          <a:latin typeface="PingFang SC"/>
                          <a:ea typeface="PingFang SC"/>
                          <a:cs typeface="PingFang SC"/>
                        </a:rPr>
                        <a:t>≥150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174" name="table 174"/>
          <p:cNvGraphicFramePr>
            <a:graphicFrameLocks noGrp="1"/>
          </p:cNvGraphicFramePr>
          <p:nvPr/>
        </p:nvGraphicFramePr>
        <p:xfrm>
          <a:off x="969568" y="3392679"/>
          <a:ext cx="5442585" cy="434340"/>
        </p:xfrm>
        <a:graphic>
          <a:graphicData uri="http://schemas.openxmlformats.org/drawingml/2006/table">
            <a:tbl>
              <a:tblPr/>
              <a:tblGrid>
                <a:gridCol w="1170305"/>
                <a:gridCol w="474344"/>
                <a:gridCol w="473710"/>
                <a:gridCol w="473710"/>
                <a:gridCol w="474344"/>
                <a:gridCol w="473710"/>
                <a:gridCol w="474344"/>
                <a:gridCol w="473710"/>
                <a:gridCol w="473075"/>
                <a:gridCol w="481330"/>
              </a:tblGrid>
              <a:tr h="216534">
                <a:tc>
                  <a:txBody>
                    <a:bodyPr/>
                    <a:lstStyle/>
                    <a:p>
                      <a:pPr algn="l" rtl="0" eaLnBrk="0">
                        <a:lnSpc>
                          <a:spcPct val="118000"/>
                        </a:lnSpc>
                        <a:tabLst/>
                      </a:pPr>
                      <a:endParaRPr sz="300" dirty="0">
                        <a:latin typeface="Arial"/>
                        <a:ea typeface="Arial"/>
                        <a:cs typeface="Arial"/>
                      </a:endParaRPr>
                    </a:p>
                    <a:p>
                      <a:pPr marL="365125"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9709"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3995"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1455"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3995"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4630"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090"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10000"/>
                        </a:lnSpc>
                        <a:tabLst/>
                      </a:pPr>
                      <a:endParaRPr sz="300" dirty="0">
                        <a:latin typeface="Arial"/>
                        <a:ea typeface="Arial"/>
                        <a:cs typeface="Arial"/>
                      </a:endParaRPr>
                    </a:p>
                    <a:p>
                      <a:pPr marL="146050" algn="l" rtl="0" eaLnBrk="0">
                        <a:lnSpc>
                          <a:spcPct val="86000"/>
                        </a:lnSpc>
                        <a:spcBef>
                          <a:spcPts val="2"/>
                        </a:spcBef>
                        <a:tabLst/>
                      </a:pPr>
                      <a:r>
                        <a:rPr sz="900" kern="0" spc="-60" dirty="0">
                          <a:solidFill>
                            <a:srgbClr val="000000">
                              <a:alpha val="100000"/>
                            </a:srgbClr>
                          </a:solidFill>
                          <a:latin typeface="PingFang SC"/>
                          <a:ea typeface="PingFang SC"/>
                          <a:cs typeface="PingFang SC"/>
                        </a:rPr>
                        <a:t>中央悬韧带（cm）</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63195" algn="l" rtl="0" eaLnBrk="0">
                        <a:lnSpc>
                          <a:spcPct val="83000"/>
                        </a:lnSpc>
                        <a:spcBef>
                          <a:spcPts val="1"/>
                        </a:spcBef>
                        <a:tabLst/>
                      </a:pPr>
                      <a:r>
                        <a:rPr sz="900" kern="0" spc="30" dirty="0">
                          <a:solidFill>
                            <a:srgbClr val="000000">
                              <a:alpha val="100000"/>
                            </a:srgbClr>
                          </a:solidFill>
                          <a:latin typeface="PingFang SC"/>
                          <a:ea typeface="PingFang SC"/>
                          <a:cs typeface="PingFang SC"/>
                        </a:rPr>
                        <a:t>≤0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56210" algn="l" rtl="0" eaLnBrk="0">
                        <a:lnSpc>
                          <a:spcPct val="83000"/>
                        </a:lnSpc>
                        <a:spcBef>
                          <a:spcPts val="1"/>
                        </a:spcBef>
                        <a:tabLst/>
                      </a:pPr>
                      <a:r>
                        <a:rPr sz="900" kern="0" spc="-10" dirty="0">
                          <a:solidFill>
                            <a:srgbClr val="000000">
                              <a:alpha val="100000"/>
                            </a:srgbClr>
                          </a:solidFill>
                          <a:latin typeface="PingFang SC"/>
                          <a:ea typeface="PingFang SC"/>
                          <a:cs typeface="PingFang SC"/>
                        </a:rPr>
                        <a:t>0.5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63830" algn="l" rtl="0" eaLnBrk="0">
                        <a:lnSpc>
                          <a:spcPct val="83000"/>
                        </a:lnSpc>
                        <a:spcBef>
                          <a:spcPts val="1"/>
                        </a:spcBef>
                        <a:tabLst/>
                      </a:pPr>
                      <a:r>
                        <a:rPr sz="900" kern="0" spc="30" dirty="0">
                          <a:solidFill>
                            <a:srgbClr val="000000">
                              <a:alpha val="100000"/>
                            </a:srgbClr>
                          </a:solidFill>
                          <a:latin typeface="PingFang SC"/>
                          <a:ea typeface="PingFang SC"/>
                          <a:cs typeface="PingFang SC"/>
                        </a:rPr>
                        <a:t>1.5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13359" algn="l" rtl="0" eaLnBrk="0">
                        <a:lnSpc>
                          <a:spcPct val="83000"/>
                        </a:lnSpc>
                        <a:spcBef>
                          <a:spcPts val="1"/>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13995" algn="l" rtl="0" eaLnBrk="0">
                        <a:lnSpc>
                          <a:spcPct val="83000"/>
                        </a:lnSpc>
                        <a:spcBef>
                          <a:spcPts val="1"/>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11455" algn="l" rtl="0" eaLnBrk="0">
                        <a:lnSpc>
                          <a:spcPct val="83000"/>
                        </a:lnSpc>
                        <a:spcBef>
                          <a:spcPts val="1"/>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13995" algn="l" rtl="0" eaLnBrk="0">
                        <a:lnSpc>
                          <a:spcPct val="83000"/>
                        </a:lnSpc>
                        <a:spcBef>
                          <a:spcPts val="1"/>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213359" algn="l" rtl="0" eaLnBrk="0">
                        <a:lnSpc>
                          <a:spcPct val="83000"/>
                        </a:lnSpc>
                        <a:spcBef>
                          <a:spcPts val="1"/>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66370" algn="l" rtl="0" eaLnBrk="0">
                        <a:lnSpc>
                          <a:spcPct val="83000"/>
                        </a:lnSpc>
                        <a:spcBef>
                          <a:spcPts val="1"/>
                        </a:spcBef>
                        <a:tabLst/>
                      </a:pPr>
                      <a:r>
                        <a:rPr sz="900" kern="0" spc="2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176" name="textbox 176"/>
          <p:cNvSpPr/>
          <p:nvPr/>
        </p:nvSpPr>
        <p:spPr>
          <a:xfrm>
            <a:off x="708237" y="7055599"/>
            <a:ext cx="5967095" cy="116713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593850" algn="l" rtl="0" eaLnBrk="0">
              <a:lnSpc>
                <a:spcPct val="88000"/>
              </a:lnSpc>
              <a:tabLst/>
            </a:pPr>
            <a:r>
              <a:rPr sz="1000" kern="0" spc="40" dirty="0">
                <a:solidFill>
                  <a:srgbClr val="000000">
                    <a:alpha val="100000"/>
                  </a:srgbClr>
                </a:solidFill>
                <a:latin typeface="PingFang SC"/>
                <a:ea typeface="PingFang SC"/>
                <a:cs typeface="PingFang SC"/>
              </a:rPr>
              <a:t>图A.14   前乳房附着评分示意图与线性评分标准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40" dirty="0">
                <a:solidFill>
                  <a:srgbClr val="000000">
                    <a:alpha val="100000"/>
                  </a:srgbClr>
                </a:solidFill>
                <a:latin typeface="PingFang SC"/>
                <a:ea typeface="PingFang SC"/>
                <a:cs typeface="PingFang SC"/>
              </a:rPr>
              <a:t>A.15   前乳头</a:t>
            </a:r>
            <a:r>
              <a:rPr sz="1000" kern="0" spc="30" dirty="0">
                <a:solidFill>
                  <a:srgbClr val="000000">
                    <a:alpha val="100000"/>
                  </a:srgbClr>
                </a:solidFill>
                <a:latin typeface="PingFang SC"/>
                <a:ea typeface="PingFang SC"/>
                <a:cs typeface="PingFang SC"/>
              </a:rPr>
              <a:t>位置</a:t>
            </a:r>
            <a:endParaRPr sz="1000" dirty="0">
              <a:latin typeface="PingFang SC"/>
              <a:ea typeface="PingFang SC"/>
              <a:cs typeface="PingFang SC"/>
            </a:endParaRPr>
          </a:p>
          <a:p>
            <a:pPr algn="l" rtl="0" eaLnBrk="0">
              <a:lnSpc>
                <a:spcPct val="119000"/>
              </a:lnSpc>
              <a:tabLst/>
            </a:pPr>
            <a:endParaRPr sz="1000" dirty="0">
              <a:latin typeface="Arial"/>
              <a:ea typeface="Arial"/>
              <a:cs typeface="Arial"/>
            </a:endParaRPr>
          </a:p>
          <a:p>
            <a:pPr algn="l" rtl="0" eaLnBrk="0">
              <a:lnSpc>
                <a:spcPct val="129000"/>
              </a:lnSpc>
              <a:tabLst/>
            </a:pPr>
            <a:endParaRPr sz="200" dirty="0">
              <a:latin typeface="Arial"/>
              <a:ea typeface="Arial"/>
              <a:cs typeface="Arial"/>
            </a:endParaRPr>
          </a:p>
          <a:p>
            <a:pPr marL="15240" indent="267970" algn="l" rtl="0" eaLnBrk="0">
              <a:lnSpc>
                <a:spcPct val="128000"/>
              </a:lnSpc>
              <a:spcBef>
                <a:spcPts val="2"/>
              </a:spcBef>
              <a:tabLst/>
            </a:pPr>
            <a:r>
              <a:rPr sz="1000" kern="0" spc="40" dirty="0">
                <a:solidFill>
                  <a:srgbClr val="000000">
                    <a:alpha val="100000"/>
                  </a:srgbClr>
                </a:solidFill>
                <a:latin typeface="PingFang SC"/>
                <a:ea typeface="PingFang SC"/>
                <a:cs typeface="PingFang SC"/>
              </a:rPr>
              <a:t>测定前乳头基底部所在乳区的相对位置，必须从后躯俯身平视观察，评分观察</a:t>
            </a:r>
            <a:r>
              <a:rPr sz="1000" kern="0" spc="30" dirty="0">
                <a:solidFill>
                  <a:srgbClr val="000000">
                    <a:alpha val="100000"/>
                  </a:srgbClr>
                </a:solidFill>
                <a:latin typeface="PingFang SC"/>
                <a:ea typeface="PingFang SC"/>
                <a:cs typeface="PingFang SC"/>
              </a:rPr>
              <a:t>时，视线与乳头位置</a:t>
            </a:r>
            <a:r>
              <a:rPr sz="1000" kern="0" spc="40" dirty="0">
                <a:solidFill>
                  <a:srgbClr val="000000">
                    <a:alpha val="100000"/>
                  </a:srgbClr>
                </a:solidFill>
                <a:latin typeface="PingFang SC"/>
                <a:ea typeface="PingFang SC"/>
                <a:cs typeface="PingFang SC"/>
              </a:rPr>
              <a:t>平行。</a:t>
            </a:r>
            <a:r>
              <a:rPr sz="1000" kern="0" spc="-190" dirty="0">
                <a:solidFill>
                  <a:srgbClr val="000000">
                    <a:alpha val="100000"/>
                  </a:srgbClr>
                </a:solidFill>
                <a:latin typeface="PingFang SC"/>
                <a:ea typeface="PingFang SC"/>
                <a:cs typeface="PingFang SC"/>
              </a:rPr>
              <a:t> </a:t>
            </a:r>
            <a:r>
              <a:rPr sz="1000" kern="0" spc="40" dirty="0">
                <a:solidFill>
                  <a:srgbClr val="000000">
                    <a:alpha val="100000"/>
                  </a:srgbClr>
                </a:solidFill>
                <a:latin typeface="PingFang SC"/>
                <a:ea typeface="PingFang SC"/>
                <a:cs typeface="PingFang SC"/>
              </a:rPr>
              <a:t>评定部位、评分与线性评分标准见图A.1</a:t>
            </a:r>
            <a:r>
              <a:rPr sz="1000" kern="0" spc="30" dirty="0">
                <a:solidFill>
                  <a:srgbClr val="000000">
                    <a:alpha val="100000"/>
                  </a:srgbClr>
                </a:solidFill>
                <a:latin typeface="PingFang SC"/>
                <a:ea typeface="PingFang SC"/>
                <a:cs typeface="PingFang SC"/>
              </a:rPr>
              <a:t>5。</a:t>
            </a:r>
            <a:endParaRPr sz="1000" dirty="0">
              <a:latin typeface="PingFang SC"/>
              <a:ea typeface="PingFang SC"/>
              <a:cs typeface="PingFang SC"/>
            </a:endParaRPr>
          </a:p>
        </p:txBody>
      </p:sp>
      <p:pic>
        <p:nvPicPr>
          <p:cNvPr id="178" name="picture 178"/>
          <p:cNvPicPr>
            <a:picLocks noChangeAspect="1"/>
          </p:cNvPicPr>
          <p:nvPr/>
        </p:nvPicPr>
        <p:blipFill>
          <a:blip r:embed="rId2"/>
          <a:stretch>
            <a:fillRect/>
          </a:stretch>
        </p:blipFill>
        <p:spPr>
          <a:xfrm rot="21600000">
            <a:off x="1556639" y="2032254"/>
            <a:ext cx="4529709" cy="1327150"/>
          </a:xfrm>
          <a:prstGeom prst="rect">
            <a:avLst/>
          </a:prstGeom>
        </p:spPr>
      </p:pic>
      <p:pic>
        <p:nvPicPr>
          <p:cNvPr id="180" name="picture 180"/>
          <p:cNvPicPr>
            <a:picLocks noChangeAspect="1"/>
          </p:cNvPicPr>
          <p:nvPr/>
        </p:nvPicPr>
        <p:blipFill>
          <a:blip r:embed="rId3"/>
          <a:stretch>
            <a:fillRect/>
          </a:stretch>
        </p:blipFill>
        <p:spPr>
          <a:xfrm rot="21600000">
            <a:off x="993775" y="5207762"/>
            <a:ext cx="5659501" cy="1194434"/>
          </a:xfrm>
          <a:prstGeom prst="rect">
            <a:avLst/>
          </a:prstGeom>
        </p:spPr>
      </p:pic>
      <p:sp>
        <p:nvSpPr>
          <p:cNvPr id="182" name="textbox 182"/>
          <p:cNvSpPr/>
          <p:nvPr/>
        </p:nvSpPr>
        <p:spPr>
          <a:xfrm>
            <a:off x="708237" y="3946385"/>
            <a:ext cx="6015990" cy="1160145"/>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593850" algn="l" rtl="0" eaLnBrk="0">
              <a:lnSpc>
                <a:spcPct val="88000"/>
              </a:lnSpc>
              <a:tabLst/>
            </a:pPr>
            <a:r>
              <a:rPr sz="1000" kern="0" spc="40" dirty="0">
                <a:solidFill>
                  <a:srgbClr val="000000">
                    <a:alpha val="100000"/>
                  </a:srgbClr>
                </a:solidFill>
                <a:latin typeface="PingFang SC"/>
                <a:ea typeface="PingFang SC"/>
                <a:cs typeface="PingFang SC"/>
              </a:rPr>
              <a:t>图A.13   中央悬韧带评分示意图与线性评分标准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40" dirty="0">
                <a:solidFill>
                  <a:srgbClr val="000000">
                    <a:alpha val="100000"/>
                  </a:srgbClr>
                </a:solidFill>
                <a:latin typeface="PingFang SC"/>
                <a:ea typeface="PingFang SC"/>
                <a:cs typeface="PingFang SC"/>
              </a:rPr>
              <a:t>A.14   前乳房</a:t>
            </a:r>
            <a:r>
              <a:rPr sz="1000" kern="0" spc="30" dirty="0">
                <a:solidFill>
                  <a:srgbClr val="000000">
                    <a:alpha val="100000"/>
                  </a:srgbClr>
                </a:solidFill>
                <a:latin typeface="PingFang SC"/>
                <a:ea typeface="PingFang SC"/>
                <a:cs typeface="PingFang SC"/>
              </a:rPr>
              <a:t>附着</a:t>
            </a:r>
            <a:endParaRPr sz="1000" dirty="0">
              <a:latin typeface="PingFang SC"/>
              <a:ea typeface="PingFang SC"/>
              <a:cs typeface="PingFang SC"/>
            </a:endParaRPr>
          </a:p>
          <a:p>
            <a:pPr algn="l" rtl="0" eaLnBrk="0">
              <a:lnSpc>
                <a:spcPct val="119000"/>
              </a:lnSpc>
              <a:tabLst/>
            </a:pPr>
            <a:endParaRPr sz="1000" dirty="0">
              <a:latin typeface="Arial"/>
              <a:ea typeface="Arial"/>
              <a:cs typeface="Arial"/>
            </a:endParaRPr>
          </a:p>
          <a:p>
            <a:pPr algn="l" rtl="0" eaLnBrk="0">
              <a:lnSpc>
                <a:spcPct val="128000"/>
              </a:lnSpc>
              <a:tabLst/>
            </a:pPr>
            <a:endParaRPr sz="200" dirty="0">
              <a:latin typeface="Arial"/>
              <a:ea typeface="Arial"/>
              <a:cs typeface="Arial"/>
            </a:endParaRPr>
          </a:p>
          <a:p>
            <a:pPr marL="17780" indent="264795" algn="l" rtl="0" eaLnBrk="0">
              <a:lnSpc>
                <a:spcPct val="126000"/>
              </a:lnSpc>
              <a:tabLst/>
            </a:pPr>
            <a:r>
              <a:rPr sz="1000" kern="0" spc="60" dirty="0">
                <a:solidFill>
                  <a:srgbClr val="000000">
                    <a:alpha val="100000"/>
                  </a:srgbClr>
                </a:solidFill>
                <a:latin typeface="PingFang SC"/>
                <a:ea typeface="PingFang SC"/>
                <a:cs typeface="PingFang SC"/>
              </a:rPr>
              <a:t>评定前乳房表现较差侧的前缘与体躯腹壁连接附着的紧密强度，</a:t>
            </a:r>
            <a:r>
              <a:rPr sz="1000" kern="0" spc="-200" dirty="0">
                <a:solidFill>
                  <a:srgbClr val="000000">
                    <a:alpha val="100000"/>
                  </a:srgbClr>
                </a:solidFill>
                <a:latin typeface="PingFang SC"/>
                <a:ea typeface="PingFang SC"/>
                <a:cs typeface="PingFang SC"/>
              </a:rPr>
              <a:t> </a:t>
            </a:r>
            <a:r>
              <a:rPr sz="1000" kern="0" spc="60" dirty="0">
                <a:solidFill>
                  <a:srgbClr val="000000">
                    <a:alpha val="100000"/>
                  </a:srgbClr>
                </a:solidFill>
                <a:latin typeface="PingFang SC"/>
                <a:ea typeface="PingFang SC"/>
                <a:cs typeface="PingFang SC"/>
              </a:rPr>
              <a:t>具体以前乳房与体</a:t>
            </a:r>
            <a:r>
              <a:rPr sz="1000" kern="0" spc="50" dirty="0">
                <a:solidFill>
                  <a:srgbClr val="000000">
                    <a:alpha val="100000"/>
                  </a:srgbClr>
                </a:solidFill>
                <a:latin typeface="PingFang SC"/>
                <a:ea typeface="PingFang SC"/>
                <a:cs typeface="PingFang SC"/>
              </a:rPr>
              <a:t>躯腹壁连接处</a:t>
            </a:r>
            <a:r>
              <a:rPr sz="1000" kern="0" spc="20" dirty="0">
                <a:solidFill>
                  <a:srgbClr val="000000">
                    <a:alpha val="100000"/>
                  </a:srgbClr>
                </a:solidFill>
                <a:latin typeface="PingFang SC"/>
                <a:ea typeface="PingFang SC"/>
                <a:cs typeface="PingFang SC"/>
              </a:rPr>
              <a:t>形成的夹角作为依据，根据实际附着紧密强度酌情浮动±1</a:t>
            </a:r>
            <a:r>
              <a:rPr sz="1000" kern="0" spc="10" dirty="0">
                <a:solidFill>
                  <a:srgbClr val="000000">
                    <a:alpha val="100000"/>
                  </a:srgbClr>
                </a:solidFill>
                <a:latin typeface="PingFang SC"/>
                <a:ea typeface="PingFang SC"/>
                <a:cs typeface="PingFang SC"/>
              </a:rPr>
              <a:t>分。评定部位、评分与线性评分标准见图A.14。</a:t>
            </a:r>
            <a:endParaRPr sz="1000" dirty="0">
              <a:latin typeface="PingFang SC"/>
              <a:ea typeface="PingFang SC"/>
              <a:cs typeface="PingFang SC"/>
            </a:endParaRPr>
          </a:p>
        </p:txBody>
      </p:sp>
      <p:sp>
        <p:nvSpPr>
          <p:cNvPr id="184" name="textbox 184"/>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186" name="textbox 186"/>
          <p:cNvSpPr/>
          <p:nvPr/>
        </p:nvSpPr>
        <p:spPr>
          <a:xfrm>
            <a:off x="712394"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5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188" name="textbox 188"/>
          <p:cNvSpPr/>
          <p:nvPr/>
        </p:nvSpPr>
        <p:spPr>
          <a:xfrm>
            <a:off x="880630" y="9845028"/>
            <a:ext cx="72390" cy="102870"/>
          </a:xfrm>
          <a:prstGeom prst="rect">
            <a:avLst/>
          </a:prstGeom>
          <a:noFill/>
          <a:ln w="0" cap="flat">
            <a:noFill/>
            <a:prstDash val="solid"/>
            <a:miter lim="0"/>
          </a:ln>
        </p:spPr>
        <p:txBody>
          <a:bodyPr vert="horz" wrap="square" lIns="0" tIns="0" rIns="0" bIns="0"/>
          <a:lstStyle/>
          <a:p>
            <a:pPr algn="l" rtl="0" eaLnBrk="0">
              <a:lnSpc>
                <a:spcPct val="84889"/>
              </a:lnSpc>
              <a:tabLst/>
            </a:pPr>
            <a:endParaRPr sz="100" dirty="0">
              <a:latin typeface="Arial"/>
              <a:ea typeface="Arial"/>
              <a:cs typeface="Arial"/>
            </a:endParaRPr>
          </a:p>
          <a:p>
            <a:pPr algn="r" rtl="0" eaLnBrk="0">
              <a:lnSpc>
                <a:spcPct val="84000"/>
              </a:lnSpc>
              <a:tabLst/>
            </a:pPr>
            <a:r>
              <a:rPr sz="600" kern="0" spc="-10" dirty="0">
                <a:solidFill>
                  <a:srgbClr val="000000">
                    <a:alpha val="100000"/>
                  </a:srgbClr>
                </a:solidFill>
                <a:latin typeface="PingFang SC"/>
                <a:ea typeface="PingFang SC"/>
                <a:cs typeface="PingFang SC"/>
              </a:rPr>
              <a:t>8</a:t>
            </a:r>
            <a:endParaRPr sz="600" dirty="0">
              <a:latin typeface="PingFang SC"/>
              <a:ea typeface="PingFang SC"/>
              <a:cs typeface="PingFang S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textbox 190"/>
          <p:cNvSpPr/>
          <p:nvPr/>
        </p:nvSpPr>
        <p:spPr>
          <a:xfrm>
            <a:off x="888374" y="6659359"/>
            <a:ext cx="5959475" cy="116713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593850" algn="l" rtl="0" eaLnBrk="0">
              <a:lnSpc>
                <a:spcPct val="88000"/>
              </a:lnSpc>
              <a:tabLst/>
            </a:pPr>
            <a:r>
              <a:rPr sz="1000" kern="0" spc="40" dirty="0">
                <a:solidFill>
                  <a:srgbClr val="000000">
                    <a:alpha val="100000"/>
                  </a:srgbClr>
                </a:solidFill>
                <a:latin typeface="PingFang SC"/>
                <a:ea typeface="PingFang SC"/>
                <a:cs typeface="PingFang SC"/>
              </a:rPr>
              <a:t>图A.16   前乳头长度评分示意图与线性评分标准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40" dirty="0">
                <a:solidFill>
                  <a:srgbClr val="000000">
                    <a:alpha val="100000"/>
                  </a:srgbClr>
                </a:solidFill>
                <a:latin typeface="PingFang SC"/>
                <a:ea typeface="PingFang SC"/>
                <a:cs typeface="PingFang SC"/>
              </a:rPr>
              <a:t>A.17   后乳房附着高度</a:t>
            </a:r>
            <a:endParaRPr sz="1000" dirty="0">
              <a:latin typeface="PingFang SC"/>
              <a:ea typeface="PingFang SC"/>
              <a:cs typeface="PingFang SC"/>
            </a:endParaRPr>
          </a:p>
          <a:p>
            <a:pPr algn="l" rtl="0" eaLnBrk="0">
              <a:lnSpc>
                <a:spcPct val="119000"/>
              </a:lnSpc>
              <a:tabLst/>
            </a:pPr>
            <a:endParaRPr sz="1000" dirty="0">
              <a:latin typeface="Arial"/>
              <a:ea typeface="Arial"/>
              <a:cs typeface="Arial"/>
            </a:endParaRPr>
          </a:p>
          <a:p>
            <a:pPr algn="l" rtl="0" eaLnBrk="0">
              <a:lnSpc>
                <a:spcPct val="129000"/>
              </a:lnSpc>
              <a:tabLst/>
            </a:pPr>
            <a:endParaRPr sz="200" dirty="0">
              <a:latin typeface="Arial"/>
              <a:ea typeface="Arial"/>
              <a:cs typeface="Arial"/>
            </a:endParaRPr>
          </a:p>
          <a:p>
            <a:pPr marL="15875" indent="266700" algn="l" rtl="0" eaLnBrk="0">
              <a:lnSpc>
                <a:spcPct val="128000"/>
              </a:lnSpc>
              <a:spcBef>
                <a:spcPts val="2"/>
              </a:spcBef>
              <a:tabLst/>
            </a:pPr>
            <a:r>
              <a:rPr sz="1000" kern="0" spc="60" dirty="0">
                <a:solidFill>
                  <a:srgbClr val="000000">
                    <a:alpha val="100000"/>
                  </a:srgbClr>
                </a:solidFill>
                <a:latin typeface="PingFang SC"/>
                <a:ea typeface="PingFang SC"/>
                <a:cs typeface="PingFang SC"/>
              </a:rPr>
              <a:t>测定后乳房乳腺组织的最上缘与阴门基底部之间的垂直距离（挤奶后鉴定需手触摸确定乳腺上缘</a:t>
            </a:r>
            <a:r>
              <a:rPr sz="1000" kern="0" spc="40" dirty="0">
                <a:solidFill>
                  <a:srgbClr val="000000">
                    <a:alpha val="100000"/>
                  </a:srgbClr>
                </a:solidFill>
                <a:latin typeface="PingFang SC"/>
                <a:ea typeface="PingFang SC"/>
                <a:cs typeface="PingFang SC"/>
              </a:rPr>
              <a:t>位置）</a:t>
            </a:r>
            <a:r>
              <a:rPr sz="1000" kern="0" spc="-80" dirty="0">
                <a:solidFill>
                  <a:srgbClr val="000000">
                    <a:alpha val="100000"/>
                  </a:srgbClr>
                </a:solidFill>
                <a:latin typeface="PingFang SC"/>
                <a:ea typeface="PingFang SC"/>
                <a:cs typeface="PingFang SC"/>
              </a:rPr>
              <a:t> </a:t>
            </a:r>
            <a:r>
              <a:rPr sz="1000" kern="0" spc="40" dirty="0">
                <a:solidFill>
                  <a:srgbClr val="000000">
                    <a:alpha val="100000"/>
                  </a:srgbClr>
                </a:solidFill>
                <a:latin typeface="PingFang SC"/>
                <a:ea typeface="PingFang SC"/>
                <a:cs typeface="PingFang SC"/>
              </a:rPr>
              <a:t>。评定部位、评分与线性评分标准</a:t>
            </a:r>
            <a:r>
              <a:rPr sz="1000" kern="0" spc="30" dirty="0">
                <a:solidFill>
                  <a:srgbClr val="000000">
                    <a:alpha val="100000"/>
                  </a:srgbClr>
                </a:solidFill>
                <a:latin typeface="PingFang SC"/>
                <a:ea typeface="PingFang SC"/>
                <a:cs typeface="PingFang SC"/>
              </a:rPr>
              <a:t>见图A.17。</a:t>
            </a:r>
            <a:endParaRPr sz="1000" dirty="0">
              <a:latin typeface="PingFang SC"/>
              <a:ea typeface="PingFang SC"/>
              <a:cs typeface="PingFang SC"/>
            </a:endParaRPr>
          </a:p>
        </p:txBody>
      </p:sp>
      <p:graphicFrame>
        <p:nvGraphicFramePr>
          <p:cNvPr id="192" name="table 192"/>
          <p:cNvGraphicFramePr>
            <a:graphicFrameLocks noGrp="1"/>
          </p:cNvGraphicFramePr>
          <p:nvPr/>
        </p:nvGraphicFramePr>
        <p:xfrm>
          <a:off x="1120444" y="6106033"/>
          <a:ext cx="5499100" cy="434340"/>
        </p:xfrm>
        <a:graphic>
          <a:graphicData uri="http://schemas.openxmlformats.org/drawingml/2006/table">
            <a:tbl>
              <a:tblPr/>
              <a:tblGrid>
                <a:gridCol w="1171575"/>
                <a:gridCol w="480694"/>
                <a:gridCol w="480060"/>
                <a:gridCol w="480060"/>
                <a:gridCol w="480060"/>
                <a:gridCol w="480060"/>
                <a:gridCol w="480060"/>
                <a:gridCol w="480694"/>
                <a:gridCol w="480060"/>
                <a:gridCol w="485775"/>
              </a:tblGrid>
              <a:tr h="216534">
                <a:tc>
                  <a:txBody>
                    <a:bodyPr/>
                    <a:lstStyle/>
                    <a:p>
                      <a:pPr algn="l" rtl="0" eaLnBrk="0">
                        <a:lnSpc>
                          <a:spcPct val="118000"/>
                        </a:lnSpc>
                        <a:tabLst/>
                      </a:pPr>
                      <a:endParaRPr sz="300" dirty="0">
                        <a:latin typeface="Arial"/>
                        <a:ea typeface="Arial"/>
                        <a:cs typeface="Arial"/>
                      </a:endParaRPr>
                    </a:p>
                    <a:p>
                      <a:pPr marL="365125"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3520"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5900"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6534"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3995"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7170"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5900"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7805"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5265"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5265"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9000"/>
                        </a:lnSpc>
                        <a:tabLst/>
                      </a:pPr>
                      <a:endParaRPr sz="300" dirty="0">
                        <a:latin typeface="Arial"/>
                        <a:ea typeface="Arial"/>
                        <a:cs typeface="Arial"/>
                      </a:endParaRPr>
                    </a:p>
                    <a:p>
                      <a:pPr marL="137160" algn="l" rtl="0" eaLnBrk="0">
                        <a:lnSpc>
                          <a:spcPct val="86000"/>
                        </a:lnSpc>
                        <a:spcBef>
                          <a:spcPts val="3"/>
                        </a:spcBef>
                        <a:tabLst/>
                      </a:pPr>
                      <a:r>
                        <a:rPr sz="900" kern="0" spc="-50" dirty="0">
                          <a:solidFill>
                            <a:srgbClr val="000000">
                              <a:alpha val="100000"/>
                            </a:srgbClr>
                          </a:solidFill>
                          <a:latin typeface="PingFang SC"/>
                          <a:ea typeface="PingFang SC"/>
                          <a:cs typeface="PingFang SC"/>
                        </a:rPr>
                        <a:t>前乳头长度（cm）</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67005" algn="l" rtl="0" eaLnBrk="0">
                        <a:lnSpc>
                          <a:spcPct val="83000"/>
                        </a:lnSpc>
                        <a:spcBef>
                          <a:spcPts val="1"/>
                        </a:spcBef>
                        <a:tabLst/>
                      </a:pPr>
                      <a:r>
                        <a:rPr sz="900" kern="0" spc="3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16534" algn="l" rtl="0" eaLnBrk="0">
                        <a:lnSpc>
                          <a:spcPct val="83000"/>
                        </a:lnSpc>
                        <a:spcBef>
                          <a:spcPts val="1"/>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60655" algn="l" rtl="0" eaLnBrk="0">
                        <a:lnSpc>
                          <a:spcPct val="83000"/>
                        </a:lnSpc>
                        <a:spcBef>
                          <a:spcPts val="1"/>
                        </a:spcBef>
                        <a:tabLst/>
                      </a:pPr>
                      <a:r>
                        <a:rPr sz="900" kern="0" spc="-10" dirty="0">
                          <a:solidFill>
                            <a:srgbClr val="000000">
                              <a:alpha val="100000"/>
                            </a:srgbClr>
                          </a:solidFill>
                          <a:latin typeface="PingFang SC"/>
                          <a:ea typeface="PingFang SC"/>
                          <a:cs typeface="PingFang SC"/>
                        </a:rPr>
                        <a:t>3.5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13995" algn="l" rtl="0" eaLnBrk="0">
                        <a:lnSpc>
                          <a:spcPct val="83000"/>
                        </a:lnSpc>
                        <a:spcBef>
                          <a:spcPts val="1"/>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17170" algn="l" rtl="0" eaLnBrk="0">
                        <a:lnSpc>
                          <a:spcPct val="83000"/>
                        </a:lnSpc>
                        <a:spcBef>
                          <a:spcPts val="1"/>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15900" algn="l" rtl="0" eaLnBrk="0">
                        <a:lnSpc>
                          <a:spcPct val="83000"/>
                        </a:lnSpc>
                        <a:spcBef>
                          <a:spcPts val="1"/>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17805" algn="l" rtl="0" eaLnBrk="0">
                        <a:lnSpc>
                          <a:spcPct val="83000"/>
                        </a:lnSpc>
                        <a:spcBef>
                          <a:spcPts val="1"/>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58750" algn="l" rtl="0" eaLnBrk="0">
                        <a:lnSpc>
                          <a:spcPct val="83000"/>
                        </a:lnSpc>
                        <a:spcBef>
                          <a:spcPts val="1"/>
                        </a:spcBef>
                        <a:tabLst/>
                      </a:pPr>
                      <a:r>
                        <a:rPr sz="900" kern="0" spc="-10" dirty="0">
                          <a:solidFill>
                            <a:srgbClr val="000000">
                              <a:alpha val="100000"/>
                            </a:srgbClr>
                          </a:solidFill>
                          <a:latin typeface="PingFang SC"/>
                          <a:ea typeface="PingFang SC"/>
                          <a:cs typeface="PingFang SC"/>
                        </a:rPr>
                        <a:t>8.5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40335" algn="l" rtl="0" eaLnBrk="0">
                        <a:lnSpc>
                          <a:spcPct val="83000"/>
                        </a:lnSpc>
                        <a:spcBef>
                          <a:spcPts val="1"/>
                        </a:spcBef>
                        <a:tabLst/>
                      </a:pPr>
                      <a:r>
                        <a:rPr sz="900" kern="0" spc="10" dirty="0">
                          <a:solidFill>
                            <a:srgbClr val="000000">
                              <a:alpha val="100000"/>
                            </a:srgbClr>
                          </a:solidFill>
                          <a:latin typeface="PingFang SC"/>
                          <a:ea typeface="PingFang SC"/>
                          <a:cs typeface="PingFang SC"/>
                        </a:rPr>
                        <a:t>≥10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194" name="table 194"/>
          <p:cNvGraphicFramePr>
            <a:graphicFrameLocks noGrp="1"/>
          </p:cNvGraphicFramePr>
          <p:nvPr/>
        </p:nvGraphicFramePr>
        <p:xfrm>
          <a:off x="1120444" y="2996438"/>
          <a:ext cx="5499100" cy="434340"/>
        </p:xfrm>
        <a:graphic>
          <a:graphicData uri="http://schemas.openxmlformats.org/drawingml/2006/table">
            <a:tbl>
              <a:tblPr/>
              <a:tblGrid>
                <a:gridCol w="1171575"/>
                <a:gridCol w="480694"/>
                <a:gridCol w="480060"/>
                <a:gridCol w="480060"/>
                <a:gridCol w="480060"/>
                <a:gridCol w="480060"/>
                <a:gridCol w="480060"/>
                <a:gridCol w="480694"/>
                <a:gridCol w="480060"/>
                <a:gridCol w="485775"/>
              </a:tblGrid>
              <a:tr h="216534">
                <a:tc>
                  <a:txBody>
                    <a:bodyPr/>
                    <a:lstStyle/>
                    <a:p>
                      <a:pPr algn="l" rtl="0" eaLnBrk="0">
                        <a:lnSpc>
                          <a:spcPct val="118000"/>
                        </a:lnSpc>
                        <a:tabLst/>
                      </a:pPr>
                      <a:endParaRPr sz="300" dirty="0">
                        <a:latin typeface="Arial"/>
                        <a:ea typeface="Arial"/>
                        <a:cs typeface="Arial"/>
                      </a:endParaRPr>
                    </a:p>
                    <a:p>
                      <a:pPr marL="365125"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23520"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5900"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6534"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3995"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7170"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5900"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7805"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5265"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5265"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8000"/>
                        </a:lnSpc>
                        <a:tabLst/>
                      </a:pPr>
                      <a:endParaRPr sz="300" dirty="0">
                        <a:latin typeface="Arial"/>
                        <a:ea typeface="Arial"/>
                        <a:cs typeface="Arial"/>
                      </a:endParaRPr>
                    </a:p>
                    <a:p>
                      <a:pPr marL="309245" algn="l" rtl="0" eaLnBrk="0">
                        <a:lnSpc>
                          <a:spcPct val="86000"/>
                        </a:lnSpc>
                        <a:spcBef>
                          <a:spcPts val="3"/>
                        </a:spcBef>
                        <a:tabLst/>
                      </a:pPr>
                      <a:r>
                        <a:rPr sz="900" kern="0" spc="-10" dirty="0">
                          <a:solidFill>
                            <a:srgbClr val="000000">
                              <a:alpha val="100000"/>
                            </a:srgbClr>
                          </a:solidFill>
                          <a:latin typeface="PingFang SC"/>
                          <a:ea typeface="PingFang SC"/>
                          <a:cs typeface="PingFang SC"/>
                        </a:rPr>
                        <a:t>前乳头位置</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131445" algn="l" rtl="0" eaLnBrk="0">
                        <a:lnSpc>
                          <a:spcPct val="86000"/>
                        </a:lnSpc>
                        <a:spcBef>
                          <a:spcPts val="3"/>
                        </a:spcBef>
                        <a:tabLst/>
                      </a:pPr>
                      <a:r>
                        <a:rPr sz="900" kern="0" spc="-20" dirty="0">
                          <a:solidFill>
                            <a:srgbClr val="000000">
                              <a:alpha val="100000"/>
                            </a:srgbClr>
                          </a:solidFill>
                          <a:latin typeface="PingFang SC"/>
                          <a:ea typeface="PingFang SC"/>
                          <a:cs typeface="PingFang SC"/>
                        </a:rPr>
                        <a:t>极外</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3000"/>
                        </a:lnSpc>
                        <a:tabLst/>
                      </a:pPr>
                      <a:endParaRPr sz="600" dirty="0">
                        <a:latin typeface="Arial"/>
                        <a:ea typeface="Arial"/>
                        <a:cs typeface="Arial"/>
                      </a:endParaRPr>
                    </a:p>
                    <a:p>
                      <a:pPr marL="213359" algn="l" rtl="0" eaLnBrk="0">
                        <a:lnSpc>
                          <a:spcPts val="306"/>
                        </a:lnSpc>
                        <a:spcBef>
                          <a:spcPts val="5"/>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300" dirty="0">
                        <a:latin typeface="Arial"/>
                        <a:ea typeface="Arial"/>
                        <a:cs typeface="Arial"/>
                      </a:endParaRPr>
                    </a:p>
                    <a:p>
                      <a:pPr marL="128904" algn="l" rtl="0" eaLnBrk="0">
                        <a:lnSpc>
                          <a:spcPct val="86000"/>
                        </a:lnSpc>
                        <a:spcBef>
                          <a:spcPts val="3"/>
                        </a:spcBef>
                        <a:tabLst/>
                      </a:pPr>
                      <a:r>
                        <a:rPr sz="900" kern="0" spc="-20" dirty="0">
                          <a:solidFill>
                            <a:srgbClr val="000000">
                              <a:alpha val="100000"/>
                            </a:srgbClr>
                          </a:solidFill>
                          <a:latin typeface="PingFang SC"/>
                          <a:ea typeface="PingFang SC"/>
                          <a:cs typeface="PingFang SC"/>
                        </a:rPr>
                        <a:t>偏外</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3000"/>
                        </a:lnSpc>
                        <a:tabLst/>
                      </a:pPr>
                      <a:endParaRPr sz="600" dirty="0">
                        <a:latin typeface="Arial"/>
                        <a:ea typeface="Arial"/>
                        <a:cs typeface="Arial"/>
                      </a:endParaRPr>
                    </a:p>
                    <a:p>
                      <a:pPr marL="213359" algn="l" rtl="0" eaLnBrk="0">
                        <a:lnSpc>
                          <a:spcPts val="306"/>
                        </a:lnSpc>
                        <a:spcBef>
                          <a:spcPts val="5"/>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40335" algn="l" rtl="0" eaLnBrk="0">
                        <a:lnSpc>
                          <a:spcPct val="86000"/>
                        </a:lnSpc>
                        <a:spcBef>
                          <a:spcPts val="2"/>
                        </a:spcBef>
                        <a:tabLst/>
                      </a:pPr>
                      <a:r>
                        <a:rPr sz="900" kern="0" spc="-40" dirty="0">
                          <a:solidFill>
                            <a:srgbClr val="000000">
                              <a:alpha val="100000"/>
                            </a:srgbClr>
                          </a:solidFill>
                          <a:latin typeface="PingFang SC"/>
                          <a:ea typeface="PingFang SC"/>
                          <a:cs typeface="PingFang SC"/>
                        </a:rPr>
                        <a:t>中间</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3000"/>
                        </a:lnSpc>
                        <a:tabLst/>
                      </a:pPr>
                      <a:endParaRPr sz="600" dirty="0">
                        <a:latin typeface="Arial"/>
                        <a:ea typeface="Arial"/>
                        <a:cs typeface="Arial"/>
                      </a:endParaRPr>
                    </a:p>
                    <a:p>
                      <a:pPr marL="213995" algn="l" rtl="0" eaLnBrk="0">
                        <a:lnSpc>
                          <a:spcPts val="306"/>
                        </a:lnSpc>
                        <a:spcBef>
                          <a:spcPts val="5"/>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300" dirty="0">
                        <a:latin typeface="Arial"/>
                        <a:ea typeface="Arial"/>
                        <a:cs typeface="Arial"/>
                      </a:endParaRPr>
                    </a:p>
                    <a:p>
                      <a:pPr marL="129540" algn="l" rtl="0" eaLnBrk="0">
                        <a:lnSpc>
                          <a:spcPct val="86000"/>
                        </a:lnSpc>
                        <a:spcBef>
                          <a:spcPts val="3"/>
                        </a:spcBef>
                        <a:tabLst/>
                      </a:pPr>
                      <a:r>
                        <a:rPr sz="900" kern="0" spc="-20" dirty="0">
                          <a:solidFill>
                            <a:srgbClr val="000000">
                              <a:alpha val="100000"/>
                            </a:srgbClr>
                          </a:solidFill>
                          <a:latin typeface="PingFang SC"/>
                          <a:ea typeface="PingFang SC"/>
                          <a:cs typeface="PingFang SC"/>
                        </a:rPr>
                        <a:t>偏内</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3000"/>
                        </a:lnSpc>
                        <a:tabLst/>
                      </a:pPr>
                      <a:endParaRPr sz="600" dirty="0">
                        <a:latin typeface="Arial"/>
                        <a:ea typeface="Arial"/>
                        <a:cs typeface="Arial"/>
                      </a:endParaRPr>
                    </a:p>
                    <a:p>
                      <a:pPr marL="213359" algn="l" rtl="0" eaLnBrk="0">
                        <a:lnSpc>
                          <a:spcPts val="306"/>
                        </a:lnSpc>
                        <a:spcBef>
                          <a:spcPts val="5"/>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300" dirty="0">
                        <a:latin typeface="Arial"/>
                        <a:ea typeface="Arial"/>
                        <a:cs typeface="Arial"/>
                      </a:endParaRPr>
                    </a:p>
                    <a:p>
                      <a:pPr marL="130810" algn="l" rtl="0" eaLnBrk="0">
                        <a:lnSpc>
                          <a:spcPct val="86000"/>
                        </a:lnSpc>
                        <a:spcBef>
                          <a:spcPts val="3"/>
                        </a:spcBef>
                        <a:tabLst/>
                      </a:pPr>
                      <a:r>
                        <a:rPr sz="900" kern="0" spc="-20" dirty="0">
                          <a:solidFill>
                            <a:srgbClr val="000000">
                              <a:alpha val="100000"/>
                            </a:srgbClr>
                          </a:solidFill>
                          <a:latin typeface="PingFang SC"/>
                          <a:ea typeface="PingFang SC"/>
                          <a:cs typeface="PingFang SC"/>
                        </a:rPr>
                        <a:t>极内</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196" name="picture 196"/>
          <p:cNvPicPr>
            <a:picLocks noChangeAspect="1"/>
          </p:cNvPicPr>
          <p:nvPr/>
        </p:nvPicPr>
        <p:blipFill>
          <a:blip r:embed="rId2"/>
          <a:stretch>
            <a:fillRect/>
          </a:stretch>
        </p:blipFill>
        <p:spPr>
          <a:xfrm rot="21600000">
            <a:off x="1679321" y="1301877"/>
            <a:ext cx="4640580" cy="1605280"/>
          </a:xfrm>
          <a:prstGeom prst="rect">
            <a:avLst/>
          </a:prstGeom>
        </p:spPr>
      </p:pic>
      <p:pic>
        <p:nvPicPr>
          <p:cNvPr id="198" name="picture 198"/>
          <p:cNvPicPr>
            <a:picLocks noChangeAspect="1"/>
          </p:cNvPicPr>
          <p:nvPr/>
        </p:nvPicPr>
        <p:blipFill>
          <a:blip r:embed="rId3"/>
          <a:stretch>
            <a:fillRect/>
          </a:stretch>
        </p:blipFill>
        <p:spPr>
          <a:xfrm rot="21600000">
            <a:off x="1743710" y="4560062"/>
            <a:ext cx="4518279" cy="1499870"/>
          </a:xfrm>
          <a:prstGeom prst="rect">
            <a:avLst/>
          </a:prstGeom>
        </p:spPr>
      </p:pic>
      <p:pic>
        <p:nvPicPr>
          <p:cNvPr id="200" name="picture 200"/>
          <p:cNvPicPr>
            <a:picLocks noChangeAspect="1"/>
          </p:cNvPicPr>
          <p:nvPr/>
        </p:nvPicPr>
        <p:blipFill>
          <a:blip r:embed="rId4"/>
          <a:stretch>
            <a:fillRect/>
          </a:stretch>
        </p:blipFill>
        <p:spPr>
          <a:xfrm rot="21600000">
            <a:off x="1212532" y="7830693"/>
            <a:ext cx="5577078" cy="1181735"/>
          </a:xfrm>
          <a:prstGeom prst="rect">
            <a:avLst/>
          </a:prstGeom>
        </p:spPr>
      </p:pic>
      <p:sp>
        <p:nvSpPr>
          <p:cNvPr id="202" name="textbox 202"/>
          <p:cNvSpPr/>
          <p:nvPr/>
        </p:nvSpPr>
        <p:spPr>
          <a:xfrm>
            <a:off x="888374" y="3550145"/>
            <a:ext cx="4808220" cy="95250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593850" algn="l" rtl="0" eaLnBrk="0">
              <a:lnSpc>
                <a:spcPct val="88000"/>
              </a:lnSpc>
              <a:tabLst/>
            </a:pPr>
            <a:r>
              <a:rPr sz="1000" kern="0" spc="40" dirty="0">
                <a:solidFill>
                  <a:srgbClr val="000000">
                    <a:alpha val="100000"/>
                  </a:srgbClr>
                </a:solidFill>
                <a:latin typeface="PingFang SC"/>
                <a:ea typeface="PingFang SC"/>
                <a:cs typeface="PingFang SC"/>
              </a:rPr>
              <a:t>图A.15   前乳头位置评分示意图与线性评分标准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40" dirty="0">
                <a:solidFill>
                  <a:srgbClr val="000000">
                    <a:alpha val="100000"/>
                  </a:srgbClr>
                </a:solidFill>
                <a:latin typeface="PingFang SC"/>
                <a:ea typeface="PingFang SC"/>
                <a:cs typeface="PingFang SC"/>
              </a:rPr>
              <a:t>A.16   前乳头</a:t>
            </a:r>
            <a:r>
              <a:rPr sz="1000" kern="0" spc="30" dirty="0">
                <a:solidFill>
                  <a:srgbClr val="000000">
                    <a:alpha val="100000"/>
                  </a:srgbClr>
                </a:solidFill>
                <a:latin typeface="PingFang SC"/>
                <a:ea typeface="PingFang SC"/>
                <a:cs typeface="PingFang SC"/>
              </a:rPr>
              <a:t>长度</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algn="l" rtl="0" eaLnBrk="0">
              <a:lnSpc>
                <a:spcPct val="125000"/>
              </a:lnSpc>
              <a:tabLst/>
            </a:pPr>
            <a:endParaRPr sz="200" dirty="0">
              <a:latin typeface="Arial"/>
              <a:ea typeface="Arial"/>
              <a:cs typeface="Arial"/>
            </a:endParaRPr>
          </a:p>
          <a:p>
            <a:pPr algn="r" rtl="0" eaLnBrk="0">
              <a:lnSpc>
                <a:spcPct val="88000"/>
              </a:lnSpc>
              <a:tabLst/>
            </a:pPr>
            <a:r>
              <a:rPr sz="1000" kern="0" spc="30" dirty="0">
                <a:solidFill>
                  <a:srgbClr val="000000">
                    <a:alpha val="100000"/>
                  </a:srgbClr>
                </a:solidFill>
                <a:latin typeface="PingFang SC"/>
                <a:ea typeface="PingFang SC"/>
                <a:cs typeface="PingFang SC"/>
              </a:rPr>
              <a:t>测定乳房前乳头较长一侧的长度。评定部位、评分与线性评分标准见图A.1</a:t>
            </a:r>
            <a:r>
              <a:rPr sz="1000" kern="0" spc="20" dirty="0">
                <a:solidFill>
                  <a:srgbClr val="000000">
                    <a:alpha val="100000"/>
                  </a:srgbClr>
                </a:solidFill>
                <a:latin typeface="PingFang SC"/>
                <a:ea typeface="PingFang SC"/>
                <a:cs typeface="PingFang SC"/>
              </a:rPr>
              <a:t>6。</a:t>
            </a:r>
            <a:endParaRPr sz="1000" dirty="0">
              <a:latin typeface="PingFang SC"/>
              <a:ea typeface="PingFang SC"/>
              <a:cs typeface="PingFang SC"/>
            </a:endParaRPr>
          </a:p>
        </p:txBody>
      </p:sp>
      <p:sp>
        <p:nvSpPr>
          <p:cNvPr id="204" name="textbox 204"/>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graphicFrame>
        <p:nvGraphicFramePr>
          <p:cNvPr id="206" name="table 206"/>
          <p:cNvGraphicFramePr>
            <a:graphicFrameLocks noGrp="1"/>
          </p:cNvGraphicFramePr>
          <p:nvPr/>
        </p:nvGraphicFramePr>
        <p:xfrm>
          <a:off x="1120444" y="9017254"/>
          <a:ext cx="5499100" cy="433705"/>
        </p:xfrm>
        <a:graphic>
          <a:graphicData uri="http://schemas.openxmlformats.org/drawingml/2006/table">
            <a:tbl>
              <a:tblPr/>
              <a:tblGrid>
                <a:gridCol w="1261745"/>
                <a:gridCol w="471169"/>
                <a:gridCol w="469265"/>
                <a:gridCol w="469265"/>
                <a:gridCol w="471169"/>
                <a:gridCol w="469265"/>
                <a:gridCol w="471169"/>
                <a:gridCol w="469900"/>
                <a:gridCol w="469265"/>
                <a:gridCol w="476885"/>
              </a:tblGrid>
              <a:tr h="215900">
                <a:tc>
                  <a:txBody>
                    <a:bodyPr/>
                    <a:lstStyle/>
                    <a:p>
                      <a:pPr algn="l" rtl="0" eaLnBrk="0">
                        <a:lnSpc>
                          <a:spcPct val="118000"/>
                        </a:lnSpc>
                        <a:tabLst/>
                      </a:pPr>
                      <a:endParaRPr sz="300" dirty="0">
                        <a:latin typeface="Arial"/>
                        <a:ea typeface="Arial"/>
                        <a:cs typeface="Arial"/>
                      </a:endParaRPr>
                    </a:p>
                    <a:p>
                      <a:pPr marL="410844"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9075"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1455"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1455"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0820"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090"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9000"/>
                        </a:lnSpc>
                        <a:tabLst/>
                      </a:pPr>
                      <a:endParaRPr sz="300" dirty="0">
                        <a:latin typeface="Arial"/>
                        <a:ea typeface="Arial"/>
                        <a:cs typeface="Arial"/>
                      </a:endParaRPr>
                    </a:p>
                    <a:p>
                      <a:pPr marL="123825" algn="l" rtl="0" eaLnBrk="0">
                        <a:lnSpc>
                          <a:spcPct val="87000"/>
                        </a:lnSpc>
                        <a:tabLst/>
                      </a:pPr>
                      <a:r>
                        <a:rPr sz="900" kern="0" spc="-50" dirty="0">
                          <a:solidFill>
                            <a:srgbClr val="000000">
                              <a:alpha val="100000"/>
                            </a:srgbClr>
                          </a:solidFill>
                          <a:latin typeface="PingFang SC"/>
                          <a:ea typeface="PingFang SC"/>
                          <a:cs typeface="PingFang SC"/>
                        </a:rPr>
                        <a:t>后房附着高度（cm）</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35890" algn="l" rtl="0" eaLnBrk="0">
                        <a:lnSpc>
                          <a:spcPct val="83000"/>
                        </a:lnSpc>
                        <a:spcBef>
                          <a:spcPts val="3"/>
                        </a:spcBef>
                        <a:tabLst/>
                      </a:pPr>
                      <a:r>
                        <a:rPr sz="900" kern="0" spc="-20" dirty="0">
                          <a:solidFill>
                            <a:srgbClr val="000000">
                              <a:alpha val="100000"/>
                            </a:srgbClr>
                          </a:solidFill>
                          <a:latin typeface="PingFang SC"/>
                          <a:ea typeface="PingFang SC"/>
                          <a:cs typeface="PingFang SC"/>
                        </a:rPr>
                        <a:t>≥32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83515" algn="l" rtl="0" eaLnBrk="0">
                        <a:lnSpc>
                          <a:spcPct val="94000"/>
                        </a:lnSpc>
                        <a:tabLst/>
                      </a:pPr>
                      <a:r>
                        <a:rPr sz="800" kern="0" spc="-10" dirty="0">
                          <a:solidFill>
                            <a:srgbClr val="000000">
                              <a:alpha val="100000"/>
                            </a:srgbClr>
                          </a:solidFill>
                          <a:latin typeface="PingFang SC"/>
                          <a:ea typeface="PingFang SC"/>
                          <a:cs typeface="PingFang SC"/>
                        </a:rPr>
                        <a:t>30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82880" algn="l" rtl="0" eaLnBrk="0">
                        <a:lnSpc>
                          <a:spcPct val="94000"/>
                        </a:lnSpc>
                        <a:tabLst/>
                      </a:pPr>
                      <a:r>
                        <a:rPr sz="800" kern="0" spc="0" dirty="0">
                          <a:solidFill>
                            <a:srgbClr val="000000">
                              <a:alpha val="100000"/>
                            </a:srgbClr>
                          </a:solidFill>
                          <a:latin typeface="PingFang SC"/>
                          <a:ea typeface="PingFang SC"/>
                          <a:cs typeface="PingFang SC"/>
                        </a:rPr>
                        <a:t>28</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84150" algn="l" rtl="0" eaLnBrk="0">
                        <a:lnSpc>
                          <a:spcPct val="94000"/>
                        </a:lnSpc>
                        <a:tabLst/>
                      </a:pPr>
                      <a:r>
                        <a:rPr sz="800" kern="0" spc="0" dirty="0">
                          <a:solidFill>
                            <a:srgbClr val="000000">
                              <a:alpha val="100000"/>
                            </a:srgbClr>
                          </a:solidFill>
                          <a:latin typeface="PingFang SC"/>
                          <a:ea typeface="PingFang SC"/>
                          <a:cs typeface="PingFang SC"/>
                        </a:rPr>
                        <a:t>26</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84150" algn="l" rtl="0" eaLnBrk="0">
                        <a:lnSpc>
                          <a:spcPct val="94000"/>
                        </a:lnSpc>
                        <a:tabLst/>
                      </a:pPr>
                      <a:r>
                        <a:rPr sz="800" kern="0" spc="0" dirty="0">
                          <a:solidFill>
                            <a:srgbClr val="000000">
                              <a:alpha val="100000"/>
                            </a:srgbClr>
                          </a:solidFill>
                          <a:latin typeface="PingFang SC"/>
                          <a:ea typeface="PingFang SC"/>
                          <a:cs typeface="PingFang SC"/>
                        </a:rPr>
                        <a:t>24</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84150" algn="l" rtl="0" eaLnBrk="0">
                        <a:lnSpc>
                          <a:spcPct val="94000"/>
                        </a:lnSpc>
                        <a:tabLst/>
                      </a:pPr>
                      <a:r>
                        <a:rPr sz="800" kern="0" spc="0" dirty="0">
                          <a:solidFill>
                            <a:srgbClr val="000000">
                              <a:alpha val="100000"/>
                            </a:srgbClr>
                          </a:solidFill>
                          <a:latin typeface="PingFang SC"/>
                          <a:ea typeface="PingFang SC"/>
                          <a:cs typeface="PingFang SC"/>
                        </a:rPr>
                        <a:t>22</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82880" algn="l" rtl="0" eaLnBrk="0">
                        <a:lnSpc>
                          <a:spcPct val="94000"/>
                        </a:lnSpc>
                        <a:tabLst/>
                      </a:pPr>
                      <a:r>
                        <a:rPr sz="800" kern="0" spc="0" dirty="0">
                          <a:solidFill>
                            <a:srgbClr val="000000">
                              <a:alpha val="100000"/>
                            </a:srgbClr>
                          </a:solidFill>
                          <a:latin typeface="PingFang SC"/>
                          <a:ea typeface="PingFang SC"/>
                          <a:cs typeface="PingFang SC"/>
                        </a:rPr>
                        <a:t>20</a:t>
                      </a:r>
                      <a:endParaRPr sz="8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89865" algn="l" rtl="0" eaLnBrk="0">
                        <a:lnSpc>
                          <a:spcPct val="83000"/>
                        </a:lnSpc>
                        <a:spcBef>
                          <a:spcPts val="3"/>
                        </a:spcBef>
                        <a:tabLst/>
                      </a:pPr>
                      <a:r>
                        <a:rPr sz="900" kern="0" spc="-30" dirty="0">
                          <a:solidFill>
                            <a:srgbClr val="000000">
                              <a:alpha val="100000"/>
                            </a:srgbClr>
                          </a:solidFill>
                          <a:latin typeface="PingFang SC"/>
                          <a:ea typeface="PingFang SC"/>
                          <a:cs typeface="PingFang SC"/>
                        </a:rPr>
                        <a:t>18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34620" algn="l" rtl="0" eaLnBrk="0">
                        <a:lnSpc>
                          <a:spcPct val="83000"/>
                        </a:lnSpc>
                        <a:spcBef>
                          <a:spcPts val="3"/>
                        </a:spcBef>
                        <a:tabLst/>
                      </a:pPr>
                      <a:r>
                        <a:rPr sz="900" kern="0" spc="20" dirty="0">
                          <a:solidFill>
                            <a:srgbClr val="000000">
                              <a:alpha val="100000"/>
                            </a:srgbClr>
                          </a:solidFill>
                          <a:latin typeface="PingFang SC"/>
                          <a:ea typeface="PingFang SC"/>
                          <a:cs typeface="PingFang SC"/>
                        </a:rPr>
                        <a:t>≤16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208" name="textbox 208"/>
          <p:cNvSpPr/>
          <p:nvPr/>
        </p:nvSpPr>
        <p:spPr>
          <a:xfrm>
            <a:off x="2335465" y="9570530"/>
            <a:ext cx="3082925" cy="16002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2700" algn="l" rtl="0" eaLnBrk="0">
              <a:lnSpc>
                <a:spcPct val="88000"/>
              </a:lnSpc>
              <a:tabLst/>
            </a:pPr>
            <a:r>
              <a:rPr sz="1000" kern="0" spc="50" dirty="0">
                <a:solidFill>
                  <a:srgbClr val="000000">
                    <a:alpha val="100000"/>
                  </a:srgbClr>
                </a:solidFill>
                <a:latin typeface="PingFang SC"/>
                <a:ea typeface="PingFang SC"/>
                <a:cs typeface="PingFang SC"/>
              </a:rPr>
              <a:t>图A.17   后</a:t>
            </a:r>
            <a:r>
              <a:rPr sz="1000" kern="0" spc="40" dirty="0">
                <a:solidFill>
                  <a:srgbClr val="000000">
                    <a:alpha val="100000"/>
                  </a:srgbClr>
                </a:solidFill>
                <a:latin typeface="PingFang SC"/>
                <a:ea typeface="PingFang SC"/>
                <a:cs typeface="PingFang SC"/>
              </a:rPr>
              <a:t>乳房附着高度评分示意图与线性评分标准</a:t>
            </a:r>
            <a:endParaRPr sz="1000" dirty="0">
              <a:latin typeface="PingFang SC"/>
              <a:ea typeface="PingFang SC"/>
              <a:cs typeface="PingFang SC"/>
            </a:endParaRPr>
          </a:p>
        </p:txBody>
      </p:sp>
      <p:sp>
        <p:nvSpPr>
          <p:cNvPr id="210" name="textbox 210"/>
          <p:cNvSpPr/>
          <p:nvPr/>
        </p:nvSpPr>
        <p:spPr>
          <a:xfrm>
            <a:off x="5767248"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4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212" name="textbox 212"/>
          <p:cNvSpPr/>
          <p:nvPr/>
        </p:nvSpPr>
        <p:spPr>
          <a:xfrm>
            <a:off x="6622351" y="9845942"/>
            <a:ext cx="69215" cy="100965"/>
          </a:xfrm>
          <a:prstGeom prst="rect">
            <a:avLst/>
          </a:prstGeom>
          <a:noFill/>
          <a:ln w="0" cap="flat">
            <a:noFill/>
            <a:prstDash val="solid"/>
            <a:miter lim="0"/>
          </a:ln>
        </p:spPr>
        <p:txBody>
          <a:bodyPr vert="horz" wrap="square" lIns="0" tIns="0" rIns="0" bIns="0"/>
          <a:lstStyle/>
          <a:p>
            <a:pPr algn="l" rtl="0" eaLnBrk="0">
              <a:lnSpc>
                <a:spcPct val="84888"/>
              </a:lnSpc>
              <a:tabLst/>
            </a:pPr>
            <a:endParaRPr sz="100" dirty="0">
              <a:latin typeface="Arial"/>
              <a:ea typeface="Arial"/>
              <a:cs typeface="Arial"/>
            </a:endParaRPr>
          </a:p>
          <a:p>
            <a:pPr algn="r" rtl="0" eaLnBrk="0">
              <a:lnSpc>
                <a:spcPct val="82000"/>
              </a:lnSpc>
              <a:tabLst/>
            </a:pPr>
            <a:r>
              <a:rPr sz="600" kern="0" spc="-30" dirty="0">
                <a:solidFill>
                  <a:srgbClr val="000000">
                    <a:alpha val="100000"/>
                  </a:srgbClr>
                </a:solidFill>
                <a:latin typeface="PingFang SC"/>
                <a:ea typeface="PingFang SC"/>
                <a:cs typeface="PingFang SC"/>
              </a:rPr>
              <a:t>9</a:t>
            </a:r>
            <a:endParaRPr sz="600" dirty="0">
              <a:latin typeface="PingFang SC"/>
              <a:ea typeface="PingFang SC"/>
              <a:cs typeface="PingFang S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4" name="table 214"/>
          <p:cNvGraphicFramePr>
            <a:graphicFrameLocks noGrp="1"/>
          </p:cNvGraphicFramePr>
          <p:nvPr/>
        </p:nvGraphicFramePr>
        <p:xfrm>
          <a:off x="940612" y="4185539"/>
          <a:ext cx="5499100" cy="433704"/>
        </p:xfrm>
        <a:graphic>
          <a:graphicData uri="http://schemas.openxmlformats.org/drawingml/2006/table">
            <a:tbl>
              <a:tblPr/>
              <a:tblGrid>
                <a:gridCol w="1261745"/>
                <a:gridCol w="471169"/>
                <a:gridCol w="469265"/>
                <a:gridCol w="469265"/>
                <a:gridCol w="471169"/>
                <a:gridCol w="469265"/>
                <a:gridCol w="471169"/>
                <a:gridCol w="469265"/>
                <a:gridCol w="469900"/>
                <a:gridCol w="476885"/>
              </a:tblGrid>
              <a:tr h="215900">
                <a:tc>
                  <a:txBody>
                    <a:bodyPr/>
                    <a:lstStyle/>
                    <a:p>
                      <a:pPr algn="l" rtl="0" eaLnBrk="0">
                        <a:lnSpc>
                          <a:spcPct val="118000"/>
                        </a:lnSpc>
                        <a:tabLst/>
                      </a:pPr>
                      <a:endParaRPr sz="300" dirty="0">
                        <a:latin typeface="Arial"/>
                        <a:ea typeface="Arial"/>
                        <a:cs typeface="Arial"/>
                      </a:endParaRPr>
                    </a:p>
                    <a:p>
                      <a:pPr marL="410844"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9709"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1455"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1455"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3995"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1455"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3995"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9000"/>
                        </a:lnSpc>
                        <a:tabLst/>
                      </a:pPr>
                      <a:endParaRPr sz="300" dirty="0">
                        <a:latin typeface="Arial"/>
                        <a:ea typeface="Arial"/>
                        <a:cs typeface="Arial"/>
                      </a:endParaRPr>
                    </a:p>
                    <a:p>
                      <a:pPr marL="125729" algn="l" rtl="0" eaLnBrk="0">
                        <a:lnSpc>
                          <a:spcPct val="87000"/>
                        </a:lnSpc>
                        <a:tabLst/>
                      </a:pPr>
                      <a:r>
                        <a:rPr sz="900" kern="0" spc="-50" dirty="0">
                          <a:solidFill>
                            <a:srgbClr val="000000">
                              <a:alpha val="100000"/>
                            </a:srgbClr>
                          </a:solidFill>
                          <a:latin typeface="PingFang SC"/>
                          <a:ea typeface="PingFang SC"/>
                          <a:cs typeface="PingFang SC"/>
                        </a:rPr>
                        <a:t>后房附着宽度（cm）</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61290" algn="l" rtl="0" eaLnBrk="0">
                        <a:lnSpc>
                          <a:spcPct val="83000"/>
                        </a:lnSpc>
                        <a:spcBef>
                          <a:spcPts val="3"/>
                        </a:spcBef>
                        <a:tabLst/>
                      </a:pPr>
                      <a:r>
                        <a:rPr sz="900" kern="0" spc="3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54305" algn="l" rtl="0" eaLnBrk="0">
                        <a:lnSpc>
                          <a:spcPct val="83000"/>
                        </a:lnSpc>
                        <a:spcBef>
                          <a:spcPts val="3"/>
                        </a:spcBef>
                        <a:tabLst/>
                      </a:pPr>
                      <a:r>
                        <a:rPr sz="900" kern="0" spc="-10" dirty="0">
                          <a:solidFill>
                            <a:srgbClr val="000000">
                              <a:alpha val="100000"/>
                            </a:srgbClr>
                          </a:solidFill>
                          <a:latin typeface="PingFang SC"/>
                          <a:ea typeface="PingFang SC"/>
                          <a:cs typeface="PingFang SC"/>
                        </a:rPr>
                        <a:t>9.5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91135" algn="l" rtl="0" eaLnBrk="0">
                        <a:lnSpc>
                          <a:spcPct val="83000"/>
                        </a:lnSpc>
                        <a:spcBef>
                          <a:spcPts val="3"/>
                        </a:spcBef>
                        <a:tabLst/>
                      </a:pPr>
                      <a:r>
                        <a:rPr sz="900" kern="0" spc="30" dirty="0">
                          <a:solidFill>
                            <a:srgbClr val="000000">
                              <a:alpha val="100000"/>
                            </a:srgbClr>
                          </a:solidFill>
                          <a:latin typeface="PingFang SC"/>
                          <a:ea typeface="PingFang SC"/>
                          <a:cs typeface="PingFang SC"/>
                        </a:rPr>
                        <a:t>11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35255" algn="l" rtl="0" eaLnBrk="0">
                        <a:lnSpc>
                          <a:spcPct val="83000"/>
                        </a:lnSpc>
                        <a:spcBef>
                          <a:spcPts val="3"/>
                        </a:spcBef>
                        <a:tabLst/>
                      </a:pPr>
                      <a:r>
                        <a:rPr sz="900" kern="0" spc="20" dirty="0">
                          <a:solidFill>
                            <a:srgbClr val="000000">
                              <a:alpha val="100000"/>
                            </a:srgbClr>
                          </a:solidFill>
                          <a:latin typeface="PingFang SC"/>
                          <a:ea typeface="PingFang SC"/>
                          <a:cs typeface="PingFang SC"/>
                        </a:rPr>
                        <a:t>12.5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91135" algn="l" rtl="0" eaLnBrk="0">
                        <a:lnSpc>
                          <a:spcPct val="83000"/>
                        </a:lnSpc>
                        <a:spcBef>
                          <a:spcPts val="3"/>
                        </a:spcBef>
                        <a:tabLst/>
                      </a:pPr>
                      <a:r>
                        <a:rPr sz="900" kern="0" spc="-30" dirty="0">
                          <a:solidFill>
                            <a:srgbClr val="000000">
                              <a:alpha val="100000"/>
                            </a:srgbClr>
                          </a:solidFill>
                          <a:latin typeface="PingFang SC"/>
                          <a:ea typeface="PingFang SC"/>
                          <a:cs typeface="PingFang SC"/>
                        </a:rPr>
                        <a:t>14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35255" algn="l" rtl="0" eaLnBrk="0">
                        <a:lnSpc>
                          <a:spcPct val="83000"/>
                        </a:lnSpc>
                        <a:spcBef>
                          <a:spcPts val="3"/>
                        </a:spcBef>
                        <a:tabLst/>
                      </a:pPr>
                      <a:r>
                        <a:rPr sz="900" kern="0" spc="20" dirty="0">
                          <a:solidFill>
                            <a:srgbClr val="000000">
                              <a:alpha val="100000"/>
                            </a:srgbClr>
                          </a:solidFill>
                          <a:latin typeface="PingFang SC"/>
                          <a:ea typeface="PingFang SC"/>
                          <a:cs typeface="PingFang SC"/>
                        </a:rPr>
                        <a:t>15.5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91135" algn="l" rtl="0" eaLnBrk="0">
                        <a:lnSpc>
                          <a:spcPct val="83000"/>
                        </a:lnSpc>
                        <a:spcBef>
                          <a:spcPts val="3"/>
                        </a:spcBef>
                        <a:tabLst/>
                      </a:pPr>
                      <a:r>
                        <a:rPr sz="900" kern="0" spc="-20" dirty="0">
                          <a:solidFill>
                            <a:srgbClr val="000000">
                              <a:alpha val="100000"/>
                            </a:srgbClr>
                          </a:solidFill>
                          <a:latin typeface="PingFang SC"/>
                          <a:ea typeface="PingFang SC"/>
                          <a:cs typeface="PingFang SC"/>
                        </a:rPr>
                        <a:t>17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33350" algn="l" rtl="0" eaLnBrk="0">
                        <a:lnSpc>
                          <a:spcPct val="83000"/>
                        </a:lnSpc>
                        <a:spcBef>
                          <a:spcPts val="3"/>
                        </a:spcBef>
                        <a:tabLst/>
                      </a:pPr>
                      <a:r>
                        <a:rPr sz="900" kern="0" spc="20" dirty="0">
                          <a:solidFill>
                            <a:srgbClr val="000000">
                              <a:alpha val="100000"/>
                            </a:srgbClr>
                          </a:solidFill>
                          <a:latin typeface="PingFang SC"/>
                          <a:ea typeface="PingFang SC"/>
                          <a:cs typeface="PingFang SC"/>
                        </a:rPr>
                        <a:t>18.5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tabLst/>
                      </a:pPr>
                      <a:endParaRPr sz="300" dirty="0">
                        <a:latin typeface="Arial"/>
                        <a:ea typeface="Arial"/>
                        <a:cs typeface="Arial"/>
                      </a:endParaRPr>
                    </a:p>
                    <a:p>
                      <a:pPr marL="139065" algn="l" rtl="0" eaLnBrk="0">
                        <a:lnSpc>
                          <a:spcPct val="83000"/>
                        </a:lnSpc>
                        <a:spcBef>
                          <a:spcPts val="3"/>
                        </a:spcBef>
                        <a:tabLst/>
                      </a:pPr>
                      <a:r>
                        <a:rPr sz="900" kern="0" spc="-20" dirty="0">
                          <a:solidFill>
                            <a:srgbClr val="000000">
                              <a:alpha val="100000"/>
                            </a:srgbClr>
                          </a:solidFill>
                          <a:latin typeface="PingFang SC"/>
                          <a:ea typeface="PingFang SC"/>
                          <a:cs typeface="PingFang SC"/>
                        </a:rPr>
                        <a:t>≥20</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216" name="table 216"/>
          <p:cNvGraphicFramePr>
            <a:graphicFrameLocks noGrp="1"/>
          </p:cNvGraphicFramePr>
          <p:nvPr/>
        </p:nvGraphicFramePr>
        <p:xfrm>
          <a:off x="940612" y="7096633"/>
          <a:ext cx="5499100" cy="434339"/>
        </p:xfrm>
        <a:graphic>
          <a:graphicData uri="http://schemas.openxmlformats.org/drawingml/2006/table">
            <a:tbl>
              <a:tblPr/>
              <a:tblGrid>
                <a:gridCol w="900430"/>
                <a:gridCol w="831215"/>
                <a:gridCol w="471169"/>
                <a:gridCol w="469265"/>
                <a:gridCol w="471169"/>
                <a:gridCol w="469265"/>
                <a:gridCol w="470535"/>
                <a:gridCol w="469265"/>
                <a:gridCol w="469900"/>
                <a:gridCol w="476885"/>
              </a:tblGrid>
              <a:tr h="216534">
                <a:tc>
                  <a:txBody>
                    <a:bodyPr/>
                    <a:lstStyle/>
                    <a:p>
                      <a:pPr algn="l" rtl="0" eaLnBrk="0">
                        <a:lnSpc>
                          <a:spcPct val="118000"/>
                        </a:lnSpc>
                        <a:tabLst/>
                      </a:pPr>
                      <a:endParaRPr sz="300" dirty="0">
                        <a:latin typeface="Arial"/>
                        <a:ea typeface="Arial"/>
                        <a:cs typeface="Arial"/>
                      </a:endParaRPr>
                    </a:p>
                    <a:p>
                      <a:pPr marL="229234"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400050"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090"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0820"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090"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090"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1455"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090"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7805">
                <a:tc>
                  <a:txBody>
                    <a:bodyPr/>
                    <a:lstStyle/>
                    <a:p>
                      <a:pPr algn="l" rtl="0" eaLnBrk="0">
                        <a:lnSpc>
                          <a:spcPct val="108000"/>
                        </a:lnSpc>
                        <a:tabLst/>
                      </a:pPr>
                      <a:endParaRPr sz="300" dirty="0">
                        <a:latin typeface="Arial"/>
                        <a:ea typeface="Arial"/>
                        <a:cs typeface="Arial"/>
                      </a:endParaRPr>
                    </a:p>
                    <a:p>
                      <a:pPr marL="172720" algn="l" rtl="0" eaLnBrk="0">
                        <a:lnSpc>
                          <a:spcPct val="86000"/>
                        </a:lnSpc>
                        <a:spcBef>
                          <a:spcPts val="3"/>
                        </a:spcBef>
                        <a:tabLst/>
                      </a:pPr>
                      <a:r>
                        <a:rPr sz="900" kern="0" spc="-10" dirty="0">
                          <a:solidFill>
                            <a:srgbClr val="000000">
                              <a:alpha val="100000"/>
                            </a:srgbClr>
                          </a:solidFill>
                          <a:latin typeface="PingFang SC"/>
                          <a:ea typeface="PingFang SC"/>
                          <a:cs typeface="PingFang SC"/>
                        </a:rPr>
                        <a:t>后乳头位置</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marL="307340" algn="l" rtl="0" eaLnBrk="0">
                        <a:lnSpc>
                          <a:spcPct val="86000"/>
                        </a:lnSpc>
                        <a:spcBef>
                          <a:spcPts val="3"/>
                        </a:spcBef>
                        <a:tabLst/>
                      </a:pPr>
                      <a:r>
                        <a:rPr sz="900" kern="0" spc="-20" dirty="0">
                          <a:solidFill>
                            <a:srgbClr val="000000">
                              <a:alpha val="100000"/>
                            </a:srgbClr>
                          </a:solidFill>
                          <a:latin typeface="PingFang SC"/>
                          <a:ea typeface="PingFang SC"/>
                          <a:cs typeface="PingFang SC"/>
                        </a:rPr>
                        <a:t>极外</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3000"/>
                        </a:lnSpc>
                        <a:tabLst/>
                      </a:pPr>
                      <a:endParaRPr sz="600" dirty="0">
                        <a:latin typeface="Arial"/>
                        <a:ea typeface="Arial"/>
                        <a:cs typeface="Arial"/>
                      </a:endParaRPr>
                    </a:p>
                    <a:p>
                      <a:pPr marL="210184" algn="l" rtl="0" eaLnBrk="0">
                        <a:lnSpc>
                          <a:spcPts val="306"/>
                        </a:lnSpc>
                        <a:spcBef>
                          <a:spcPts val="5"/>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300" dirty="0">
                        <a:latin typeface="Arial"/>
                        <a:ea typeface="Arial"/>
                        <a:cs typeface="Arial"/>
                      </a:endParaRPr>
                    </a:p>
                    <a:p>
                      <a:pPr marL="124460" algn="l" rtl="0" eaLnBrk="0">
                        <a:lnSpc>
                          <a:spcPct val="86000"/>
                        </a:lnSpc>
                        <a:spcBef>
                          <a:spcPts val="3"/>
                        </a:spcBef>
                        <a:tabLst/>
                      </a:pPr>
                      <a:r>
                        <a:rPr sz="900" kern="0" spc="-20" dirty="0">
                          <a:solidFill>
                            <a:srgbClr val="000000">
                              <a:alpha val="100000"/>
                            </a:srgbClr>
                          </a:solidFill>
                          <a:latin typeface="PingFang SC"/>
                          <a:ea typeface="PingFang SC"/>
                          <a:cs typeface="PingFang SC"/>
                        </a:rPr>
                        <a:t>偏外</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3000"/>
                        </a:lnSpc>
                        <a:tabLst/>
                      </a:pPr>
                      <a:endParaRPr sz="600" dirty="0">
                        <a:latin typeface="Arial"/>
                        <a:ea typeface="Arial"/>
                        <a:cs typeface="Arial"/>
                      </a:endParaRPr>
                    </a:p>
                    <a:p>
                      <a:pPr marL="210184" algn="l" rtl="0" eaLnBrk="0">
                        <a:lnSpc>
                          <a:spcPts val="306"/>
                        </a:lnSpc>
                        <a:spcBef>
                          <a:spcPts val="5"/>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35255" algn="l" rtl="0" eaLnBrk="0">
                        <a:lnSpc>
                          <a:spcPct val="86000"/>
                        </a:lnSpc>
                        <a:spcBef>
                          <a:spcPts val="2"/>
                        </a:spcBef>
                        <a:tabLst/>
                      </a:pPr>
                      <a:r>
                        <a:rPr sz="900" kern="0" spc="-40" dirty="0">
                          <a:solidFill>
                            <a:srgbClr val="000000">
                              <a:alpha val="100000"/>
                            </a:srgbClr>
                          </a:solidFill>
                          <a:latin typeface="PingFang SC"/>
                          <a:ea typeface="PingFang SC"/>
                          <a:cs typeface="PingFang SC"/>
                        </a:rPr>
                        <a:t>中间</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3000"/>
                        </a:lnSpc>
                        <a:tabLst/>
                      </a:pPr>
                      <a:endParaRPr sz="600" dirty="0">
                        <a:latin typeface="Arial"/>
                        <a:ea typeface="Arial"/>
                        <a:cs typeface="Arial"/>
                      </a:endParaRPr>
                    </a:p>
                    <a:p>
                      <a:pPr marL="210184" algn="l" rtl="0" eaLnBrk="0">
                        <a:lnSpc>
                          <a:spcPts val="306"/>
                        </a:lnSpc>
                        <a:spcBef>
                          <a:spcPts val="5"/>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300" dirty="0">
                        <a:latin typeface="Arial"/>
                        <a:ea typeface="Arial"/>
                        <a:cs typeface="Arial"/>
                      </a:endParaRPr>
                    </a:p>
                    <a:p>
                      <a:pPr marL="125095" algn="l" rtl="0" eaLnBrk="0">
                        <a:lnSpc>
                          <a:spcPct val="86000"/>
                        </a:lnSpc>
                        <a:spcBef>
                          <a:spcPts val="3"/>
                        </a:spcBef>
                        <a:tabLst/>
                      </a:pPr>
                      <a:r>
                        <a:rPr sz="900" kern="0" spc="-20" dirty="0">
                          <a:solidFill>
                            <a:srgbClr val="000000">
                              <a:alpha val="100000"/>
                            </a:srgbClr>
                          </a:solidFill>
                          <a:latin typeface="PingFang SC"/>
                          <a:ea typeface="PingFang SC"/>
                          <a:cs typeface="PingFang SC"/>
                        </a:rPr>
                        <a:t>偏内</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3000"/>
                        </a:lnSpc>
                        <a:tabLst/>
                      </a:pPr>
                      <a:endParaRPr sz="600" dirty="0">
                        <a:latin typeface="Arial"/>
                        <a:ea typeface="Arial"/>
                        <a:cs typeface="Arial"/>
                      </a:endParaRPr>
                    </a:p>
                    <a:p>
                      <a:pPr marL="209550" algn="l" rtl="0" eaLnBrk="0">
                        <a:lnSpc>
                          <a:spcPts val="306"/>
                        </a:lnSpc>
                        <a:spcBef>
                          <a:spcPts val="5"/>
                        </a:spcBef>
                        <a:tabLst/>
                      </a:pPr>
                      <a:r>
                        <a:rPr sz="900" kern="0" spc="-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7000"/>
                        </a:lnSpc>
                        <a:tabLst/>
                      </a:pPr>
                      <a:endParaRPr sz="300" dirty="0">
                        <a:latin typeface="Arial"/>
                        <a:ea typeface="Arial"/>
                        <a:cs typeface="Arial"/>
                      </a:endParaRPr>
                    </a:p>
                    <a:p>
                      <a:pPr marL="127635" algn="l" rtl="0" eaLnBrk="0">
                        <a:lnSpc>
                          <a:spcPct val="86000"/>
                        </a:lnSpc>
                        <a:spcBef>
                          <a:spcPts val="3"/>
                        </a:spcBef>
                        <a:tabLst/>
                      </a:pPr>
                      <a:r>
                        <a:rPr sz="900" kern="0" spc="-20" dirty="0">
                          <a:solidFill>
                            <a:srgbClr val="000000">
                              <a:alpha val="100000"/>
                            </a:srgbClr>
                          </a:solidFill>
                          <a:latin typeface="PingFang SC"/>
                          <a:ea typeface="PingFang SC"/>
                          <a:cs typeface="PingFang SC"/>
                        </a:rPr>
                        <a:t>极内</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218" name="textbox 218"/>
          <p:cNvSpPr/>
          <p:nvPr/>
        </p:nvSpPr>
        <p:spPr>
          <a:xfrm>
            <a:off x="708237" y="4738865"/>
            <a:ext cx="5344160" cy="95250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459865" algn="l" rtl="0" eaLnBrk="0">
              <a:lnSpc>
                <a:spcPct val="88000"/>
              </a:lnSpc>
              <a:tabLst/>
            </a:pPr>
            <a:r>
              <a:rPr sz="1000" kern="0" spc="40" dirty="0">
                <a:solidFill>
                  <a:srgbClr val="000000">
                    <a:alpha val="100000"/>
                  </a:srgbClr>
                </a:solidFill>
                <a:latin typeface="PingFang SC"/>
                <a:ea typeface="PingFang SC"/>
                <a:cs typeface="PingFang SC"/>
              </a:rPr>
              <a:t>图A.18   后乳房附着宽度评分示意图与线性评分标准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40" dirty="0">
                <a:solidFill>
                  <a:srgbClr val="000000">
                    <a:alpha val="100000"/>
                  </a:srgbClr>
                </a:solidFill>
                <a:latin typeface="PingFang SC"/>
                <a:ea typeface="PingFang SC"/>
                <a:cs typeface="PingFang SC"/>
              </a:rPr>
              <a:t>A.19   后乳头</a:t>
            </a:r>
            <a:r>
              <a:rPr sz="1000" kern="0" spc="30" dirty="0">
                <a:solidFill>
                  <a:srgbClr val="000000">
                    <a:alpha val="100000"/>
                  </a:srgbClr>
                </a:solidFill>
                <a:latin typeface="PingFang SC"/>
                <a:ea typeface="PingFang SC"/>
                <a:cs typeface="PingFang SC"/>
              </a:rPr>
              <a:t>位置</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algn="l" rtl="0" eaLnBrk="0">
              <a:lnSpc>
                <a:spcPct val="125000"/>
              </a:lnSpc>
              <a:tabLst/>
            </a:pPr>
            <a:endParaRPr sz="200" dirty="0">
              <a:latin typeface="Arial"/>
              <a:ea typeface="Arial"/>
              <a:cs typeface="Arial"/>
            </a:endParaRPr>
          </a:p>
          <a:p>
            <a:pPr algn="r" rtl="0" eaLnBrk="0">
              <a:lnSpc>
                <a:spcPct val="88000"/>
              </a:lnSpc>
              <a:tabLst/>
            </a:pPr>
            <a:r>
              <a:rPr sz="1000" kern="0" spc="30" dirty="0">
                <a:solidFill>
                  <a:srgbClr val="000000">
                    <a:alpha val="100000"/>
                  </a:srgbClr>
                </a:solidFill>
                <a:latin typeface="PingFang SC"/>
                <a:ea typeface="PingFang SC"/>
                <a:cs typeface="PingFang SC"/>
              </a:rPr>
              <a:t>评定后乳头基底部在所在乳区的相对位置。评定部位、评分与线性评分标准见图A.19。</a:t>
            </a:r>
            <a:endParaRPr sz="1000" dirty="0">
              <a:latin typeface="PingFang SC"/>
              <a:ea typeface="PingFang SC"/>
              <a:cs typeface="PingFang SC"/>
            </a:endParaRPr>
          </a:p>
        </p:txBody>
      </p:sp>
      <p:sp>
        <p:nvSpPr>
          <p:cNvPr id="220" name="textbox 220"/>
          <p:cNvSpPr/>
          <p:nvPr/>
        </p:nvSpPr>
        <p:spPr>
          <a:xfrm>
            <a:off x="708237" y="1233284"/>
            <a:ext cx="5969000" cy="77089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2700" algn="l" rtl="0" eaLnBrk="0">
              <a:lnSpc>
                <a:spcPct val="88000"/>
              </a:lnSpc>
              <a:tabLst/>
            </a:pPr>
            <a:r>
              <a:rPr sz="1000" kern="0" spc="40" dirty="0">
                <a:solidFill>
                  <a:srgbClr val="000000">
                    <a:alpha val="100000"/>
                  </a:srgbClr>
                </a:solidFill>
                <a:latin typeface="PingFang SC"/>
                <a:ea typeface="PingFang SC"/>
                <a:cs typeface="PingFang SC"/>
              </a:rPr>
              <a:t>A.18   后乳房附着宽度</a:t>
            </a:r>
            <a:endParaRPr sz="1000" dirty="0">
              <a:latin typeface="PingFang SC"/>
              <a:ea typeface="PingFang SC"/>
              <a:cs typeface="PingFang SC"/>
            </a:endParaRPr>
          </a:p>
          <a:p>
            <a:pPr algn="l" rtl="0" eaLnBrk="0">
              <a:lnSpc>
                <a:spcPct val="119000"/>
              </a:lnSpc>
              <a:tabLst/>
            </a:pPr>
            <a:endParaRPr sz="1000" dirty="0">
              <a:latin typeface="Arial"/>
              <a:ea typeface="Arial"/>
              <a:cs typeface="Arial"/>
            </a:endParaRPr>
          </a:p>
          <a:p>
            <a:pPr algn="l" rtl="0" eaLnBrk="0">
              <a:lnSpc>
                <a:spcPct val="129000"/>
              </a:lnSpc>
              <a:tabLst/>
            </a:pPr>
            <a:endParaRPr sz="200" dirty="0">
              <a:latin typeface="Arial"/>
              <a:ea typeface="Arial"/>
              <a:cs typeface="Arial"/>
            </a:endParaRPr>
          </a:p>
          <a:p>
            <a:pPr marL="18415" indent="264795" algn="l" rtl="0" eaLnBrk="0">
              <a:lnSpc>
                <a:spcPct val="128000"/>
              </a:lnSpc>
              <a:spcBef>
                <a:spcPts val="2"/>
              </a:spcBef>
              <a:tabLst/>
            </a:pPr>
            <a:r>
              <a:rPr sz="1000" kern="0" spc="40" dirty="0">
                <a:solidFill>
                  <a:srgbClr val="000000">
                    <a:alpha val="100000"/>
                  </a:srgbClr>
                </a:solidFill>
                <a:latin typeface="PingFang SC"/>
                <a:ea typeface="PingFang SC"/>
                <a:cs typeface="PingFang SC"/>
              </a:rPr>
              <a:t>测定乳房乳腺组织上缘的宽度，具体为两后肢与乳腺组织上缘连接处的水平宽度。</a:t>
            </a:r>
            <a:r>
              <a:rPr sz="1000" kern="0" spc="30" dirty="0">
                <a:solidFill>
                  <a:srgbClr val="000000">
                    <a:alpha val="100000"/>
                  </a:srgbClr>
                </a:solidFill>
                <a:latin typeface="PingFang SC"/>
                <a:ea typeface="PingFang SC"/>
                <a:cs typeface="PingFang SC"/>
              </a:rPr>
              <a:t>评定部位、评分</a:t>
            </a:r>
            <a:r>
              <a:rPr sz="1000" kern="0" spc="40" dirty="0">
                <a:solidFill>
                  <a:srgbClr val="000000">
                    <a:alpha val="100000"/>
                  </a:srgbClr>
                </a:solidFill>
                <a:latin typeface="PingFang SC"/>
                <a:ea typeface="PingFang SC"/>
                <a:cs typeface="PingFang SC"/>
              </a:rPr>
              <a:t>与线性评分标准见图A.18。</a:t>
            </a:r>
            <a:endParaRPr sz="1000" dirty="0">
              <a:latin typeface="PingFang SC"/>
              <a:ea typeface="PingFang SC"/>
              <a:cs typeface="PingFang SC"/>
            </a:endParaRPr>
          </a:p>
        </p:txBody>
      </p:sp>
      <p:sp>
        <p:nvSpPr>
          <p:cNvPr id="222" name="textbox 222"/>
          <p:cNvSpPr/>
          <p:nvPr/>
        </p:nvSpPr>
        <p:spPr>
          <a:xfrm>
            <a:off x="708237" y="7649959"/>
            <a:ext cx="5969000" cy="176149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593850" algn="l" rtl="0" eaLnBrk="0">
              <a:lnSpc>
                <a:spcPct val="88000"/>
              </a:lnSpc>
              <a:tabLst/>
            </a:pPr>
            <a:r>
              <a:rPr sz="1000" kern="0" spc="40" dirty="0">
                <a:solidFill>
                  <a:srgbClr val="000000">
                    <a:alpha val="100000"/>
                  </a:srgbClr>
                </a:solidFill>
                <a:latin typeface="PingFang SC"/>
                <a:ea typeface="PingFang SC"/>
                <a:cs typeface="PingFang SC"/>
              </a:rPr>
              <a:t>图A.19   后乳头位置评分示意图与线性评分标准</a:t>
            </a:r>
            <a:endParaRPr sz="1000" dirty="0">
              <a:latin typeface="PingFang SC"/>
              <a:ea typeface="PingFang SC"/>
              <a:cs typeface="PingFang SC"/>
            </a:endParaRPr>
          </a:p>
          <a:p>
            <a:pPr algn="l" rtl="0" eaLnBrk="0">
              <a:lnSpc>
                <a:spcPct val="147000"/>
              </a:lnSpc>
              <a:tabLst/>
            </a:pPr>
            <a:endParaRPr sz="1000" dirty="0">
              <a:latin typeface="Arial"/>
              <a:ea typeface="Arial"/>
              <a:cs typeface="Arial"/>
            </a:endParaRPr>
          </a:p>
          <a:p>
            <a:pPr marL="12700" algn="l" rtl="0" eaLnBrk="0">
              <a:lnSpc>
                <a:spcPct val="88000"/>
              </a:lnSpc>
              <a:spcBef>
                <a:spcPts val="300"/>
              </a:spcBef>
              <a:tabLst/>
            </a:pPr>
            <a:r>
              <a:rPr sz="1000" kern="0" spc="10" dirty="0">
                <a:solidFill>
                  <a:srgbClr val="000000">
                    <a:alpha val="100000"/>
                  </a:srgbClr>
                </a:solidFill>
                <a:latin typeface="PingFang SC"/>
                <a:ea typeface="PingFang SC"/>
                <a:cs typeface="PingFang SC"/>
              </a:rPr>
              <a:t>A.20   棱角性</a:t>
            </a:r>
            <a:endParaRPr sz="1000" dirty="0">
              <a:latin typeface="PingFang SC"/>
              <a:ea typeface="PingFang SC"/>
              <a:cs typeface="PingFang SC"/>
            </a:endParaRPr>
          </a:p>
          <a:p>
            <a:pPr algn="l" rtl="0" eaLnBrk="0">
              <a:lnSpc>
                <a:spcPct val="121000"/>
              </a:lnSpc>
              <a:tabLst/>
            </a:pPr>
            <a:endParaRPr sz="1000" dirty="0">
              <a:latin typeface="Arial"/>
              <a:ea typeface="Arial"/>
              <a:cs typeface="Arial"/>
            </a:endParaRPr>
          </a:p>
          <a:p>
            <a:pPr algn="l" rtl="0" eaLnBrk="0">
              <a:lnSpc>
                <a:spcPct val="126000"/>
              </a:lnSpc>
              <a:tabLst/>
            </a:pPr>
            <a:endParaRPr sz="200" dirty="0">
              <a:latin typeface="Arial"/>
              <a:ea typeface="Arial"/>
              <a:cs typeface="Arial"/>
            </a:endParaRPr>
          </a:p>
          <a:p>
            <a:pPr marL="15240" indent="266700" algn="l" rtl="0" eaLnBrk="0">
              <a:lnSpc>
                <a:spcPct val="129000"/>
              </a:lnSpc>
              <a:tabLst/>
            </a:pPr>
            <a:r>
              <a:rPr sz="1000" kern="0" spc="40" dirty="0">
                <a:solidFill>
                  <a:srgbClr val="000000">
                    <a:alpha val="100000"/>
                  </a:srgbClr>
                </a:solidFill>
                <a:latin typeface="PingFang SC"/>
                <a:ea typeface="PingFang SC"/>
                <a:cs typeface="PingFang SC"/>
              </a:rPr>
              <a:t>评定骨骼轮廓清晰度、肋骨开张程度、肋间距的大小、股部大腿肌肉的凸凹程</a:t>
            </a:r>
            <a:r>
              <a:rPr sz="1000" kern="0" spc="30" dirty="0">
                <a:solidFill>
                  <a:srgbClr val="000000">
                    <a:alpha val="100000"/>
                  </a:srgbClr>
                </a:solidFill>
                <a:latin typeface="PingFang SC"/>
                <a:ea typeface="PingFang SC"/>
                <a:cs typeface="PingFang SC"/>
              </a:rPr>
              <a:t>度以及耆甲棘突的高</a:t>
            </a:r>
            <a:r>
              <a:rPr sz="1000" kern="0" spc="60" dirty="0">
                <a:solidFill>
                  <a:srgbClr val="000000">
                    <a:alpha val="100000"/>
                  </a:srgbClr>
                </a:solidFill>
                <a:latin typeface="PingFang SC"/>
                <a:ea typeface="PingFang SC"/>
                <a:cs typeface="PingFang SC"/>
              </a:rPr>
              <a:t>低，奶牛是否清秀、</a:t>
            </a:r>
            <a:r>
              <a:rPr sz="1000" kern="0" spc="50" dirty="0">
                <a:solidFill>
                  <a:srgbClr val="000000">
                    <a:alpha val="100000"/>
                  </a:srgbClr>
                </a:solidFill>
                <a:latin typeface="PingFang SC"/>
                <a:ea typeface="PingFang SC"/>
                <a:cs typeface="PingFang SC"/>
              </a:rPr>
              <a:t>结实等。肋骨清晰可见，皮毛光亮，</a:t>
            </a:r>
            <a:r>
              <a:rPr sz="1000" kern="0" spc="-100" dirty="0">
                <a:solidFill>
                  <a:srgbClr val="000000">
                    <a:alpha val="100000"/>
                  </a:srgbClr>
                </a:solidFill>
                <a:latin typeface="PingFang SC"/>
                <a:ea typeface="PingFang SC"/>
                <a:cs typeface="PingFang SC"/>
              </a:rPr>
              <a:t> </a:t>
            </a:r>
            <a:r>
              <a:rPr sz="1000" kern="0" spc="50" dirty="0">
                <a:solidFill>
                  <a:srgbClr val="000000">
                    <a:alpha val="100000"/>
                  </a:srgbClr>
                </a:solidFill>
                <a:latin typeface="PingFang SC"/>
                <a:ea typeface="PingFang SC"/>
                <a:cs typeface="PingFang SC"/>
              </a:rPr>
              <a:t>肋间距≥4厘米，</a:t>
            </a:r>
            <a:r>
              <a:rPr sz="1000" kern="0" spc="-210" dirty="0">
                <a:solidFill>
                  <a:srgbClr val="000000">
                    <a:alpha val="100000"/>
                  </a:srgbClr>
                </a:solidFill>
                <a:latin typeface="PingFang SC"/>
                <a:ea typeface="PingFang SC"/>
                <a:cs typeface="PingFang SC"/>
              </a:rPr>
              <a:t> </a:t>
            </a:r>
            <a:r>
              <a:rPr sz="1000" kern="0" spc="50" dirty="0">
                <a:solidFill>
                  <a:srgbClr val="000000">
                    <a:alpha val="100000"/>
                  </a:srgbClr>
                </a:solidFill>
                <a:latin typeface="PingFang SC"/>
                <a:ea typeface="PingFang SC"/>
                <a:cs typeface="PingFang SC"/>
              </a:rPr>
              <a:t>肋骨走向与脊柱夹角α≤60</a:t>
            </a:r>
            <a:r>
              <a:rPr sz="1000" kern="0" spc="40" dirty="0">
                <a:solidFill>
                  <a:srgbClr val="000000">
                    <a:alpha val="100000"/>
                  </a:srgbClr>
                </a:solidFill>
                <a:latin typeface="PingFang SC"/>
                <a:ea typeface="PingFang SC"/>
                <a:cs typeface="PingFang SC"/>
              </a:rPr>
              <a:t>度，评分不低于7分；肋骨可见，</a:t>
            </a:r>
            <a:r>
              <a:rPr sz="1000" kern="0" spc="-230" dirty="0">
                <a:solidFill>
                  <a:srgbClr val="000000">
                    <a:alpha val="100000"/>
                  </a:srgbClr>
                </a:solidFill>
                <a:latin typeface="PingFang SC"/>
                <a:ea typeface="PingFang SC"/>
                <a:cs typeface="PingFang SC"/>
              </a:rPr>
              <a:t> </a:t>
            </a:r>
            <a:r>
              <a:rPr sz="1000" kern="0" spc="40" dirty="0">
                <a:solidFill>
                  <a:srgbClr val="000000">
                    <a:alpha val="100000"/>
                  </a:srgbClr>
                </a:solidFill>
                <a:latin typeface="PingFang SC"/>
                <a:ea typeface="PingFang SC"/>
                <a:cs typeface="PingFang SC"/>
              </a:rPr>
              <a:t>皮毛有光泽，肋间距在2-4厘米间，肋骨走向与脊柱夹角60度&lt;</a:t>
            </a:r>
            <a:r>
              <a:rPr sz="1000" kern="0" spc="30" dirty="0">
                <a:solidFill>
                  <a:srgbClr val="000000">
                    <a:alpha val="100000"/>
                  </a:srgbClr>
                </a:solidFill>
                <a:latin typeface="PingFang SC"/>
                <a:ea typeface="PingFang SC"/>
                <a:cs typeface="PingFang SC"/>
              </a:rPr>
              <a:t>α≤75</a:t>
            </a:r>
            <a:r>
              <a:rPr sz="1000" kern="0" spc="40" dirty="0">
                <a:solidFill>
                  <a:srgbClr val="000000">
                    <a:alpha val="100000"/>
                  </a:srgbClr>
                </a:solidFill>
                <a:latin typeface="PingFang SC"/>
                <a:ea typeface="PingFang SC"/>
                <a:cs typeface="PingFang SC"/>
              </a:rPr>
              <a:t>度，评分5分-7分；</a:t>
            </a:r>
            <a:r>
              <a:rPr sz="1000" kern="0" spc="-190" dirty="0">
                <a:solidFill>
                  <a:srgbClr val="000000">
                    <a:alpha val="100000"/>
                  </a:srgbClr>
                </a:solidFill>
                <a:latin typeface="PingFang SC"/>
                <a:ea typeface="PingFang SC"/>
                <a:cs typeface="PingFang SC"/>
              </a:rPr>
              <a:t> </a:t>
            </a:r>
            <a:r>
              <a:rPr sz="1000" kern="0" spc="40" dirty="0">
                <a:solidFill>
                  <a:srgbClr val="000000">
                    <a:alpha val="100000"/>
                  </a:srgbClr>
                </a:solidFill>
                <a:latin typeface="PingFang SC"/>
                <a:ea typeface="PingFang SC"/>
                <a:cs typeface="PingFang SC"/>
              </a:rPr>
              <a:t>肋骨不明显，</a:t>
            </a:r>
            <a:r>
              <a:rPr sz="1000" kern="0" spc="-150" dirty="0">
                <a:solidFill>
                  <a:srgbClr val="000000">
                    <a:alpha val="100000"/>
                  </a:srgbClr>
                </a:solidFill>
                <a:latin typeface="PingFang SC"/>
                <a:ea typeface="PingFang SC"/>
                <a:cs typeface="PingFang SC"/>
              </a:rPr>
              <a:t> </a:t>
            </a:r>
            <a:r>
              <a:rPr sz="1000" kern="0" spc="40" dirty="0">
                <a:solidFill>
                  <a:srgbClr val="000000">
                    <a:alpha val="100000"/>
                  </a:srgbClr>
                </a:solidFill>
                <a:latin typeface="PingFang SC"/>
                <a:ea typeface="PingFang SC"/>
                <a:cs typeface="PingFang SC"/>
              </a:rPr>
              <a:t>肋间距＜2厘米，</a:t>
            </a:r>
            <a:r>
              <a:rPr sz="1000" kern="0" spc="-210" dirty="0">
                <a:solidFill>
                  <a:srgbClr val="000000">
                    <a:alpha val="100000"/>
                  </a:srgbClr>
                </a:solidFill>
                <a:latin typeface="PingFang SC"/>
                <a:ea typeface="PingFang SC"/>
                <a:cs typeface="PingFang SC"/>
              </a:rPr>
              <a:t> </a:t>
            </a:r>
            <a:r>
              <a:rPr sz="1000" kern="0" spc="40" dirty="0">
                <a:solidFill>
                  <a:srgbClr val="000000">
                    <a:alpha val="100000"/>
                  </a:srgbClr>
                </a:solidFill>
                <a:latin typeface="PingFang SC"/>
                <a:ea typeface="PingFang SC"/>
                <a:cs typeface="PingFang SC"/>
              </a:rPr>
              <a:t>肋骨走向与脊柱夹角75度&lt;α≤90度，评分不高于5</a:t>
            </a:r>
            <a:r>
              <a:rPr sz="1000" kern="0" spc="30" dirty="0">
                <a:solidFill>
                  <a:srgbClr val="000000">
                    <a:alpha val="100000"/>
                  </a:srgbClr>
                </a:solidFill>
                <a:latin typeface="PingFang SC"/>
                <a:ea typeface="PingFang SC"/>
                <a:cs typeface="PingFang SC"/>
              </a:rPr>
              <a:t>分。</a:t>
            </a:r>
            <a:r>
              <a:rPr sz="1000" kern="0" spc="-180" dirty="0">
                <a:solidFill>
                  <a:srgbClr val="000000">
                    <a:alpha val="100000"/>
                  </a:srgbClr>
                </a:solidFill>
                <a:latin typeface="PingFang SC"/>
                <a:ea typeface="PingFang SC"/>
                <a:cs typeface="PingFang SC"/>
              </a:rPr>
              <a:t> </a:t>
            </a:r>
            <a:r>
              <a:rPr sz="1000" kern="0" spc="30" dirty="0">
                <a:solidFill>
                  <a:srgbClr val="000000">
                    <a:alpha val="100000"/>
                  </a:srgbClr>
                </a:solidFill>
                <a:latin typeface="PingFang SC"/>
                <a:ea typeface="PingFang SC"/>
                <a:cs typeface="PingFang SC"/>
              </a:rPr>
              <a:t>评定部位、评分与线性评分标准见图A.20。</a:t>
            </a:r>
            <a:endParaRPr sz="1000" dirty="0">
              <a:latin typeface="PingFang SC"/>
              <a:ea typeface="PingFang SC"/>
              <a:cs typeface="PingFang SC"/>
            </a:endParaRPr>
          </a:p>
        </p:txBody>
      </p:sp>
      <p:pic>
        <p:nvPicPr>
          <p:cNvPr id="224" name="picture 224"/>
          <p:cNvPicPr>
            <a:picLocks noChangeAspect="1"/>
          </p:cNvPicPr>
          <p:nvPr/>
        </p:nvPicPr>
        <p:blipFill>
          <a:blip r:embed="rId2"/>
          <a:stretch>
            <a:fillRect/>
          </a:stretch>
        </p:blipFill>
        <p:spPr>
          <a:xfrm rot="21600000">
            <a:off x="1604264" y="5764022"/>
            <a:ext cx="4430903" cy="1273809"/>
          </a:xfrm>
          <a:prstGeom prst="rect">
            <a:avLst/>
          </a:prstGeom>
        </p:spPr>
      </p:pic>
      <p:pic>
        <p:nvPicPr>
          <p:cNvPr id="226" name="picture 226"/>
          <p:cNvPicPr>
            <a:picLocks noChangeAspect="1"/>
          </p:cNvPicPr>
          <p:nvPr/>
        </p:nvPicPr>
        <p:blipFill>
          <a:blip r:embed="rId3"/>
          <a:stretch>
            <a:fillRect/>
          </a:stretch>
        </p:blipFill>
        <p:spPr>
          <a:xfrm rot="21600000">
            <a:off x="1699514" y="2037970"/>
            <a:ext cx="4240530" cy="2106294"/>
          </a:xfrm>
          <a:prstGeom prst="rect">
            <a:avLst/>
          </a:prstGeom>
        </p:spPr>
      </p:pic>
      <p:sp>
        <p:nvSpPr>
          <p:cNvPr id="228" name="textbox 228"/>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230" name="textbox 230"/>
          <p:cNvSpPr/>
          <p:nvPr/>
        </p:nvSpPr>
        <p:spPr>
          <a:xfrm>
            <a:off x="712394"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5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232" name="textbox 232"/>
          <p:cNvSpPr/>
          <p:nvPr/>
        </p:nvSpPr>
        <p:spPr>
          <a:xfrm>
            <a:off x="885088" y="9845942"/>
            <a:ext cx="179070" cy="126365"/>
          </a:xfrm>
          <a:prstGeom prst="rect">
            <a:avLst/>
          </a:prstGeom>
          <a:noFill/>
          <a:ln w="0" cap="flat">
            <a:noFill/>
            <a:prstDash val="solid"/>
            <a:miter lim="0"/>
          </a:ln>
        </p:spPr>
        <p:txBody>
          <a:bodyPr vert="horz" wrap="square" lIns="0" tIns="0" rIns="0" bIns="0"/>
          <a:lstStyle/>
          <a:p>
            <a:pPr algn="l" rtl="0" eaLnBrk="0">
              <a:lnSpc>
                <a:spcPct val="87231"/>
              </a:lnSpc>
              <a:tabLst/>
            </a:pPr>
            <a:endParaRPr sz="100" dirty="0">
              <a:latin typeface="Arial"/>
              <a:ea typeface="Arial"/>
              <a:cs typeface="Arial"/>
            </a:endParaRPr>
          </a:p>
          <a:p>
            <a:pPr marL="12700" algn="l" rtl="0" eaLnBrk="0">
              <a:lnSpc>
                <a:spcPct val="73000"/>
              </a:lnSpc>
              <a:tabLst/>
            </a:pPr>
            <a:r>
              <a:rPr sz="900" kern="0" spc="140" dirty="0">
                <a:solidFill>
                  <a:srgbClr val="000000">
                    <a:alpha val="100000"/>
                  </a:srgbClr>
                </a:solidFill>
                <a:latin typeface="PingFang SC"/>
                <a:ea typeface="PingFang SC"/>
                <a:cs typeface="PingFang SC"/>
              </a:rPr>
              <a:t>10</a:t>
            </a:r>
            <a:endParaRPr sz="900" dirty="0">
              <a:latin typeface="PingFang SC"/>
              <a:ea typeface="PingFang SC"/>
              <a:cs typeface="PingFang S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textbox 234"/>
          <p:cNvSpPr/>
          <p:nvPr/>
        </p:nvSpPr>
        <p:spPr>
          <a:xfrm>
            <a:off x="2602546" y="2917305"/>
            <a:ext cx="2548890" cy="160020"/>
          </a:xfrm>
          <a:prstGeom prst="rect">
            <a:avLst/>
          </a:prstGeom>
          <a:noFill/>
          <a:ln w="0" cap="flat">
            <a:noFill/>
            <a:prstDash val="solid"/>
            <a:miter lim="0"/>
          </a:ln>
        </p:spPr>
        <p:txBody>
          <a:bodyPr vert="horz" wrap="square" lIns="0" tIns="0" rIns="0" bIns="0"/>
          <a:lstStyle/>
          <a:p>
            <a:pPr algn="l" rtl="0" eaLnBrk="0">
              <a:lnSpc>
                <a:spcPct val="83424"/>
              </a:lnSpc>
              <a:tabLst/>
            </a:pPr>
            <a:endParaRPr sz="100" dirty="0">
              <a:latin typeface="Arial"/>
              <a:ea typeface="Arial"/>
              <a:cs typeface="Arial"/>
            </a:endParaRPr>
          </a:p>
          <a:p>
            <a:pPr marL="12700" algn="l" rtl="0" eaLnBrk="0">
              <a:lnSpc>
                <a:spcPct val="88000"/>
              </a:lnSpc>
              <a:tabLst/>
            </a:pPr>
            <a:r>
              <a:rPr sz="1000" kern="0" spc="30" dirty="0">
                <a:solidFill>
                  <a:srgbClr val="000000">
                    <a:alpha val="100000"/>
                  </a:srgbClr>
                </a:solidFill>
                <a:latin typeface="PingFang SC"/>
                <a:ea typeface="PingFang SC"/>
                <a:cs typeface="PingFang SC"/>
              </a:rPr>
              <a:t>图A.20   棱角性评分示意图与线性评分标准</a:t>
            </a:r>
            <a:endParaRPr sz="1000" dirty="0">
              <a:latin typeface="PingFang SC"/>
              <a:ea typeface="PingFang SC"/>
              <a:cs typeface="PingFang SC"/>
            </a:endParaRPr>
          </a:p>
        </p:txBody>
      </p:sp>
      <p:pic>
        <p:nvPicPr>
          <p:cNvPr id="236" name="picture 236"/>
          <p:cNvPicPr>
            <a:picLocks noChangeAspect="1"/>
          </p:cNvPicPr>
          <p:nvPr/>
        </p:nvPicPr>
        <p:blipFill>
          <a:blip r:embed="rId2"/>
          <a:stretch>
            <a:fillRect/>
          </a:stretch>
        </p:blipFill>
        <p:spPr>
          <a:xfrm rot="21600000">
            <a:off x="1831086" y="1272159"/>
            <a:ext cx="4343908" cy="1457959"/>
          </a:xfrm>
          <a:prstGeom prst="rect">
            <a:avLst/>
          </a:prstGeom>
        </p:spPr>
      </p:pic>
      <p:sp>
        <p:nvSpPr>
          <p:cNvPr id="238" name="textbox 238"/>
          <p:cNvSpPr/>
          <p:nvPr/>
        </p:nvSpPr>
        <p:spPr>
          <a:xfrm>
            <a:off x="2756104" y="4377799"/>
            <a:ext cx="2230120" cy="5207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208"/>
              </a:lnSpc>
              <a:tabLst/>
            </a:pPr>
            <a:r>
              <a:rPr sz="1000" kern="0" spc="0" dirty="0">
                <a:solidFill>
                  <a:srgbClr val="000000">
                    <a:alpha val="100000"/>
                  </a:srgbClr>
                </a:solidFill>
                <a:latin typeface="Times New Roman"/>
                <a:ea typeface="Times New Roman"/>
                <a:cs typeface="Times New Roman"/>
              </a:rPr>
              <a:t>___________________</a:t>
            </a:r>
            <a:r>
              <a:rPr sz="1000" kern="0" spc="-10" dirty="0">
                <a:solidFill>
                  <a:srgbClr val="000000">
                    <a:alpha val="100000"/>
                  </a:srgbClr>
                </a:solidFill>
                <a:latin typeface="Times New Roman"/>
                <a:ea typeface="Times New Roman"/>
                <a:cs typeface="Times New Roman"/>
              </a:rPr>
              <a:t>________________</a:t>
            </a:r>
            <a:endParaRPr sz="1000" dirty="0">
              <a:latin typeface="Times New Roman"/>
              <a:ea typeface="Times New Roman"/>
              <a:cs typeface="Times New Roman"/>
            </a:endParaRPr>
          </a:p>
        </p:txBody>
      </p:sp>
      <p:graphicFrame>
        <p:nvGraphicFramePr>
          <p:cNvPr id="240" name="table 240"/>
          <p:cNvGraphicFramePr>
            <a:graphicFrameLocks noGrp="1"/>
          </p:cNvGraphicFramePr>
          <p:nvPr/>
        </p:nvGraphicFramePr>
        <p:xfrm>
          <a:off x="1120444" y="3194558"/>
          <a:ext cx="5499100" cy="644525"/>
        </p:xfrm>
        <a:graphic>
          <a:graphicData uri="http://schemas.openxmlformats.org/drawingml/2006/table">
            <a:tbl>
              <a:tblPr/>
              <a:tblGrid>
                <a:gridCol w="990600"/>
                <a:gridCol w="741045"/>
                <a:gridCol w="470535"/>
                <a:gridCol w="469265"/>
                <a:gridCol w="471169"/>
                <a:gridCol w="469265"/>
                <a:gridCol w="471169"/>
                <a:gridCol w="469900"/>
                <a:gridCol w="469265"/>
                <a:gridCol w="476885"/>
              </a:tblGrid>
              <a:tr h="216534">
                <a:tc>
                  <a:txBody>
                    <a:bodyPr/>
                    <a:lstStyle/>
                    <a:p>
                      <a:pPr algn="l" rtl="0" eaLnBrk="0">
                        <a:lnSpc>
                          <a:spcPct val="118000"/>
                        </a:lnSpc>
                        <a:tabLst/>
                      </a:pPr>
                      <a:endParaRPr sz="300" dirty="0">
                        <a:latin typeface="Arial"/>
                        <a:ea typeface="Arial"/>
                        <a:cs typeface="Arial"/>
                      </a:endParaRPr>
                    </a:p>
                    <a:p>
                      <a:pPr marL="274955" algn="l" rtl="0" eaLnBrk="0">
                        <a:lnSpc>
                          <a:spcPct val="86000"/>
                        </a:lnSpc>
                        <a:spcBef>
                          <a:spcPts val="3"/>
                        </a:spcBef>
                        <a:tabLst/>
                      </a:pPr>
                      <a:r>
                        <a:rPr sz="900" kern="0" spc="-20" dirty="0">
                          <a:solidFill>
                            <a:srgbClr val="000000">
                              <a:alpha val="100000"/>
                            </a:srgbClr>
                          </a:solidFill>
                          <a:latin typeface="PingFang SC"/>
                          <a:ea typeface="PingFang SC"/>
                          <a:cs typeface="PingFang SC"/>
                        </a:rPr>
                        <a:t>线性评分</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354330" algn="l" rtl="0" eaLnBrk="0">
                        <a:lnSpc>
                          <a:spcPct val="83000"/>
                        </a:lnSpc>
                        <a:spcBef>
                          <a:spcPts val="2"/>
                        </a:spcBef>
                        <a:tabLst/>
                      </a:pPr>
                      <a:r>
                        <a:rPr sz="900" kern="0" spc="-2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1455" algn="l" rtl="0" eaLnBrk="0">
                        <a:lnSpc>
                          <a:spcPct val="83000"/>
                        </a:lnSpc>
                        <a:spcBef>
                          <a:spcPts val="2"/>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1455" algn="l" rtl="0" eaLnBrk="0">
                        <a:lnSpc>
                          <a:spcPct val="83000"/>
                        </a:lnSpc>
                        <a:spcBef>
                          <a:spcPts val="2"/>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6</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725" algn="l" rtl="0" eaLnBrk="0">
                        <a:lnSpc>
                          <a:spcPct val="83000"/>
                        </a:lnSpc>
                        <a:spcBef>
                          <a:spcPts val="2"/>
                        </a:spcBef>
                        <a:tabLst/>
                      </a:pPr>
                      <a:r>
                        <a:rPr sz="900" kern="0" spc="-10" dirty="0">
                          <a:solidFill>
                            <a:srgbClr val="000000">
                              <a:alpha val="100000"/>
                            </a:srgbClr>
                          </a:solidFill>
                          <a:latin typeface="PingFang SC"/>
                          <a:ea typeface="PingFang SC"/>
                          <a:cs typeface="PingFang SC"/>
                        </a:rPr>
                        <a:t>7</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0820" algn="l" rtl="0" eaLnBrk="0">
                        <a:lnSpc>
                          <a:spcPct val="83000"/>
                        </a:lnSpc>
                        <a:spcBef>
                          <a:spcPts val="2"/>
                        </a:spcBef>
                        <a:tabLst/>
                      </a:pPr>
                      <a:r>
                        <a:rPr sz="900" kern="0" spc="-10" dirty="0">
                          <a:solidFill>
                            <a:srgbClr val="000000">
                              <a:alpha val="100000"/>
                            </a:srgbClr>
                          </a:solidFill>
                          <a:latin typeface="PingFang SC"/>
                          <a:ea typeface="PingFang SC"/>
                          <a:cs typeface="PingFang SC"/>
                        </a:rPr>
                        <a:t>8</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9000"/>
                        </a:lnSpc>
                        <a:tabLst/>
                      </a:pPr>
                      <a:endParaRPr sz="300" dirty="0">
                        <a:latin typeface="Arial"/>
                        <a:ea typeface="Arial"/>
                        <a:cs typeface="Arial"/>
                      </a:endParaRPr>
                    </a:p>
                    <a:p>
                      <a:pPr marL="212090" algn="l" rtl="0" eaLnBrk="0">
                        <a:lnSpc>
                          <a:spcPct val="83000"/>
                        </a:lnSpc>
                        <a:spcBef>
                          <a:spcPts val="2"/>
                        </a:spcBef>
                        <a:tabLst/>
                      </a:pPr>
                      <a:r>
                        <a:rPr sz="900" kern="0" spc="-10" dirty="0">
                          <a:solidFill>
                            <a:srgbClr val="000000">
                              <a:alpha val="100000"/>
                            </a:srgbClr>
                          </a:solidFill>
                          <a:latin typeface="PingFang SC"/>
                          <a:ea typeface="PingFang SC"/>
                          <a:cs typeface="PingFang SC"/>
                        </a:rPr>
                        <a:t>9</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2090">
                <a:tc>
                  <a:txBody>
                    <a:bodyPr/>
                    <a:lstStyle/>
                    <a:p>
                      <a:pPr algn="l" rtl="0" eaLnBrk="0">
                        <a:lnSpc>
                          <a:spcPct val="107000"/>
                        </a:lnSpc>
                        <a:tabLst/>
                      </a:pPr>
                      <a:endParaRPr sz="300" dirty="0">
                        <a:latin typeface="Arial"/>
                        <a:ea typeface="Arial"/>
                        <a:cs typeface="Arial"/>
                      </a:endParaRPr>
                    </a:p>
                    <a:p>
                      <a:pPr marL="159385" algn="l" rtl="0" eaLnBrk="0">
                        <a:lnSpc>
                          <a:spcPct val="94000"/>
                        </a:lnSpc>
                        <a:spcBef>
                          <a:spcPts val="2"/>
                        </a:spcBef>
                        <a:tabLst/>
                      </a:pPr>
                      <a:r>
                        <a:rPr sz="800" kern="0" spc="0" dirty="0">
                          <a:solidFill>
                            <a:srgbClr val="000000">
                              <a:alpha val="100000"/>
                            </a:srgbClr>
                          </a:solidFill>
                          <a:latin typeface="PingFang SC"/>
                          <a:ea typeface="PingFang SC"/>
                          <a:cs typeface="PingFang SC"/>
                        </a:rPr>
                        <a:t>肋间距（</a:t>
                      </a:r>
                      <a:r>
                        <a:rPr sz="800" kern="0" spc="-40" dirty="0">
                          <a:solidFill>
                            <a:srgbClr val="000000">
                              <a:alpha val="100000"/>
                            </a:srgbClr>
                          </a:solidFill>
                          <a:latin typeface="PingFang SC"/>
                          <a:ea typeface="PingFang SC"/>
                          <a:cs typeface="PingFang SC"/>
                        </a:rPr>
                        <a:t> </a:t>
                      </a:r>
                      <a:r>
                        <a:rPr sz="800" kern="0" spc="0" dirty="0">
                          <a:solidFill>
                            <a:srgbClr val="000000">
                              <a:alpha val="100000"/>
                            </a:srgbClr>
                          </a:solidFill>
                          <a:latin typeface="PingFang SC"/>
                          <a:ea typeface="PingFang SC"/>
                          <a:cs typeface="PingFang SC"/>
                        </a:rPr>
                        <a:t>cm）</a:t>
                      </a:r>
                      <a:endParaRPr sz="8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95275" algn="l" rtl="0" eaLnBrk="0">
                        <a:lnSpc>
                          <a:spcPct val="83000"/>
                        </a:lnSpc>
                        <a:spcBef>
                          <a:spcPts val="1"/>
                        </a:spcBef>
                        <a:tabLst/>
                      </a:pPr>
                      <a:r>
                        <a:rPr sz="900" kern="0" spc="80" dirty="0">
                          <a:solidFill>
                            <a:srgbClr val="000000">
                              <a:alpha val="100000"/>
                            </a:srgbClr>
                          </a:solidFill>
                          <a:latin typeface="PingFang SC"/>
                          <a:ea typeface="PingFang SC"/>
                          <a:cs typeface="PingFang SC"/>
                        </a:rPr>
                        <a:t>≤1</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61925" algn="l" rtl="0" eaLnBrk="0">
                        <a:lnSpc>
                          <a:spcPct val="83000"/>
                        </a:lnSpc>
                        <a:spcBef>
                          <a:spcPts val="1"/>
                        </a:spcBef>
                        <a:tabLst/>
                      </a:pPr>
                      <a:r>
                        <a:rPr sz="900" kern="0" spc="30" dirty="0">
                          <a:solidFill>
                            <a:srgbClr val="000000">
                              <a:alpha val="100000"/>
                            </a:srgbClr>
                          </a:solidFill>
                          <a:latin typeface="PingFang SC"/>
                          <a:ea typeface="PingFang SC"/>
                          <a:cs typeface="PingFang SC"/>
                        </a:rPr>
                        <a:t>1.5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11455" algn="l" rtl="0" eaLnBrk="0">
                        <a:lnSpc>
                          <a:spcPct val="83000"/>
                        </a:lnSpc>
                        <a:spcBef>
                          <a:spcPts val="1"/>
                        </a:spcBef>
                        <a:tabLst/>
                      </a:pPr>
                      <a:r>
                        <a:rPr sz="900" kern="0" spc="-10" dirty="0">
                          <a:solidFill>
                            <a:srgbClr val="000000">
                              <a:alpha val="100000"/>
                            </a:srgbClr>
                          </a:solidFill>
                          <a:latin typeface="PingFang SC"/>
                          <a:ea typeface="PingFang SC"/>
                          <a:cs typeface="PingFang SC"/>
                        </a:rPr>
                        <a:t>2</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55575" algn="l" rtl="0" eaLnBrk="0">
                        <a:lnSpc>
                          <a:spcPct val="83000"/>
                        </a:lnSpc>
                        <a:spcBef>
                          <a:spcPts val="1"/>
                        </a:spcBef>
                        <a:tabLst/>
                      </a:pPr>
                      <a:r>
                        <a:rPr sz="900" kern="0" spc="-10" dirty="0">
                          <a:solidFill>
                            <a:srgbClr val="000000">
                              <a:alpha val="100000"/>
                            </a:srgbClr>
                          </a:solidFill>
                          <a:latin typeface="PingFang SC"/>
                          <a:ea typeface="PingFang SC"/>
                          <a:cs typeface="PingFang SC"/>
                        </a:rPr>
                        <a:t>2.5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12725" algn="l" rtl="0" eaLnBrk="0">
                        <a:lnSpc>
                          <a:spcPct val="83000"/>
                        </a:lnSpc>
                        <a:spcBef>
                          <a:spcPts val="1"/>
                        </a:spcBef>
                        <a:tabLst/>
                      </a:pPr>
                      <a:r>
                        <a:rPr sz="900" kern="0" spc="-10" dirty="0">
                          <a:solidFill>
                            <a:srgbClr val="000000">
                              <a:alpha val="100000"/>
                            </a:srgbClr>
                          </a:solidFill>
                          <a:latin typeface="PingFang SC"/>
                          <a:ea typeface="PingFang SC"/>
                          <a:cs typeface="PingFang SC"/>
                        </a:rPr>
                        <a:t>3</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56210" algn="l" rtl="0" eaLnBrk="0">
                        <a:lnSpc>
                          <a:spcPct val="83000"/>
                        </a:lnSpc>
                        <a:spcBef>
                          <a:spcPts val="1"/>
                        </a:spcBef>
                        <a:tabLst/>
                      </a:pPr>
                      <a:r>
                        <a:rPr sz="900" kern="0" spc="-10" dirty="0">
                          <a:solidFill>
                            <a:srgbClr val="000000">
                              <a:alpha val="100000"/>
                            </a:srgbClr>
                          </a:solidFill>
                          <a:latin typeface="PingFang SC"/>
                          <a:ea typeface="PingFang SC"/>
                          <a:cs typeface="PingFang SC"/>
                        </a:rPr>
                        <a:t>3.5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209550" algn="l" rtl="0" eaLnBrk="0">
                        <a:lnSpc>
                          <a:spcPct val="83000"/>
                        </a:lnSpc>
                        <a:spcBef>
                          <a:spcPts val="1"/>
                        </a:spcBef>
                        <a:tabLst/>
                      </a:pPr>
                      <a:r>
                        <a:rPr sz="900" kern="0" spc="-10" dirty="0">
                          <a:solidFill>
                            <a:srgbClr val="000000">
                              <a:alpha val="100000"/>
                            </a:srgbClr>
                          </a:solidFill>
                          <a:latin typeface="PingFang SC"/>
                          <a:ea typeface="PingFang SC"/>
                          <a:cs typeface="PingFang SC"/>
                        </a:rPr>
                        <a:t>4</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51765" algn="l" rtl="0" eaLnBrk="0">
                        <a:lnSpc>
                          <a:spcPct val="83000"/>
                        </a:lnSpc>
                        <a:spcBef>
                          <a:spcPts val="1"/>
                        </a:spcBef>
                        <a:tabLst/>
                      </a:pPr>
                      <a:r>
                        <a:rPr sz="900" kern="0" spc="0" dirty="0">
                          <a:solidFill>
                            <a:srgbClr val="000000">
                              <a:alpha val="100000"/>
                            </a:srgbClr>
                          </a:solidFill>
                          <a:latin typeface="PingFang SC"/>
                          <a:ea typeface="PingFang SC"/>
                          <a:cs typeface="PingFang SC"/>
                        </a:rPr>
                        <a:t>4.5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tabLst/>
                      </a:pPr>
                      <a:endParaRPr sz="300" dirty="0">
                        <a:latin typeface="Arial"/>
                        <a:ea typeface="Arial"/>
                        <a:cs typeface="Arial"/>
                      </a:endParaRPr>
                    </a:p>
                    <a:p>
                      <a:pPr marL="166370" algn="l" rtl="0" eaLnBrk="0">
                        <a:lnSpc>
                          <a:spcPct val="83000"/>
                        </a:lnSpc>
                        <a:spcBef>
                          <a:spcPts val="1"/>
                        </a:spcBef>
                        <a:tabLst/>
                      </a:pPr>
                      <a:r>
                        <a:rPr sz="900" kern="0" spc="20" dirty="0">
                          <a:solidFill>
                            <a:srgbClr val="000000">
                              <a:alpha val="100000"/>
                            </a:srgbClr>
                          </a:solidFill>
                          <a:latin typeface="PingFang SC"/>
                          <a:ea typeface="PingFang SC"/>
                          <a:cs typeface="PingFang SC"/>
                        </a:rPr>
                        <a:t>≥5</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5900">
                <a:tc>
                  <a:txBody>
                    <a:bodyPr/>
                    <a:lstStyle/>
                    <a:p>
                      <a:pPr algn="l" rtl="0" eaLnBrk="0">
                        <a:lnSpc>
                          <a:spcPct val="104000"/>
                        </a:lnSpc>
                        <a:tabLst/>
                      </a:pPr>
                      <a:endParaRPr sz="300" dirty="0">
                        <a:latin typeface="Arial"/>
                        <a:ea typeface="Arial"/>
                        <a:cs typeface="Arial"/>
                      </a:endParaRPr>
                    </a:p>
                    <a:p>
                      <a:pPr marL="101600" algn="l" rtl="0" eaLnBrk="0">
                        <a:lnSpc>
                          <a:spcPct val="87000"/>
                        </a:lnSpc>
                        <a:spcBef>
                          <a:spcPts val="1"/>
                        </a:spcBef>
                        <a:tabLst/>
                      </a:pPr>
                      <a:r>
                        <a:rPr sz="900" kern="0" spc="120" dirty="0">
                          <a:solidFill>
                            <a:srgbClr val="000000">
                              <a:alpha val="100000"/>
                            </a:srgbClr>
                          </a:solidFill>
                          <a:latin typeface="PingFang SC"/>
                          <a:ea typeface="PingFang SC"/>
                          <a:cs typeface="PingFang SC"/>
                        </a:rPr>
                        <a:t>肋骨走向(</a:t>
                      </a:r>
                      <a:r>
                        <a:rPr sz="900" kern="0" spc="0" dirty="0">
                          <a:solidFill>
                            <a:srgbClr val="000000">
                              <a:alpha val="100000"/>
                            </a:srgbClr>
                          </a:solidFill>
                          <a:latin typeface="PingFang SC"/>
                          <a:ea typeface="PingFang SC"/>
                          <a:cs typeface="PingFang SC"/>
                        </a:rPr>
                        <a:t> </a:t>
                      </a:r>
                      <a:r>
                        <a:rPr sz="900" kern="0" spc="120" dirty="0">
                          <a:solidFill>
                            <a:srgbClr val="000000">
                              <a:alpha val="100000"/>
                            </a:srgbClr>
                          </a:solidFill>
                          <a:latin typeface="PingFang SC"/>
                          <a:ea typeface="PingFang SC"/>
                          <a:cs typeface="PingFang SC"/>
                        </a:rPr>
                        <a:t>°</a:t>
                      </a:r>
                      <a:r>
                        <a:rPr sz="900" kern="0" spc="-170" dirty="0">
                          <a:solidFill>
                            <a:srgbClr val="000000">
                              <a:alpha val="100000"/>
                            </a:srgbClr>
                          </a:solidFill>
                          <a:latin typeface="PingFang SC"/>
                          <a:ea typeface="PingFang SC"/>
                          <a:cs typeface="PingFang SC"/>
                        </a:rPr>
                        <a:t> </a:t>
                      </a:r>
                      <a:r>
                        <a:rPr sz="900" kern="0" spc="12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952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3175" cap="flat" cmpd="sng" algn="ctr">
                      <a:solidFill>
                        <a:srgbClr val="000000"/>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5000"/>
                        </a:lnSpc>
                        <a:tabLst/>
                      </a:pPr>
                      <a:endParaRPr sz="300" dirty="0">
                        <a:latin typeface="Arial"/>
                        <a:ea typeface="Arial"/>
                        <a:cs typeface="Arial"/>
                      </a:endParaRPr>
                    </a:p>
                    <a:p>
                      <a:pPr algn="r" rtl="0" eaLnBrk="0">
                        <a:lnSpc>
                          <a:spcPts val="900"/>
                        </a:lnSpc>
                        <a:spcBef>
                          <a:spcPts val="1"/>
                        </a:spcBef>
                        <a:tabLst/>
                      </a:pPr>
                      <a:r>
                        <a:rPr sz="700" kern="0" spc="0" dirty="0">
                          <a:solidFill>
                            <a:srgbClr val="000000">
                              <a:alpha val="100000"/>
                            </a:srgbClr>
                          </a:solidFill>
                          <a:latin typeface="PingFang SC"/>
                          <a:ea typeface="PingFang SC"/>
                          <a:cs typeface="PingFang SC"/>
                        </a:rPr>
                        <a:t>75-90</a:t>
                      </a:r>
                      <a:endParaRPr sz="700" dirty="0">
                        <a:latin typeface="PingFang SC"/>
                        <a:ea typeface="PingFang SC"/>
                        <a:cs typeface="PingFang SC"/>
                      </a:endParaRPr>
                    </a:p>
                  </a:txBody>
                  <a:tcPr marL="0" marR="0" marT="0" marB="0" vert="horz">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3175" cap="flat" cmpd="sng" algn="ctr">
                      <a:solidFill>
                        <a:srgbClr val="000000"/>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4000"/>
                        </a:lnSpc>
                        <a:tabLst/>
                      </a:pPr>
                      <a:endParaRPr sz="300" dirty="0">
                        <a:latin typeface="Arial"/>
                        <a:ea typeface="Arial"/>
                        <a:cs typeface="Arial"/>
                      </a:endParaRPr>
                    </a:p>
                    <a:p>
                      <a:pPr marL="97155" algn="l" rtl="0" eaLnBrk="0">
                        <a:lnSpc>
                          <a:spcPct val="94000"/>
                        </a:lnSpc>
                        <a:spcBef>
                          <a:spcPts val="2"/>
                        </a:spcBef>
                        <a:tabLst/>
                      </a:pPr>
                      <a:r>
                        <a:rPr sz="800" kern="0" spc="-20" dirty="0">
                          <a:solidFill>
                            <a:srgbClr val="000000">
                              <a:alpha val="100000"/>
                            </a:srgbClr>
                          </a:solidFill>
                          <a:latin typeface="PingFang SC"/>
                          <a:ea typeface="PingFang SC"/>
                          <a:cs typeface="PingFang SC"/>
                        </a:rPr>
                        <a:t>60-75</a:t>
                      </a:r>
                      <a:endParaRPr sz="800" dirty="0">
                        <a:latin typeface="PingFang SC"/>
                        <a:ea typeface="PingFang SC"/>
                        <a:cs typeface="PingFang SC"/>
                      </a:endParaRPr>
                    </a:p>
                  </a:txBody>
                  <a:tcPr marL="0" marR="0" marT="0" marB="0" vert="horz">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6000"/>
                        </a:lnSpc>
                        <a:tabLst/>
                      </a:pPr>
                      <a:endParaRPr sz="300" dirty="0">
                        <a:latin typeface="Arial"/>
                        <a:ea typeface="Arial"/>
                        <a:cs typeface="Arial"/>
                      </a:endParaRPr>
                    </a:p>
                    <a:p>
                      <a:pPr algn="r" rtl="0" eaLnBrk="0">
                        <a:lnSpc>
                          <a:spcPct val="83000"/>
                        </a:lnSpc>
                        <a:spcBef>
                          <a:spcPts val="1"/>
                        </a:spcBef>
                        <a:tabLst/>
                      </a:pPr>
                      <a:r>
                        <a:rPr sz="900" kern="0" spc="70" dirty="0">
                          <a:solidFill>
                            <a:srgbClr val="000000">
                              <a:alpha val="100000"/>
                            </a:srgbClr>
                          </a:solidFill>
                          <a:latin typeface="PingFang SC"/>
                          <a:ea typeface="PingFang SC"/>
                          <a:cs typeface="PingFang SC"/>
                        </a:rPr>
                        <a:t>≤</a:t>
                      </a:r>
                      <a:endParaRPr sz="900" dirty="0">
                        <a:latin typeface="PingFang SC"/>
                        <a:ea typeface="PingFang SC"/>
                        <a:cs typeface="PingFang SC"/>
                      </a:endParaRPr>
                    </a:p>
                  </a:txBody>
                  <a:tcPr marL="0" marR="0" marT="0" marB="0" vert="horz">
                    <a:lnL w="3175" cap="flat" cmpd="sng" algn="ctr">
                      <a:solidFill>
                        <a:srgbClr val="000000"/>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4000"/>
                        </a:lnSpc>
                        <a:tabLst/>
                      </a:pPr>
                      <a:endParaRPr sz="300" dirty="0">
                        <a:latin typeface="Arial"/>
                        <a:ea typeface="Arial"/>
                        <a:cs typeface="Arial"/>
                      </a:endParaRPr>
                    </a:p>
                    <a:p>
                      <a:pPr marL="5080" algn="l" rtl="0" eaLnBrk="0">
                        <a:lnSpc>
                          <a:spcPct val="94000"/>
                        </a:lnSpc>
                        <a:spcBef>
                          <a:spcPts val="2"/>
                        </a:spcBef>
                        <a:tabLst/>
                      </a:pPr>
                      <a:r>
                        <a:rPr sz="800" kern="0" spc="0" dirty="0">
                          <a:solidFill>
                            <a:srgbClr val="000000">
                              <a:alpha val="100000"/>
                            </a:srgbClr>
                          </a:solidFill>
                          <a:latin typeface="PingFang SC"/>
                          <a:ea typeface="PingFang SC"/>
                          <a:cs typeface="PingFang SC"/>
                        </a:rPr>
                        <a:t>60</a:t>
                      </a:r>
                      <a:endParaRPr sz="800" dirty="0">
                        <a:latin typeface="PingFang SC"/>
                        <a:ea typeface="PingFang SC"/>
                        <a:cs typeface="PingFang SC"/>
                      </a:endParaRPr>
                    </a:p>
                  </a:txBody>
                  <a:tcPr marL="0" marR="0" marT="0" marB="0" vert="horz">
                    <a:lnL>
                      <a:noFill/>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242" name="textbox 242"/>
          <p:cNvSpPr/>
          <p:nvPr/>
        </p:nvSpPr>
        <p:spPr>
          <a:xfrm rot="18300000">
            <a:off x="-867490" y="4654135"/>
            <a:ext cx="8836025" cy="964564"/>
          </a:xfrm>
          <a:prstGeom prst="rect">
            <a:avLst/>
          </a:prstGeom>
          <a:noFill/>
          <a:ln w="0" cap="flat">
            <a:noFill/>
            <a:prstDash val="solid"/>
            <a:miter lim="0"/>
          </a:ln>
        </p:spPr>
        <p:txBody>
          <a:bodyPr vert="horz" wrap="square" lIns="0" tIns="0" rIns="0" bIns="0"/>
          <a:lstStyle/>
          <a:p>
            <a:pPr algn="l" rtl="0" eaLnBrk="0">
              <a:lnSpc>
                <a:spcPct val="153000"/>
              </a:lnSpc>
              <a:tabLst/>
            </a:pPr>
            <a:endParaRPr sz="100" dirty="0">
              <a:latin typeface="Arial"/>
              <a:ea typeface="Arial"/>
              <a:cs typeface="Arial"/>
            </a:endParaRPr>
          </a:p>
          <a:p>
            <a:pPr marL="12700" algn="l" rtl="0" eaLnBrk="0">
              <a:lnSpc>
                <a:spcPct val="87000"/>
              </a:lnSpc>
              <a:spcBef>
                <a:spcPts val="1"/>
              </a:spcBef>
              <a:tabLst/>
            </a:pPr>
            <a:r>
              <a:rPr sz="7000" kern="0" spc="-60" dirty="0">
                <a:solidFill>
                  <a:srgbClr val="C0C0C0">
                    <a:alpha val="30196"/>
                  </a:srgbClr>
                </a:solidFill>
                <a:latin typeface="PingFang SC"/>
                <a:ea typeface="PingFang SC"/>
                <a:cs typeface="PingFang SC"/>
              </a:rPr>
              <a:t>全国团体标准信息平台</a:t>
            </a:r>
            <a:endParaRPr sz="7000" dirty="0">
              <a:latin typeface="PingFang SC"/>
              <a:ea typeface="PingFang SC"/>
              <a:cs typeface="PingFang SC"/>
            </a:endParaRPr>
          </a:p>
        </p:txBody>
      </p:sp>
      <p:sp>
        <p:nvSpPr>
          <p:cNvPr id="244" name="textbox 244"/>
          <p:cNvSpPr/>
          <p:nvPr/>
        </p:nvSpPr>
        <p:spPr>
          <a:xfrm>
            <a:off x="5767248" y="906894"/>
            <a:ext cx="1088390" cy="160020"/>
          </a:xfrm>
          <a:prstGeom prst="rect">
            <a:avLst/>
          </a:prstGeom>
          <a:noFill/>
          <a:ln w="0" cap="flat">
            <a:noFill/>
            <a:prstDash val="solid"/>
            <a:miter lim="0"/>
          </a:ln>
        </p:spPr>
        <p:txBody>
          <a:bodyPr vert="horz" wrap="square" lIns="0" tIns="0" rIns="0" bIns="0"/>
          <a:lstStyle/>
          <a:p>
            <a:pPr algn="l" rtl="0" eaLnBrk="0">
              <a:lnSpc>
                <a:spcPct val="81425"/>
              </a:lnSpc>
              <a:tabLst/>
            </a:pPr>
            <a:endParaRPr sz="100" dirty="0">
              <a:latin typeface="Arial"/>
              <a:ea typeface="Arial"/>
              <a:cs typeface="Arial"/>
            </a:endParaRPr>
          </a:p>
          <a:p>
            <a:pPr marL="12700" algn="l" rtl="0" eaLnBrk="0">
              <a:lnSpc>
                <a:spcPct val="98000"/>
              </a:lnSpc>
              <a:tabLst/>
            </a:pPr>
            <a:r>
              <a:rPr sz="900" kern="0" spc="-10" dirty="0">
                <a:solidFill>
                  <a:srgbClr val="000000">
                    <a:alpha val="100000"/>
                  </a:srgbClr>
                </a:solidFill>
                <a:latin typeface="PingFang SC"/>
                <a:ea typeface="PingFang SC"/>
                <a:cs typeface="PingFang SC"/>
              </a:rPr>
              <a:t>T/DACS</a:t>
            </a:r>
            <a:r>
              <a:rPr sz="900" kern="0" spc="240" dirty="0">
                <a:solidFill>
                  <a:srgbClr val="000000">
                    <a:alpha val="100000"/>
                  </a:srgbClr>
                </a:solidFill>
                <a:latin typeface="PingFang SC"/>
                <a:ea typeface="PingFang SC"/>
                <a:cs typeface="PingFang SC"/>
              </a:rPr>
              <a:t> </a:t>
            </a:r>
            <a:r>
              <a:rPr sz="900" kern="0" spc="-10" dirty="0">
                <a:solidFill>
                  <a:srgbClr val="000000">
                    <a:alpha val="100000"/>
                  </a:srgbClr>
                </a:solidFill>
                <a:latin typeface="PingFang SC"/>
                <a:ea typeface="PingFang SC"/>
                <a:cs typeface="PingFang SC"/>
              </a:rPr>
              <a:t>002</a:t>
            </a:r>
            <a:r>
              <a:rPr sz="900" kern="0" spc="-10" dirty="0">
                <a:solidFill>
                  <a:srgbClr val="000000">
                    <a:alpha val="100000"/>
                  </a:srgbClr>
                </a:solidFill>
                <a:latin typeface="Times New Roman"/>
                <a:ea typeface="Times New Roman"/>
                <a:cs typeface="Times New Roman"/>
              </a:rPr>
              <a:t>—</a:t>
            </a:r>
            <a:r>
              <a:rPr sz="900" kern="0" spc="-10" dirty="0">
                <a:solidFill>
                  <a:srgbClr val="000000">
                    <a:alpha val="100000"/>
                  </a:srgbClr>
                </a:solidFill>
                <a:latin typeface="PingFang SC"/>
                <a:ea typeface="PingFang SC"/>
                <a:cs typeface="PingFang SC"/>
              </a:rPr>
              <a:t>2</a:t>
            </a:r>
            <a:r>
              <a:rPr sz="900" kern="0" spc="-20" dirty="0">
                <a:solidFill>
                  <a:srgbClr val="000000">
                    <a:alpha val="100000"/>
                  </a:srgbClr>
                </a:solidFill>
                <a:latin typeface="PingFang SC"/>
                <a:ea typeface="PingFang SC"/>
                <a:cs typeface="PingFang SC"/>
              </a:rPr>
              <a:t>021</a:t>
            </a:r>
            <a:endParaRPr sz="900" dirty="0">
              <a:latin typeface="PingFang SC"/>
              <a:ea typeface="PingFang SC"/>
              <a:cs typeface="PingFang SC"/>
            </a:endParaRPr>
          </a:p>
        </p:txBody>
      </p:sp>
      <p:sp>
        <p:nvSpPr>
          <p:cNvPr id="246" name="textbox 246"/>
          <p:cNvSpPr/>
          <p:nvPr/>
        </p:nvSpPr>
        <p:spPr>
          <a:xfrm>
            <a:off x="6511137" y="9847657"/>
            <a:ext cx="175895" cy="124460"/>
          </a:xfrm>
          <a:prstGeom prst="rect">
            <a:avLst/>
          </a:prstGeom>
          <a:noFill/>
          <a:ln w="0" cap="flat">
            <a:noFill/>
            <a:prstDash val="solid"/>
            <a:miter lim="0"/>
          </a:ln>
        </p:spPr>
        <p:txBody>
          <a:bodyPr vert="horz" wrap="square" lIns="0" tIns="0" rIns="0" bIns="0"/>
          <a:lstStyle/>
          <a:p>
            <a:pPr algn="l" rtl="0" eaLnBrk="0">
              <a:lnSpc>
                <a:spcPct val="82033"/>
              </a:lnSpc>
              <a:tabLst/>
            </a:pPr>
            <a:endParaRPr sz="100" dirty="0">
              <a:latin typeface="Arial"/>
              <a:ea typeface="Arial"/>
              <a:cs typeface="Arial"/>
            </a:endParaRPr>
          </a:p>
          <a:p>
            <a:pPr marL="12700" algn="l" rtl="0" eaLnBrk="0">
              <a:lnSpc>
                <a:spcPct val="72000"/>
              </a:lnSpc>
              <a:tabLst/>
            </a:pPr>
            <a:r>
              <a:rPr sz="900" kern="0" spc="220" dirty="0">
                <a:solidFill>
                  <a:srgbClr val="000000">
                    <a:alpha val="100000"/>
                  </a:srgbClr>
                </a:solidFill>
                <a:latin typeface="PingFang SC"/>
                <a:ea typeface="PingFang SC"/>
                <a:cs typeface="PingFang SC"/>
              </a:rPr>
              <a:t>11</a:t>
            </a:r>
            <a:endParaRPr sz="900" dirty="0">
              <a:latin typeface="PingFang SC"/>
              <a:ea typeface="PingFang SC"/>
              <a:cs typeface="PingFang SC"/>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ap:Properties xmlns:vt="http://schemas.openxmlformats.org/officeDocument/2006/docPropsVTypes" xmlns:ap="http://schemas.openxmlformats.org/officeDocument/2006/extended-properties">
  <ap:Application>Microsoft® Word 2016</ap:Application>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2022-01-15T16:45:58Z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wqlLaW5nc29mdCBQREYgdG8gV1BTIDExNQ</vt:lpwstr>
  </property>
  <property fmtid="{D5CDD505-2E9C-101B-9397-08002B2CF9AE}" pid="3" name="Created">
    <vt:filetime>2025-12-27T20:30:52</vt:filetime>
  </property>
</Properties>
</file>